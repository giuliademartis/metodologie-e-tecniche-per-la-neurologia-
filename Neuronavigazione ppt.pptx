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4"/>
  </p:sldMasterIdLst>
  <p:notesMasterIdLst>
    <p:notesMasterId r:id="rId18"/>
  </p:notesMasterIdLst>
  <p:sldIdLst>
    <p:sldId id="256" r:id="rId5"/>
    <p:sldId id="271" r:id="rId6"/>
    <p:sldId id="257" r:id="rId7"/>
    <p:sldId id="291" r:id="rId8"/>
    <p:sldId id="292" r:id="rId9"/>
    <p:sldId id="293" r:id="rId10"/>
    <p:sldId id="294" r:id="rId11"/>
    <p:sldId id="259" r:id="rId12"/>
    <p:sldId id="296" r:id="rId13"/>
    <p:sldId id="261" r:id="rId14"/>
    <p:sldId id="260" r:id="rId15"/>
    <p:sldId id="298" r:id="rId16"/>
    <p:sldId id="263" r:id="rId17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9"/>
    </p:embeddedFont>
    <p:embeddedFont>
      <p:font typeface="Fira Sans" panose="020B0503050000020004" pitchFamily="34" charset="0"/>
      <p:regular r:id="rId20"/>
      <p:bold r:id="rId21"/>
      <p:italic r:id="rId22"/>
      <p:boldItalic r:id="rId23"/>
    </p:embeddedFont>
    <p:embeddedFont>
      <p:font typeface="Fira Sans Extra Condensed" panose="020B0503050000020004" pitchFamily="34" charset="0"/>
      <p:regular r:id="rId24"/>
      <p:bold r:id="rId25"/>
    </p:embeddedFont>
    <p:embeddedFont>
      <p:font typeface="Fira Sans Extra Condensed Medium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343D"/>
    <a:srgbClr val="337291"/>
    <a:srgbClr val="67BCD6"/>
    <a:srgbClr val="009688"/>
    <a:srgbClr val="64DEAE"/>
    <a:srgbClr val="FFFFFF"/>
    <a:srgbClr val="E4E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E9FE31-4986-4463-83B0-5E06D227354A}" v="126" dt="2026-02-20T09:52:35.7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8ff596dbe7_0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55" name="Google Shape;55;g8ff596dbe7_0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91f209f43d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533" name="Google Shape;533;g91f209f43d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531f3d4f7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66" name="Google Shape;66;g531f3d4f7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A42F53A7-F5E1-C7F2-D088-5CF9211A8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531f3d4fe2_5_1:notes">
            <a:extLst>
              <a:ext uri="{FF2B5EF4-FFF2-40B4-BE49-F238E27FC236}">
                <a16:creationId xmlns:a16="http://schemas.microsoft.com/office/drawing/2014/main" id="{689D08B8-0CE5-D69B-40F3-45528DACAA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100" name="Google Shape;100;g531f3d4fe2_5_1:notes">
            <a:extLst>
              <a:ext uri="{FF2B5EF4-FFF2-40B4-BE49-F238E27FC236}">
                <a16:creationId xmlns:a16="http://schemas.microsoft.com/office/drawing/2014/main" id="{219FA240-44B1-191B-6452-F01C32091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28853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128F1E06-2447-19EA-F9F3-F45E1147F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531f3d4fe2_5_1:notes">
            <a:extLst>
              <a:ext uri="{FF2B5EF4-FFF2-40B4-BE49-F238E27FC236}">
                <a16:creationId xmlns:a16="http://schemas.microsoft.com/office/drawing/2014/main" id="{35C3B3B1-7769-9541-E81D-1890A7A86B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100" name="Google Shape;100;g531f3d4fe2_5_1:notes">
            <a:extLst>
              <a:ext uri="{FF2B5EF4-FFF2-40B4-BE49-F238E27FC236}">
                <a16:creationId xmlns:a16="http://schemas.microsoft.com/office/drawing/2014/main" id="{55541869-7FBF-31BA-A285-6DCFB13724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34136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FA39FE18-AFCA-3B7A-2BF3-CD4F1A066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531f3d4fe2_5_1:notes">
            <a:extLst>
              <a:ext uri="{FF2B5EF4-FFF2-40B4-BE49-F238E27FC236}">
                <a16:creationId xmlns:a16="http://schemas.microsoft.com/office/drawing/2014/main" id="{A614A72F-03F5-E410-E514-82E3195219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100" name="Google Shape;100;g531f3d4fe2_5_1:notes">
            <a:extLst>
              <a:ext uri="{FF2B5EF4-FFF2-40B4-BE49-F238E27FC236}">
                <a16:creationId xmlns:a16="http://schemas.microsoft.com/office/drawing/2014/main" id="{97203D71-C442-877D-190C-6FDEF590B8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83452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55DAB44B-EDA1-D571-8B30-8E22013DE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531f3d4fe2_5_1:notes">
            <a:extLst>
              <a:ext uri="{FF2B5EF4-FFF2-40B4-BE49-F238E27FC236}">
                <a16:creationId xmlns:a16="http://schemas.microsoft.com/office/drawing/2014/main" id="{B94B1927-94EF-A3D8-8C09-8967BB933A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100" name="Google Shape;100;g531f3d4fe2_5_1:notes">
            <a:extLst>
              <a:ext uri="{FF2B5EF4-FFF2-40B4-BE49-F238E27FC236}">
                <a16:creationId xmlns:a16="http://schemas.microsoft.com/office/drawing/2014/main" id="{1DFDC855-F8B3-D418-F757-F4404FD7A5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08533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531f3d4fe2_5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122" name="Google Shape;122;g531f3d4fe2_5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>
          <a:extLst>
            <a:ext uri="{FF2B5EF4-FFF2-40B4-BE49-F238E27FC236}">
              <a16:creationId xmlns:a16="http://schemas.microsoft.com/office/drawing/2014/main" id="{93BDE62C-9EA3-7D51-CC34-0DB1FE8D9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91f209f43d_0_40:notes">
            <a:extLst>
              <a:ext uri="{FF2B5EF4-FFF2-40B4-BE49-F238E27FC236}">
                <a16:creationId xmlns:a16="http://schemas.microsoft.com/office/drawing/2014/main" id="{51A639CC-45FB-455F-3755-C42282576F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560" name="Google Shape;560;g91f209f43d_0_40:notes">
            <a:extLst>
              <a:ext uri="{FF2B5EF4-FFF2-40B4-BE49-F238E27FC236}">
                <a16:creationId xmlns:a16="http://schemas.microsoft.com/office/drawing/2014/main" id="{AA980739-6188-489C-7545-8AB2A338BF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61284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8ff596dbe7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163" name="Google Shape;163;g8ff596dbe7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531f3d4fe2_5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140" name="Google Shape;140;g531f3d4fe2_5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>
          <a:extLst>
            <a:ext uri="{FF2B5EF4-FFF2-40B4-BE49-F238E27FC236}">
              <a16:creationId xmlns:a16="http://schemas.microsoft.com/office/drawing/2014/main" id="{6A66BE76-DA4A-2EF2-E102-47F71FC5C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531f3d4fe2_5_13:notes">
            <a:extLst>
              <a:ext uri="{FF2B5EF4-FFF2-40B4-BE49-F238E27FC236}">
                <a16:creationId xmlns:a16="http://schemas.microsoft.com/office/drawing/2014/main" id="{D21F58D9-36BD-733F-1C39-0E029C713E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140" name="Google Shape;140;g531f3d4fe2_5_13:notes">
            <a:extLst>
              <a:ext uri="{FF2B5EF4-FFF2-40B4-BE49-F238E27FC236}">
                <a16:creationId xmlns:a16="http://schemas.microsoft.com/office/drawing/2014/main" id="{437C0D00-E13F-EA89-5D38-B211145997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86075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8f96da0d2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it-IT"/>
          </a:p>
        </p:txBody>
      </p:sp>
      <p:sp>
        <p:nvSpPr>
          <p:cNvPr id="215" name="Google Shape;215;g8f96da0d2f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76529" y="1170688"/>
            <a:ext cx="43920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76525" y="3260238"/>
            <a:ext cx="3171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93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○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■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○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■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○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Fira Sans"/>
              <a:buChar char="■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113">
          <p15:clr>
            <a:srgbClr val="EA4335"/>
          </p15:clr>
        </p15:guide>
        <p15:guide id="4" orient="horz" pos="113">
          <p15:clr>
            <a:srgbClr val="EA4335"/>
          </p15:clr>
        </p15:guide>
        <p15:guide id="5" orient="horz" pos="3127">
          <p15:clr>
            <a:srgbClr val="EA4335"/>
          </p15:clr>
        </p15:guide>
        <p15:guide id="6" pos="5647">
          <p15:clr>
            <a:srgbClr val="EA4335"/>
          </p15:clr>
        </p15:guide>
        <p15:guide id="7" pos="1497">
          <p15:clr>
            <a:srgbClr val="EA4335"/>
          </p15:clr>
        </p15:guide>
        <p15:guide id="8" pos="426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2569800" y="609600"/>
            <a:ext cx="4004400" cy="400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ctrTitle"/>
          </p:nvPr>
        </p:nvSpPr>
        <p:spPr>
          <a:xfrm>
            <a:off x="1134151" y="831685"/>
            <a:ext cx="69033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1" dirty="0"/>
              <a:t>Neuronavigazione</a:t>
            </a:r>
            <a:endParaRPr sz="3600" dirty="0"/>
          </a:p>
        </p:txBody>
      </p:sp>
      <p:sp>
        <p:nvSpPr>
          <p:cNvPr id="59" name="Google Shape;59;p15"/>
          <p:cNvSpPr txBox="1">
            <a:spLocks noGrp="1"/>
          </p:cNvSpPr>
          <p:nvPr>
            <p:ph type="subTitle" idx="1"/>
          </p:nvPr>
        </p:nvSpPr>
        <p:spPr>
          <a:xfrm>
            <a:off x="2881304" y="2879441"/>
            <a:ext cx="3381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Metodologie e tecniche per la neurologia</a:t>
            </a:r>
          </a:p>
          <a:p>
            <a:pPr marL="0" lvl="0" indent="0" algn="ctr"/>
            <a:r>
              <a:rPr lang="it-IT" sz="1000" dirty="0">
                <a:latin typeface="Fira Sans" panose="020B0503050000020004" pitchFamily="34" charset="0"/>
                <a:cs typeface="Mukta" panose="020B0604020202020204" charset="0"/>
              </a:rPr>
              <a:t>Giulia Demartis (</a:t>
            </a:r>
            <a:r>
              <a:rPr lang="it-IT" sz="1000" i="1" dirty="0">
                <a:latin typeface="Fira Sans" panose="020B0503050000020004" pitchFamily="34" charset="0"/>
                <a:cs typeface="Mukta" panose="020B0604020202020204" charset="0"/>
              </a:rPr>
              <a:t>matricola </a:t>
            </a:r>
            <a:r>
              <a:rPr lang="it-IT" sz="1000" dirty="0">
                <a:latin typeface="Fira Sans" panose="020B0503050000020004" pitchFamily="34" charset="0"/>
                <a:cs typeface="Mukta" panose="020B0604020202020204" charset="0"/>
              </a:rPr>
              <a:t>: 202450)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60" name="Google Shape;60;p15"/>
          <p:cNvSpPr/>
          <p:nvPr/>
        </p:nvSpPr>
        <p:spPr>
          <a:xfrm rot="1635335">
            <a:off x="-966235" y="-2199455"/>
            <a:ext cx="2314244" cy="5458723"/>
          </a:xfrm>
          <a:custGeom>
            <a:avLst/>
            <a:gdLst/>
            <a:ahLst/>
            <a:cxnLst/>
            <a:rect l="l" t="t" r="r" b="b"/>
            <a:pathLst>
              <a:path w="9201" h="22441" extrusionOk="0">
                <a:moveTo>
                  <a:pt x="1839" y="585"/>
                </a:moveTo>
                <a:cubicBezTo>
                  <a:pt x="2424" y="585"/>
                  <a:pt x="2901" y="1062"/>
                  <a:pt x="2901" y="1647"/>
                </a:cubicBezTo>
                <a:lnTo>
                  <a:pt x="2901" y="1865"/>
                </a:lnTo>
                <a:lnTo>
                  <a:pt x="2901" y="2163"/>
                </a:lnTo>
                <a:lnTo>
                  <a:pt x="2901" y="3253"/>
                </a:lnTo>
                <a:cubicBezTo>
                  <a:pt x="2901" y="3417"/>
                  <a:pt x="3021" y="3551"/>
                  <a:pt x="3185" y="3551"/>
                </a:cubicBezTo>
                <a:cubicBezTo>
                  <a:pt x="3348" y="3551"/>
                  <a:pt x="3485" y="3417"/>
                  <a:pt x="3485" y="3253"/>
                </a:cubicBezTo>
                <a:lnTo>
                  <a:pt x="3485" y="2339"/>
                </a:lnTo>
                <a:cubicBezTo>
                  <a:pt x="3726" y="2238"/>
                  <a:pt x="3980" y="2189"/>
                  <a:pt x="4233" y="2189"/>
                </a:cubicBezTo>
                <a:cubicBezTo>
                  <a:pt x="4725" y="2189"/>
                  <a:pt x="5213" y="2376"/>
                  <a:pt x="5582" y="2734"/>
                </a:cubicBezTo>
                <a:cubicBezTo>
                  <a:pt x="5608" y="2777"/>
                  <a:pt x="5647" y="2816"/>
                  <a:pt x="5676" y="2858"/>
                </a:cubicBezTo>
                <a:cubicBezTo>
                  <a:pt x="5690" y="2871"/>
                  <a:pt x="5703" y="2884"/>
                  <a:pt x="5716" y="2910"/>
                </a:cubicBezTo>
                <a:cubicBezTo>
                  <a:pt x="5758" y="2953"/>
                  <a:pt x="5797" y="3008"/>
                  <a:pt x="5840" y="3061"/>
                </a:cubicBezTo>
                <a:cubicBezTo>
                  <a:pt x="5921" y="3185"/>
                  <a:pt x="5990" y="3335"/>
                  <a:pt x="6029" y="3482"/>
                </a:cubicBezTo>
                <a:cubicBezTo>
                  <a:pt x="6206" y="4070"/>
                  <a:pt x="6042" y="4723"/>
                  <a:pt x="5552" y="5144"/>
                </a:cubicBezTo>
                <a:cubicBezTo>
                  <a:pt x="5432" y="5252"/>
                  <a:pt x="5418" y="5428"/>
                  <a:pt x="5526" y="5553"/>
                </a:cubicBezTo>
                <a:cubicBezTo>
                  <a:pt x="5582" y="5621"/>
                  <a:pt x="5663" y="5660"/>
                  <a:pt x="5745" y="5660"/>
                </a:cubicBezTo>
                <a:cubicBezTo>
                  <a:pt x="5810" y="5660"/>
                  <a:pt x="5879" y="5634"/>
                  <a:pt x="5934" y="5592"/>
                </a:cubicBezTo>
                <a:cubicBezTo>
                  <a:pt x="6261" y="5321"/>
                  <a:pt x="6480" y="4968"/>
                  <a:pt x="6601" y="4586"/>
                </a:cubicBezTo>
                <a:cubicBezTo>
                  <a:pt x="6927" y="4723"/>
                  <a:pt x="7241" y="4925"/>
                  <a:pt x="7499" y="5183"/>
                </a:cubicBezTo>
                <a:cubicBezTo>
                  <a:pt x="8439" y="6124"/>
                  <a:pt x="8573" y="7607"/>
                  <a:pt x="7852" y="8694"/>
                </a:cubicBezTo>
                <a:cubicBezTo>
                  <a:pt x="7566" y="8573"/>
                  <a:pt x="7253" y="8507"/>
                  <a:pt x="6928" y="8507"/>
                </a:cubicBezTo>
                <a:cubicBezTo>
                  <a:pt x="6851" y="8507"/>
                  <a:pt x="6773" y="8510"/>
                  <a:pt x="6695" y="8518"/>
                </a:cubicBezTo>
                <a:cubicBezTo>
                  <a:pt x="6532" y="8544"/>
                  <a:pt x="6411" y="8681"/>
                  <a:pt x="6437" y="8844"/>
                </a:cubicBezTo>
                <a:cubicBezTo>
                  <a:pt x="6450" y="8999"/>
                  <a:pt x="6585" y="9104"/>
                  <a:pt x="6737" y="9104"/>
                </a:cubicBezTo>
                <a:cubicBezTo>
                  <a:pt x="6746" y="9104"/>
                  <a:pt x="6755" y="9103"/>
                  <a:pt x="6764" y="9102"/>
                </a:cubicBezTo>
                <a:cubicBezTo>
                  <a:pt x="6825" y="9095"/>
                  <a:pt x="6886" y="9092"/>
                  <a:pt x="6947" y="9092"/>
                </a:cubicBezTo>
                <a:cubicBezTo>
                  <a:pt x="7474" y="9092"/>
                  <a:pt x="7954" y="9354"/>
                  <a:pt x="8247" y="9756"/>
                </a:cubicBezTo>
                <a:cubicBezTo>
                  <a:pt x="8358" y="9961"/>
                  <a:pt x="8452" y="10177"/>
                  <a:pt x="8521" y="10409"/>
                </a:cubicBezTo>
                <a:cubicBezTo>
                  <a:pt x="8521" y="10438"/>
                  <a:pt x="8521" y="10464"/>
                  <a:pt x="8534" y="10490"/>
                </a:cubicBezTo>
                <a:cubicBezTo>
                  <a:pt x="8534" y="10533"/>
                  <a:pt x="8547" y="10559"/>
                  <a:pt x="8560" y="10601"/>
                </a:cubicBezTo>
                <a:cubicBezTo>
                  <a:pt x="8603" y="10778"/>
                  <a:pt x="8616" y="10967"/>
                  <a:pt x="8616" y="11157"/>
                </a:cubicBezTo>
                <a:cubicBezTo>
                  <a:pt x="8616" y="11891"/>
                  <a:pt x="8328" y="12587"/>
                  <a:pt x="7812" y="13103"/>
                </a:cubicBezTo>
                <a:cubicBezTo>
                  <a:pt x="7430" y="12695"/>
                  <a:pt x="6888" y="12437"/>
                  <a:pt x="6274" y="12424"/>
                </a:cubicBezTo>
                <a:cubicBezTo>
                  <a:pt x="6111" y="12424"/>
                  <a:pt x="5974" y="12561"/>
                  <a:pt x="5974" y="12724"/>
                </a:cubicBezTo>
                <a:cubicBezTo>
                  <a:pt x="5974" y="12871"/>
                  <a:pt x="6098" y="13008"/>
                  <a:pt x="6261" y="13008"/>
                </a:cubicBezTo>
                <a:cubicBezTo>
                  <a:pt x="6833" y="13021"/>
                  <a:pt x="7336" y="13335"/>
                  <a:pt x="7607" y="13799"/>
                </a:cubicBezTo>
                <a:cubicBezTo>
                  <a:pt x="7718" y="14031"/>
                  <a:pt x="7786" y="14275"/>
                  <a:pt x="7825" y="14520"/>
                </a:cubicBezTo>
                <a:lnTo>
                  <a:pt x="7825" y="14628"/>
                </a:lnTo>
                <a:cubicBezTo>
                  <a:pt x="7825" y="14667"/>
                  <a:pt x="7838" y="14710"/>
                  <a:pt x="7852" y="14749"/>
                </a:cubicBezTo>
                <a:lnTo>
                  <a:pt x="7852" y="14955"/>
                </a:lnTo>
                <a:cubicBezTo>
                  <a:pt x="7852" y="16055"/>
                  <a:pt x="7228" y="17022"/>
                  <a:pt x="6261" y="17486"/>
                </a:cubicBezTo>
                <a:cubicBezTo>
                  <a:pt x="6137" y="16656"/>
                  <a:pt x="5526" y="15948"/>
                  <a:pt x="4667" y="15716"/>
                </a:cubicBezTo>
                <a:cubicBezTo>
                  <a:pt x="4643" y="15710"/>
                  <a:pt x="4618" y="15707"/>
                  <a:pt x="4594" y="15707"/>
                </a:cubicBezTo>
                <a:cubicBezTo>
                  <a:pt x="4462" y="15707"/>
                  <a:pt x="4351" y="15796"/>
                  <a:pt x="4315" y="15935"/>
                </a:cubicBezTo>
                <a:cubicBezTo>
                  <a:pt x="4275" y="16085"/>
                  <a:pt x="4370" y="16248"/>
                  <a:pt x="4520" y="16287"/>
                </a:cubicBezTo>
                <a:cubicBezTo>
                  <a:pt x="5226" y="16464"/>
                  <a:pt x="5690" y="17104"/>
                  <a:pt x="5703" y="17799"/>
                </a:cubicBezTo>
                <a:cubicBezTo>
                  <a:pt x="5690" y="17839"/>
                  <a:pt x="5690" y="17881"/>
                  <a:pt x="5690" y="17920"/>
                </a:cubicBezTo>
                <a:lnTo>
                  <a:pt x="5690" y="18044"/>
                </a:lnTo>
                <a:lnTo>
                  <a:pt x="5690" y="18057"/>
                </a:lnTo>
                <a:cubicBezTo>
                  <a:pt x="5676" y="18113"/>
                  <a:pt x="5676" y="18165"/>
                  <a:pt x="5647" y="18221"/>
                </a:cubicBezTo>
                <a:cubicBezTo>
                  <a:pt x="5634" y="18276"/>
                  <a:pt x="5647" y="18328"/>
                  <a:pt x="5663" y="18384"/>
                </a:cubicBezTo>
                <a:cubicBezTo>
                  <a:pt x="5500" y="19269"/>
                  <a:pt x="4723" y="19935"/>
                  <a:pt x="3799" y="19935"/>
                </a:cubicBezTo>
                <a:cubicBezTo>
                  <a:pt x="3622" y="19935"/>
                  <a:pt x="3443" y="19909"/>
                  <a:pt x="3266" y="19867"/>
                </a:cubicBezTo>
                <a:cubicBezTo>
                  <a:pt x="3240" y="19854"/>
                  <a:pt x="3214" y="19854"/>
                  <a:pt x="3185" y="19854"/>
                </a:cubicBezTo>
                <a:cubicBezTo>
                  <a:pt x="2858" y="19690"/>
                  <a:pt x="2600" y="19377"/>
                  <a:pt x="2545" y="18982"/>
                </a:cubicBezTo>
                <a:cubicBezTo>
                  <a:pt x="2521" y="18845"/>
                  <a:pt x="2395" y="18733"/>
                  <a:pt x="2259" y="18733"/>
                </a:cubicBezTo>
                <a:cubicBezTo>
                  <a:pt x="2246" y="18733"/>
                  <a:pt x="2232" y="18734"/>
                  <a:pt x="2218" y="18737"/>
                </a:cubicBezTo>
                <a:cubicBezTo>
                  <a:pt x="2055" y="18766"/>
                  <a:pt x="1947" y="18913"/>
                  <a:pt x="1960" y="19076"/>
                </a:cubicBezTo>
                <a:cubicBezTo>
                  <a:pt x="2042" y="19648"/>
                  <a:pt x="2411" y="20112"/>
                  <a:pt x="2901" y="20356"/>
                </a:cubicBezTo>
                <a:lnTo>
                  <a:pt x="2901" y="20791"/>
                </a:lnTo>
                <a:cubicBezTo>
                  <a:pt x="2901" y="21379"/>
                  <a:pt x="2424" y="21852"/>
                  <a:pt x="1839" y="21852"/>
                </a:cubicBezTo>
                <a:cubicBezTo>
                  <a:pt x="1255" y="21852"/>
                  <a:pt x="778" y="21379"/>
                  <a:pt x="778" y="20791"/>
                </a:cubicBezTo>
                <a:lnTo>
                  <a:pt x="778" y="17567"/>
                </a:lnTo>
                <a:cubicBezTo>
                  <a:pt x="1075" y="17839"/>
                  <a:pt x="1483" y="18002"/>
                  <a:pt x="1921" y="18002"/>
                </a:cubicBezTo>
                <a:cubicBezTo>
                  <a:pt x="2260" y="18002"/>
                  <a:pt x="2574" y="17907"/>
                  <a:pt x="2845" y="17744"/>
                </a:cubicBezTo>
                <a:cubicBezTo>
                  <a:pt x="2974" y="17690"/>
                  <a:pt x="3110" y="17663"/>
                  <a:pt x="3248" y="17663"/>
                </a:cubicBezTo>
                <a:cubicBezTo>
                  <a:pt x="3386" y="17663"/>
                  <a:pt x="3526" y="17690"/>
                  <a:pt x="3661" y="17744"/>
                </a:cubicBezTo>
                <a:cubicBezTo>
                  <a:pt x="3949" y="17852"/>
                  <a:pt x="4164" y="18070"/>
                  <a:pt x="4288" y="18341"/>
                </a:cubicBezTo>
                <a:cubicBezTo>
                  <a:pt x="4328" y="18452"/>
                  <a:pt x="4439" y="18521"/>
                  <a:pt x="4560" y="18521"/>
                </a:cubicBezTo>
                <a:cubicBezTo>
                  <a:pt x="4586" y="18521"/>
                  <a:pt x="4628" y="18505"/>
                  <a:pt x="4667" y="18492"/>
                </a:cubicBezTo>
                <a:cubicBezTo>
                  <a:pt x="4818" y="18423"/>
                  <a:pt x="4886" y="18260"/>
                  <a:pt x="4818" y="18113"/>
                </a:cubicBezTo>
                <a:cubicBezTo>
                  <a:pt x="4641" y="17688"/>
                  <a:pt x="4302" y="17362"/>
                  <a:pt x="3880" y="17198"/>
                </a:cubicBezTo>
                <a:cubicBezTo>
                  <a:pt x="3743" y="17133"/>
                  <a:pt x="3593" y="17104"/>
                  <a:pt x="3443" y="17091"/>
                </a:cubicBezTo>
                <a:cubicBezTo>
                  <a:pt x="3580" y="16846"/>
                  <a:pt x="3648" y="16562"/>
                  <a:pt x="3648" y="16274"/>
                </a:cubicBezTo>
                <a:lnTo>
                  <a:pt x="3648" y="15036"/>
                </a:lnTo>
                <a:cubicBezTo>
                  <a:pt x="3648" y="14873"/>
                  <a:pt x="3511" y="14736"/>
                  <a:pt x="3348" y="14736"/>
                </a:cubicBezTo>
                <a:cubicBezTo>
                  <a:pt x="3185" y="14736"/>
                  <a:pt x="3064" y="14873"/>
                  <a:pt x="3064" y="15036"/>
                </a:cubicBezTo>
                <a:lnTo>
                  <a:pt x="3064" y="16274"/>
                </a:lnTo>
                <a:cubicBezTo>
                  <a:pt x="3064" y="16656"/>
                  <a:pt x="2858" y="17009"/>
                  <a:pt x="2574" y="17215"/>
                </a:cubicBezTo>
                <a:lnTo>
                  <a:pt x="2561" y="17215"/>
                </a:lnTo>
                <a:cubicBezTo>
                  <a:pt x="2531" y="17228"/>
                  <a:pt x="2505" y="17241"/>
                  <a:pt x="2479" y="17267"/>
                </a:cubicBezTo>
                <a:cubicBezTo>
                  <a:pt x="2316" y="17362"/>
                  <a:pt x="2123" y="17417"/>
                  <a:pt x="1921" y="17417"/>
                </a:cubicBezTo>
                <a:cubicBezTo>
                  <a:pt x="1281" y="17417"/>
                  <a:pt x="778" y="16901"/>
                  <a:pt x="778" y="16274"/>
                </a:cubicBezTo>
                <a:lnTo>
                  <a:pt x="778" y="15595"/>
                </a:lnTo>
                <a:cubicBezTo>
                  <a:pt x="1049" y="15784"/>
                  <a:pt x="1388" y="15892"/>
                  <a:pt x="1757" y="15892"/>
                </a:cubicBezTo>
                <a:cubicBezTo>
                  <a:pt x="1908" y="15892"/>
                  <a:pt x="2042" y="15771"/>
                  <a:pt x="2042" y="15608"/>
                </a:cubicBezTo>
                <a:cubicBezTo>
                  <a:pt x="2042" y="15445"/>
                  <a:pt x="1908" y="15307"/>
                  <a:pt x="1757" y="15307"/>
                </a:cubicBezTo>
                <a:cubicBezTo>
                  <a:pt x="1104" y="15307"/>
                  <a:pt x="585" y="14791"/>
                  <a:pt x="585" y="14138"/>
                </a:cubicBezTo>
                <a:cubicBezTo>
                  <a:pt x="585" y="13498"/>
                  <a:pt x="1104" y="12969"/>
                  <a:pt x="1757" y="12969"/>
                </a:cubicBezTo>
                <a:lnTo>
                  <a:pt x="1921" y="12969"/>
                </a:lnTo>
                <a:cubicBezTo>
                  <a:pt x="2871" y="12969"/>
                  <a:pt x="3648" y="12192"/>
                  <a:pt x="3648" y="11238"/>
                </a:cubicBezTo>
                <a:lnTo>
                  <a:pt x="3648" y="10340"/>
                </a:lnTo>
                <a:cubicBezTo>
                  <a:pt x="4831" y="10206"/>
                  <a:pt x="5758" y="9197"/>
                  <a:pt x="5758" y="7989"/>
                </a:cubicBezTo>
                <a:cubicBezTo>
                  <a:pt x="5758" y="6682"/>
                  <a:pt x="4710" y="5634"/>
                  <a:pt x="3417" y="5621"/>
                </a:cubicBezTo>
                <a:cubicBezTo>
                  <a:pt x="3159" y="5089"/>
                  <a:pt x="2613" y="4707"/>
                  <a:pt x="1973" y="4707"/>
                </a:cubicBezTo>
                <a:cubicBezTo>
                  <a:pt x="1810" y="4707"/>
                  <a:pt x="1689" y="4844"/>
                  <a:pt x="1689" y="5007"/>
                </a:cubicBezTo>
                <a:cubicBezTo>
                  <a:pt x="1689" y="5170"/>
                  <a:pt x="1810" y="5308"/>
                  <a:pt x="1973" y="5308"/>
                </a:cubicBezTo>
                <a:cubicBezTo>
                  <a:pt x="2531" y="5308"/>
                  <a:pt x="2982" y="5755"/>
                  <a:pt x="2982" y="6313"/>
                </a:cubicBezTo>
                <a:cubicBezTo>
                  <a:pt x="2982" y="6872"/>
                  <a:pt x="2531" y="7319"/>
                  <a:pt x="1973" y="7319"/>
                </a:cubicBezTo>
                <a:cubicBezTo>
                  <a:pt x="1810" y="7319"/>
                  <a:pt x="1689" y="7456"/>
                  <a:pt x="1689" y="7620"/>
                </a:cubicBezTo>
                <a:cubicBezTo>
                  <a:pt x="1689" y="7783"/>
                  <a:pt x="1810" y="7907"/>
                  <a:pt x="1973" y="7907"/>
                </a:cubicBezTo>
                <a:cubicBezTo>
                  <a:pt x="2858" y="7907"/>
                  <a:pt x="3580" y="7198"/>
                  <a:pt x="3580" y="6313"/>
                </a:cubicBezTo>
                <a:cubicBezTo>
                  <a:pt x="3580" y="6274"/>
                  <a:pt x="3567" y="6245"/>
                  <a:pt x="3567" y="6219"/>
                </a:cubicBezTo>
                <a:lnTo>
                  <a:pt x="3567" y="6219"/>
                </a:lnTo>
                <a:cubicBezTo>
                  <a:pt x="4465" y="6300"/>
                  <a:pt x="5174" y="7061"/>
                  <a:pt x="5174" y="7989"/>
                </a:cubicBezTo>
                <a:cubicBezTo>
                  <a:pt x="5174" y="8844"/>
                  <a:pt x="4560" y="9566"/>
                  <a:pt x="3730" y="9729"/>
                </a:cubicBezTo>
                <a:lnTo>
                  <a:pt x="3635" y="9729"/>
                </a:lnTo>
                <a:cubicBezTo>
                  <a:pt x="3551" y="9748"/>
                  <a:pt x="3467" y="9757"/>
                  <a:pt x="3384" y="9757"/>
                </a:cubicBezTo>
                <a:cubicBezTo>
                  <a:pt x="2860" y="9757"/>
                  <a:pt x="2379" y="9399"/>
                  <a:pt x="2260" y="8858"/>
                </a:cubicBezTo>
                <a:cubicBezTo>
                  <a:pt x="2238" y="8721"/>
                  <a:pt x="2120" y="8632"/>
                  <a:pt x="1986" y="8632"/>
                </a:cubicBezTo>
                <a:cubicBezTo>
                  <a:pt x="1960" y="8632"/>
                  <a:pt x="1934" y="8635"/>
                  <a:pt x="1908" y="8642"/>
                </a:cubicBezTo>
                <a:cubicBezTo>
                  <a:pt x="1757" y="8668"/>
                  <a:pt x="1646" y="8831"/>
                  <a:pt x="1689" y="8982"/>
                </a:cubicBezTo>
                <a:cubicBezTo>
                  <a:pt x="1839" y="9687"/>
                  <a:pt x="2398" y="10193"/>
                  <a:pt x="3064" y="10314"/>
                </a:cubicBezTo>
                <a:lnTo>
                  <a:pt x="3064" y="11238"/>
                </a:lnTo>
                <a:cubicBezTo>
                  <a:pt x="3064" y="11865"/>
                  <a:pt x="2545" y="12381"/>
                  <a:pt x="1921" y="12381"/>
                </a:cubicBezTo>
                <a:cubicBezTo>
                  <a:pt x="1281" y="12381"/>
                  <a:pt x="778" y="11865"/>
                  <a:pt x="778" y="11238"/>
                </a:cubicBezTo>
                <a:lnTo>
                  <a:pt x="778" y="1647"/>
                </a:lnTo>
                <a:cubicBezTo>
                  <a:pt x="778" y="1062"/>
                  <a:pt x="1255" y="585"/>
                  <a:pt x="1839" y="585"/>
                </a:cubicBezTo>
                <a:close/>
                <a:moveTo>
                  <a:pt x="1839" y="1"/>
                </a:moveTo>
                <a:cubicBezTo>
                  <a:pt x="928" y="1"/>
                  <a:pt x="193" y="735"/>
                  <a:pt x="193" y="1647"/>
                </a:cubicBezTo>
                <a:lnTo>
                  <a:pt x="193" y="11238"/>
                </a:lnTo>
                <a:cubicBezTo>
                  <a:pt x="193" y="11797"/>
                  <a:pt x="451" y="12300"/>
                  <a:pt x="872" y="12626"/>
                </a:cubicBezTo>
                <a:cubicBezTo>
                  <a:pt x="356" y="12927"/>
                  <a:pt x="0" y="13498"/>
                  <a:pt x="0" y="14138"/>
                </a:cubicBezTo>
                <a:cubicBezTo>
                  <a:pt x="0" y="14422"/>
                  <a:pt x="69" y="14697"/>
                  <a:pt x="193" y="14942"/>
                </a:cubicBezTo>
                <a:lnTo>
                  <a:pt x="193" y="14968"/>
                </a:lnTo>
                <a:lnTo>
                  <a:pt x="193" y="20791"/>
                </a:lnTo>
                <a:cubicBezTo>
                  <a:pt x="193" y="21705"/>
                  <a:pt x="928" y="22440"/>
                  <a:pt x="1839" y="22440"/>
                </a:cubicBezTo>
                <a:cubicBezTo>
                  <a:pt x="2750" y="22440"/>
                  <a:pt x="3485" y="21705"/>
                  <a:pt x="3485" y="20791"/>
                </a:cubicBezTo>
                <a:lnTo>
                  <a:pt x="3485" y="20533"/>
                </a:lnTo>
                <a:cubicBezTo>
                  <a:pt x="3541" y="20546"/>
                  <a:pt x="3606" y="20546"/>
                  <a:pt x="3661" y="20546"/>
                </a:cubicBezTo>
                <a:cubicBezTo>
                  <a:pt x="3743" y="20546"/>
                  <a:pt x="3825" y="20533"/>
                  <a:pt x="3906" y="20533"/>
                </a:cubicBezTo>
                <a:cubicBezTo>
                  <a:pt x="3933" y="20520"/>
                  <a:pt x="3949" y="20520"/>
                  <a:pt x="3962" y="20520"/>
                </a:cubicBezTo>
                <a:cubicBezTo>
                  <a:pt x="5226" y="20438"/>
                  <a:pt x="6235" y="19390"/>
                  <a:pt x="6274" y="18113"/>
                </a:cubicBezTo>
                <a:cubicBezTo>
                  <a:pt x="7580" y="17607"/>
                  <a:pt x="8452" y="16369"/>
                  <a:pt x="8452" y="14955"/>
                </a:cubicBezTo>
                <a:cubicBezTo>
                  <a:pt x="8452" y="14791"/>
                  <a:pt x="8439" y="14628"/>
                  <a:pt x="8410" y="14465"/>
                </a:cubicBezTo>
                <a:cubicBezTo>
                  <a:pt x="8384" y="14151"/>
                  <a:pt x="8302" y="13851"/>
                  <a:pt x="8165" y="13593"/>
                </a:cubicBezTo>
                <a:cubicBezTo>
                  <a:pt x="8831" y="12953"/>
                  <a:pt x="9200" y="12084"/>
                  <a:pt x="9200" y="11157"/>
                </a:cubicBezTo>
                <a:cubicBezTo>
                  <a:pt x="9200" y="10846"/>
                  <a:pt x="9158" y="10546"/>
                  <a:pt x="9076" y="10259"/>
                </a:cubicBezTo>
                <a:cubicBezTo>
                  <a:pt x="9024" y="9961"/>
                  <a:pt x="8913" y="9687"/>
                  <a:pt x="8750" y="9458"/>
                </a:cubicBezTo>
                <a:cubicBezTo>
                  <a:pt x="8642" y="9279"/>
                  <a:pt x="8521" y="9116"/>
                  <a:pt x="8384" y="8952"/>
                </a:cubicBezTo>
                <a:cubicBezTo>
                  <a:pt x="8766" y="8342"/>
                  <a:pt x="8942" y="7633"/>
                  <a:pt x="8900" y="6911"/>
                </a:cubicBezTo>
                <a:cubicBezTo>
                  <a:pt x="8831" y="6111"/>
                  <a:pt x="8492" y="5334"/>
                  <a:pt x="7920" y="4762"/>
                </a:cubicBezTo>
                <a:cubicBezTo>
                  <a:pt x="7580" y="4423"/>
                  <a:pt x="7159" y="4165"/>
                  <a:pt x="6725" y="3988"/>
                </a:cubicBezTo>
                <a:cubicBezTo>
                  <a:pt x="6708" y="3782"/>
                  <a:pt x="6682" y="3580"/>
                  <a:pt x="6614" y="3374"/>
                </a:cubicBezTo>
                <a:cubicBezTo>
                  <a:pt x="6562" y="3142"/>
                  <a:pt x="6450" y="2910"/>
                  <a:pt x="6300" y="2708"/>
                </a:cubicBezTo>
                <a:cubicBezTo>
                  <a:pt x="6219" y="2571"/>
                  <a:pt x="6111" y="2437"/>
                  <a:pt x="5990" y="2326"/>
                </a:cubicBezTo>
                <a:cubicBezTo>
                  <a:pt x="5521" y="1847"/>
                  <a:pt x="4883" y="1600"/>
                  <a:pt x="4238" y="1600"/>
                </a:cubicBezTo>
                <a:cubicBezTo>
                  <a:pt x="3985" y="1600"/>
                  <a:pt x="3731" y="1638"/>
                  <a:pt x="3485" y="1715"/>
                </a:cubicBezTo>
                <a:lnTo>
                  <a:pt x="3485" y="1647"/>
                </a:lnTo>
                <a:cubicBezTo>
                  <a:pt x="3485" y="735"/>
                  <a:pt x="2750" y="1"/>
                  <a:pt x="183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5"/>
          <p:cNvSpPr/>
          <p:nvPr/>
        </p:nvSpPr>
        <p:spPr>
          <a:xfrm rot="7199981">
            <a:off x="-496343" y="2162624"/>
            <a:ext cx="2322738" cy="5659561"/>
          </a:xfrm>
          <a:custGeom>
            <a:avLst/>
            <a:gdLst/>
            <a:ahLst/>
            <a:cxnLst/>
            <a:rect l="l" t="t" r="r" b="b"/>
            <a:pathLst>
              <a:path w="9210" h="22441" extrusionOk="0">
                <a:moveTo>
                  <a:pt x="7361" y="585"/>
                </a:moveTo>
                <a:cubicBezTo>
                  <a:pt x="7946" y="585"/>
                  <a:pt x="8423" y="1062"/>
                  <a:pt x="8423" y="1647"/>
                </a:cubicBezTo>
                <a:lnTo>
                  <a:pt x="8423" y="11238"/>
                </a:lnTo>
                <a:cubicBezTo>
                  <a:pt x="8423" y="11865"/>
                  <a:pt x="7920" y="12381"/>
                  <a:pt x="7280" y="12381"/>
                </a:cubicBezTo>
                <a:cubicBezTo>
                  <a:pt x="6653" y="12381"/>
                  <a:pt x="6137" y="11865"/>
                  <a:pt x="6137" y="11238"/>
                </a:cubicBezTo>
                <a:lnTo>
                  <a:pt x="6137" y="10314"/>
                </a:lnTo>
                <a:cubicBezTo>
                  <a:pt x="6803" y="10193"/>
                  <a:pt x="7361" y="9687"/>
                  <a:pt x="7511" y="8982"/>
                </a:cubicBezTo>
                <a:cubicBezTo>
                  <a:pt x="7551" y="8831"/>
                  <a:pt x="7443" y="8668"/>
                  <a:pt x="7293" y="8642"/>
                </a:cubicBezTo>
                <a:cubicBezTo>
                  <a:pt x="7266" y="8635"/>
                  <a:pt x="7240" y="8632"/>
                  <a:pt x="7215" y="8632"/>
                </a:cubicBezTo>
                <a:cubicBezTo>
                  <a:pt x="7084" y="8632"/>
                  <a:pt x="6973" y="8721"/>
                  <a:pt x="6940" y="8858"/>
                </a:cubicBezTo>
                <a:cubicBezTo>
                  <a:pt x="6822" y="9399"/>
                  <a:pt x="6348" y="9757"/>
                  <a:pt x="5820" y="9757"/>
                </a:cubicBezTo>
                <a:cubicBezTo>
                  <a:pt x="5736" y="9757"/>
                  <a:pt x="5650" y="9748"/>
                  <a:pt x="5565" y="9729"/>
                </a:cubicBezTo>
                <a:lnTo>
                  <a:pt x="5470" y="9729"/>
                </a:lnTo>
                <a:cubicBezTo>
                  <a:pt x="4654" y="9566"/>
                  <a:pt x="4027" y="8844"/>
                  <a:pt x="4027" y="7989"/>
                </a:cubicBezTo>
                <a:cubicBezTo>
                  <a:pt x="4027" y="7061"/>
                  <a:pt x="4735" y="6300"/>
                  <a:pt x="5634" y="6219"/>
                </a:cubicBezTo>
                <a:lnTo>
                  <a:pt x="5634" y="6313"/>
                </a:lnTo>
                <a:cubicBezTo>
                  <a:pt x="5634" y="7198"/>
                  <a:pt x="6339" y="7907"/>
                  <a:pt x="7224" y="7907"/>
                </a:cubicBezTo>
                <a:cubicBezTo>
                  <a:pt x="7387" y="7907"/>
                  <a:pt x="7524" y="7783"/>
                  <a:pt x="7524" y="7620"/>
                </a:cubicBezTo>
                <a:cubicBezTo>
                  <a:pt x="7524" y="7456"/>
                  <a:pt x="7387" y="7319"/>
                  <a:pt x="7224" y="7319"/>
                </a:cubicBezTo>
                <a:cubicBezTo>
                  <a:pt x="6666" y="7319"/>
                  <a:pt x="6218" y="6872"/>
                  <a:pt x="6218" y="6313"/>
                </a:cubicBezTo>
                <a:cubicBezTo>
                  <a:pt x="6218" y="5755"/>
                  <a:pt x="6666" y="5308"/>
                  <a:pt x="7224" y="5308"/>
                </a:cubicBezTo>
                <a:cubicBezTo>
                  <a:pt x="7387" y="5308"/>
                  <a:pt x="7524" y="5170"/>
                  <a:pt x="7524" y="5007"/>
                </a:cubicBezTo>
                <a:cubicBezTo>
                  <a:pt x="7524" y="4844"/>
                  <a:pt x="7387" y="4707"/>
                  <a:pt x="7224" y="4707"/>
                </a:cubicBezTo>
                <a:cubicBezTo>
                  <a:pt x="6597" y="4707"/>
                  <a:pt x="6042" y="5089"/>
                  <a:pt x="5781" y="5621"/>
                </a:cubicBezTo>
                <a:cubicBezTo>
                  <a:pt x="4491" y="5634"/>
                  <a:pt x="3442" y="6682"/>
                  <a:pt x="3442" y="7989"/>
                </a:cubicBezTo>
                <a:cubicBezTo>
                  <a:pt x="3442" y="9197"/>
                  <a:pt x="4366" y="10206"/>
                  <a:pt x="5552" y="10340"/>
                </a:cubicBezTo>
                <a:lnTo>
                  <a:pt x="5552" y="11238"/>
                </a:lnTo>
                <a:cubicBezTo>
                  <a:pt x="5552" y="12192"/>
                  <a:pt x="6326" y="12969"/>
                  <a:pt x="7280" y="12969"/>
                </a:cubicBezTo>
                <a:lnTo>
                  <a:pt x="7456" y="12969"/>
                </a:lnTo>
                <a:cubicBezTo>
                  <a:pt x="8096" y="12969"/>
                  <a:pt x="8612" y="13498"/>
                  <a:pt x="8612" y="14138"/>
                </a:cubicBezTo>
                <a:cubicBezTo>
                  <a:pt x="8612" y="14791"/>
                  <a:pt x="8096" y="15307"/>
                  <a:pt x="7456" y="15307"/>
                </a:cubicBezTo>
                <a:cubicBezTo>
                  <a:pt x="7293" y="15307"/>
                  <a:pt x="7155" y="15445"/>
                  <a:pt x="7155" y="15608"/>
                </a:cubicBezTo>
                <a:cubicBezTo>
                  <a:pt x="7155" y="15771"/>
                  <a:pt x="7293" y="15892"/>
                  <a:pt x="7456" y="15892"/>
                </a:cubicBezTo>
                <a:cubicBezTo>
                  <a:pt x="7809" y="15892"/>
                  <a:pt x="8148" y="15784"/>
                  <a:pt x="8423" y="15595"/>
                </a:cubicBezTo>
                <a:lnTo>
                  <a:pt x="8423" y="16274"/>
                </a:lnTo>
                <a:cubicBezTo>
                  <a:pt x="8423" y="16901"/>
                  <a:pt x="7920" y="17417"/>
                  <a:pt x="7280" y="17417"/>
                </a:cubicBezTo>
                <a:cubicBezTo>
                  <a:pt x="7074" y="17417"/>
                  <a:pt x="6884" y="17362"/>
                  <a:pt x="6721" y="17267"/>
                </a:cubicBezTo>
                <a:cubicBezTo>
                  <a:pt x="6695" y="17241"/>
                  <a:pt x="6666" y="17228"/>
                  <a:pt x="6639" y="17215"/>
                </a:cubicBezTo>
                <a:cubicBezTo>
                  <a:pt x="6339" y="17009"/>
                  <a:pt x="6137" y="16656"/>
                  <a:pt x="6137" y="16274"/>
                </a:cubicBezTo>
                <a:lnTo>
                  <a:pt x="6137" y="15036"/>
                </a:lnTo>
                <a:cubicBezTo>
                  <a:pt x="6137" y="14873"/>
                  <a:pt x="6012" y="14736"/>
                  <a:pt x="5849" y="14736"/>
                </a:cubicBezTo>
                <a:cubicBezTo>
                  <a:pt x="5686" y="14736"/>
                  <a:pt x="5552" y="14873"/>
                  <a:pt x="5552" y="15036"/>
                </a:cubicBezTo>
                <a:lnTo>
                  <a:pt x="5552" y="16274"/>
                </a:lnTo>
                <a:cubicBezTo>
                  <a:pt x="5552" y="16562"/>
                  <a:pt x="5634" y="16846"/>
                  <a:pt x="5754" y="17091"/>
                </a:cubicBezTo>
                <a:cubicBezTo>
                  <a:pt x="5604" y="17104"/>
                  <a:pt x="5470" y="17133"/>
                  <a:pt x="5320" y="17198"/>
                </a:cubicBezTo>
                <a:cubicBezTo>
                  <a:pt x="4899" y="17362"/>
                  <a:pt x="4556" y="17688"/>
                  <a:pt x="4379" y="18113"/>
                </a:cubicBezTo>
                <a:cubicBezTo>
                  <a:pt x="4311" y="18260"/>
                  <a:pt x="4379" y="18423"/>
                  <a:pt x="4530" y="18492"/>
                </a:cubicBezTo>
                <a:cubicBezTo>
                  <a:pt x="4572" y="18505"/>
                  <a:pt x="4611" y="18521"/>
                  <a:pt x="4654" y="18521"/>
                </a:cubicBezTo>
                <a:cubicBezTo>
                  <a:pt x="4762" y="18521"/>
                  <a:pt x="4869" y="18452"/>
                  <a:pt x="4912" y="18341"/>
                </a:cubicBezTo>
                <a:cubicBezTo>
                  <a:pt x="5033" y="18070"/>
                  <a:pt x="5265" y="17852"/>
                  <a:pt x="5536" y="17744"/>
                </a:cubicBezTo>
                <a:cubicBezTo>
                  <a:pt x="5673" y="17690"/>
                  <a:pt x="5812" y="17663"/>
                  <a:pt x="5952" y="17663"/>
                </a:cubicBezTo>
                <a:cubicBezTo>
                  <a:pt x="6092" y="17663"/>
                  <a:pt x="6231" y="17690"/>
                  <a:pt x="6368" y="17744"/>
                </a:cubicBezTo>
                <a:cubicBezTo>
                  <a:pt x="6626" y="17907"/>
                  <a:pt x="6953" y="18002"/>
                  <a:pt x="7280" y="18002"/>
                </a:cubicBezTo>
                <a:cubicBezTo>
                  <a:pt x="7727" y="18002"/>
                  <a:pt x="8122" y="17839"/>
                  <a:pt x="8423" y="17567"/>
                </a:cubicBezTo>
                <a:lnTo>
                  <a:pt x="8423" y="20791"/>
                </a:lnTo>
                <a:cubicBezTo>
                  <a:pt x="8423" y="21379"/>
                  <a:pt x="7946" y="21852"/>
                  <a:pt x="7361" y="21852"/>
                </a:cubicBezTo>
                <a:cubicBezTo>
                  <a:pt x="6777" y="21852"/>
                  <a:pt x="6300" y="21379"/>
                  <a:pt x="6300" y="20791"/>
                </a:cubicBezTo>
                <a:lnTo>
                  <a:pt x="6300" y="20356"/>
                </a:lnTo>
                <a:cubicBezTo>
                  <a:pt x="6790" y="20112"/>
                  <a:pt x="7155" y="19648"/>
                  <a:pt x="7237" y="19076"/>
                </a:cubicBezTo>
                <a:cubicBezTo>
                  <a:pt x="7266" y="18913"/>
                  <a:pt x="7142" y="18766"/>
                  <a:pt x="6992" y="18737"/>
                </a:cubicBezTo>
                <a:cubicBezTo>
                  <a:pt x="6977" y="18734"/>
                  <a:pt x="6962" y="18733"/>
                  <a:pt x="6947" y="18733"/>
                </a:cubicBezTo>
                <a:cubicBezTo>
                  <a:pt x="6802" y="18733"/>
                  <a:pt x="6676" y="18845"/>
                  <a:pt x="6653" y="18982"/>
                </a:cubicBezTo>
                <a:cubicBezTo>
                  <a:pt x="6597" y="19377"/>
                  <a:pt x="6352" y="19690"/>
                  <a:pt x="6012" y="19854"/>
                </a:cubicBezTo>
                <a:cubicBezTo>
                  <a:pt x="5986" y="19854"/>
                  <a:pt x="5960" y="19854"/>
                  <a:pt x="5931" y="19867"/>
                </a:cubicBezTo>
                <a:cubicBezTo>
                  <a:pt x="5754" y="19909"/>
                  <a:pt x="5578" y="19935"/>
                  <a:pt x="5402" y="19935"/>
                </a:cubicBezTo>
                <a:cubicBezTo>
                  <a:pt x="4474" y="19935"/>
                  <a:pt x="3700" y="19269"/>
                  <a:pt x="3537" y="18384"/>
                </a:cubicBezTo>
                <a:cubicBezTo>
                  <a:pt x="3563" y="18328"/>
                  <a:pt x="3563" y="18276"/>
                  <a:pt x="3550" y="18221"/>
                </a:cubicBezTo>
                <a:cubicBezTo>
                  <a:pt x="3537" y="18165"/>
                  <a:pt x="3524" y="18113"/>
                  <a:pt x="3511" y="18044"/>
                </a:cubicBezTo>
                <a:lnTo>
                  <a:pt x="3511" y="17920"/>
                </a:lnTo>
                <a:cubicBezTo>
                  <a:pt x="3524" y="17881"/>
                  <a:pt x="3511" y="17839"/>
                  <a:pt x="3494" y="17799"/>
                </a:cubicBezTo>
                <a:cubicBezTo>
                  <a:pt x="3511" y="17104"/>
                  <a:pt x="3971" y="16464"/>
                  <a:pt x="4680" y="16287"/>
                </a:cubicBezTo>
                <a:cubicBezTo>
                  <a:pt x="4843" y="16248"/>
                  <a:pt x="4938" y="16085"/>
                  <a:pt x="4899" y="15935"/>
                </a:cubicBezTo>
                <a:cubicBezTo>
                  <a:pt x="4863" y="15796"/>
                  <a:pt x="4740" y="15707"/>
                  <a:pt x="4604" y="15707"/>
                </a:cubicBezTo>
                <a:cubicBezTo>
                  <a:pt x="4579" y="15707"/>
                  <a:pt x="4555" y="15710"/>
                  <a:pt x="4530" y="15716"/>
                </a:cubicBezTo>
                <a:cubicBezTo>
                  <a:pt x="3674" y="15948"/>
                  <a:pt x="3073" y="16656"/>
                  <a:pt x="2939" y="17473"/>
                </a:cubicBezTo>
                <a:cubicBezTo>
                  <a:pt x="1973" y="17022"/>
                  <a:pt x="1346" y="16055"/>
                  <a:pt x="1346" y="14955"/>
                </a:cubicBezTo>
                <a:lnTo>
                  <a:pt x="1346" y="14749"/>
                </a:lnTo>
                <a:cubicBezTo>
                  <a:pt x="1372" y="14710"/>
                  <a:pt x="1372" y="14667"/>
                  <a:pt x="1372" y="14628"/>
                </a:cubicBezTo>
                <a:lnTo>
                  <a:pt x="1372" y="14520"/>
                </a:lnTo>
                <a:cubicBezTo>
                  <a:pt x="1414" y="14275"/>
                  <a:pt x="1483" y="14031"/>
                  <a:pt x="1590" y="13799"/>
                </a:cubicBezTo>
                <a:cubicBezTo>
                  <a:pt x="1862" y="13335"/>
                  <a:pt x="2368" y="13021"/>
                  <a:pt x="2939" y="13008"/>
                </a:cubicBezTo>
                <a:cubicBezTo>
                  <a:pt x="3103" y="13008"/>
                  <a:pt x="3223" y="12871"/>
                  <a:pt x="3223" y="12724"/>
                </a:cubicBezTo>
                <a:cubicBezTo>
                  <a:pt x="3223" y="12561"/>
                  <a:pt x="3086" y="12424"/>
                  <a:pt x="2923" y="12424"/>
                </a:cubicBezTo>
                <a:cubicBezTo>
                  <a:pt x="2325" y="12437"/>
                  <a:pt x="1767" y="12695"/>
                  <a:pt x="1388" y="13103"/>
                </a:cubicBezTo>
                <a:cubicBezTo>
                  <a:pt x="869" y="12587"/>
                  <a:pt x="585" y="11891"/>
                  <a:pt x="585" y="11157"/>
                </a:cubicBezTo>
                <a:cubicBezTo>
                  <a:pt x="585" y="10967"/>
                  <a:pt x="611" y="10778"/>
                  <a:pt x="637" y="10601"/>
                </a:cubicBezTo>
                <a:cubicBezTo>
                  <a:pt x="666" y="10559"/>
                  <a:pt x="666" y="10533"/>
                  <a:pt x="679" y="10490"/>
                </a:cubicBezTo>
                <a:cubicBezTo>
                  <a:pt x="679" y="10464"/>
                  <a:pt x="679" y="10438"/>
                  <a:pt x="692" y="10409"/>
                </a:cubicBezTo>
                <a:cubicBezTo>
                  <a:pt x="748" y="10177"/>
                  <a:pt x="843" y="9961"/>
                  <a:pt x="950" y="9756"/>
                </a:cubicBezTo>
                <a:cubicBezTo>
                  <a:pt x="1243" y="9354"/>
                  <a:pt x="1734" y="9092"/>
                  <a:pt x="2254" y="9092"/>
                </a:cubicBezTo>
                <a:cubicBezTo>
                  <a:pt x="2313" y="9092"/>
                  <a:pt x="2373" y="9095"/>
                  <a:pt x="2433" y="9102"/>
                </a:cubicBezTo>
                <a:cubicBezTo>
                  <a:pt x="2442" y="9103"/>
                  <a:pt x="2451" y="9104"/>
                  <a:pt x="2460" y="9104"/>
                </a:cubicBezTo>
                <a:cubicBezTo>
                  <a:pt x="2612" y="9104"/>
                  <a:pt x="2747" y="8999"/>
                  <a:pt x="2760" y="8844"/>
                </a:cubicBezTo>
                <a:cubicBezTo>
                  <a:pt x="2789" y="8681"/>
                  <a:pt x="2665" y="8544"/>
                  <a:pt x="2515" y="8518"/>
                </a:cubicBezTo>
                <a:cubicBezTo>
                  <a:pt x="2434" y="8510"/>
                  <a:pt x="2355" y="8507"/>
                  <a:pt x="2276" y="8507"/>
                </a:cubicBezTo>
                <a:cubicBezTo>
                  <a:pt x="1944" y="8507"/>
                  <a:pt x="1631" y="8573"/>
                  <a:pt x="1346" y="8694"/>
                </a:cubicBezTo>
                <a:cubicBezTo>
                  <a:pt x="624" y="7607"/>
                  <a:pt x="761" y="6124"/>
                  <a:pt x="1698" y="5183"/>
                </a:cubicBezTo>
                <a:cubicBezTo>
                  <a:pt x="1960" y="4925"/>
                  <a:pt x="2270" y="4723"/>
                  <a:pt x="2596" y="4586"/>
                </a:cubicBezTo>
                <a:cubicBezTo>
                  <a:pt x="2720" y="4968"/>
                  <a:pt x="2952" y="5321"/>
                  <a:pt x="3266" y="5592"/>
                </a:cubicBezTo>
                <a:cubicBezTo>
                  <a:pt x="3318" y="5634"/>
                  <a:pt x="3387" y="5660"/>
                  <a:pt x="3455" y="5660"/>
                </a:cubicBezTo>
                <a:cubicBezTo>
                  <a:pt x="3537" y="5660"/>
                  <a:pt x="3619" y="5621"/>
                  <a:pt x="3674" y="5553"/>
                </a:cubicBezTo>
                <a:cubicBezTo>
                  <a:pt x="3782" y="5428"/>
                  <a:pt x="3769" y="5252"/>
                  <a:pt x="3645" y="5144"/>
                </a:cubicBezTo>
                <a:cubicBezTo>
                  <a:pt x="3155" y="4723"/>
                  <a:pt x="2992" y="4070"/>
                  <a:pt x="3168" y="3482"/>
                </a:cubicBezTo>
                <a:cubicBezTo>
                  <a:pt x="3210" y="3335"/>
                  <a:pt x="3279" y="3198"/>
                  <a:pt x="3374" y="3061"/>
                </a:cubicBezTo>
                <a:cubicBezTo>
                  <a:pt x="3400" y="3008"/>
                  <a:pt x="3442" y="2953"/>
                  <a:pt x="3481" y="2910"/>
                </a:cubicBezTo>
                <a:cubicBezTo>
                  <a:pt x="3494" y="2884"/>
                  <a:pt x="3511" y="2871"/>
                  <a:pt x="3524" y="2858"/>
                </a:cubicBezTo>
                <a:cubicBezTo>
                  <a:pt x="3550" y="2816"/>
                  <a:pt x="3592" y="2777"/>
                  <a:pt x="3619" y="2734"/>
                </a:cubicBezTo>
                <a:cubicBezTo>
                  <a:pt x="3988" y="2376"/>
                  <a:pt x="4475" y="2189"/>
                  <a:pt x="4968" y="2189"/>
                </a:cubicBezTo>
                <a:cubicBezTo>
                  <a:pt x="5220" y="2189"/>
                  <a:pt x="5475" y="2238"/>
                  <a:pt x="5715" y="2339"/>
                </a:cubicBezTo>
                <a:lnTo>
                  <a:pt x="5715" y="3253"/>
                </a:lnTo>
                <a:cubicBezTo>
                  <a:pt x="5715" y="3417"/>
                  <a:pt x="5849" y="3551"/>
                  <a:pt x="6012" y="3551"/>
                </a:cubicBezTo>
                <a:cubicBezTo>
                  <a:pt x="6176" y="3551"/>
                  <a:pt x="6300" y="3417"/>
                  <a:pt x="6300" y="3253"/>
                </a:cubicBezTo>
                <a:lnTo>
                  <a:pt x="6300" y="2163"/>
                </a:lnTo>
                <a:lnTo>
                  <a:pt x="6300" y="1865"/>
                </a:lnTo>
                <a:lnTo>
                  <a:pt x="6300" y="1647"/>
                </a:lnTo>
                <a:cubicBezTo>
                  <a:pt x="6300" y="1062"/>
                  <a:pt x="6777" y="585"/>
                  <a:pt x="7361" y="585"/>
                </a:cubicBezTo>
                <a:close/>
                <a:moveTo>
                  <a:pt x="7361" y="1"/>
                </a:moveTo>
                <a:cubicBezTo>
                  <a:pt x="6463" y="1"/>
                  <a:pt x="5715" y="735"/>
                  <a:pt x="5715" y="1647"/>
                </a:cubicBezTo>
                <a:lnTo>
                  <a:pt x="5715" y="1715"/>
                </a:lnTo>
                <a:cubicBezTo>
                  <a:pt x="5469" y="1638"/>
                  <a:pt x="5215" y="1600"/>
                  <a:pt x="4962" y="1600"/>
                </a:cubicBezTo>
                <a:cubicBezTo>
                  <a:pt x="4317" y="1600"/>
                  <a:pt x="3679" y="1847"/>
                  <a:pt x="3210" y="2326"/>
                </a:cubicBezTo>
                <a:cubicBezTo>
                  <a:pt x="3086" y="2450"/>
                  <a:pt x="2978" y="2571"/>
                  <a:pt x="2897" y="2708"/>
                </a:cubicBezTo>
                <a:cubicBezTo>
                  <a:pt x="2747" y="2910"/>
                  <a:pt x="2652" y="3142"/>
                  <a:pt x="2583" y="3374"/>
                </a:cubicBezTo>
                <a:cubicBezTo>
                  <a:pt x="2531" y="3580"/>
                  <a:pt x="2489" y="3782"/>
                  <a:pt x="2489" y="3988"/>
                </a:cubicBezTo>
                <a:cubicBezTo>
                  <a:pt x="2041" y="4165"/>
                  <a:pt x="1633" y="4423"/>
                  <a:pt x="1290" y="4762"/>
                </a:cubicBezTo>
                <a:cubicBezTo>
                  <a:pt x="705" y="5334"/>
                  <a:pt x="366" y="6111"/>
                  <a:pt x="310" y="6911"/>
                </a:cubicBezTo>
                <a:cubicBezTo>
                  <a:pt x="258" y="7633"/>
                  <a:pt x="434" y="8342"/>
                  <a:pt x="816" y="8952"/>
                </a:cubicBezTo>
                <a:cubicBezTo>
                  <a:pt x="679" y="9116"/>
                  <a:pt x="555" y="9279"/>
                  <a:pt x="447" y="9458"/>
                </a:cubicBezTo>
                <a:cubicBezTo>
                  <a:pt x="297" y="9687"/>
                  <a:pt x="176" y="9961"/>
                  <a:pt x="121" y="10259"/>
                </a:cubicBezTo>
                <a:cubicBezTo>
                  <a:pt x="39" y="10546"/>
                  <a:pt x="0" y="10846"/>
                  <a:pt x="0" y="11157"/>
                </a:cubicBezTo>
                <a:cubicBezTo>
                  <a:pt x="0" y="12084"/>
                  <a:pt x="379" y="12953"/>
                  <a:pt x="1032" y="13593"/>
                </a:cubicBezTo>
                <a:cubicBezTo>
                  <a:pt x="898" y="13851"/>
                  <a:pt x="816" y="14151"/>
                  <a:pt x="787" y="14465"/>
                </a:cubicBezTo>
                <a:cubicBezTo>
                  <a:pt x="774" y="14628"/>
                  <a:pt x="761" y="14791"/>
                  <a:pt x="761" y="14955"/>
                </a:cubicBezTo>
                <a:cubicBezTo>
                  <a:pt x="761" y="16369"/>
                  <a:pt x="1617" y="17607"/>
                  <a:pt x="2923" y="18113"/>
                </a:cubicBezTo>
                <a:cubicBezTo>
                  <a:pt x="2965" y="19390"/>
                  <a:pt x="3971" y="20438"/>
                  <a:pt x="5238" y="20520"/>
                </a:cubicBezTo>
                <a:cubicBezTo>
                  <a:pt x="5251" y="20520"/>
                  <a:pt x="5278" y="20520"/>
                  <a:pt x="5291" y="20533"/>
                </a:cubicBezTo>
                <a:cubicBezTo>
                  <a:pt x="5372" y="20533"/>
                  <a:pt x="5454" y="20546"/>
                  <a:pt x="5536" y="20546"/>
                </a:cubicBezTo>
                <a:cubicBezTo>
                  <a:pt x="5591" y="20546"/>
                  <a:pt x="5660" y="20546"/>
                  <a:pt x="5715" y="20533"/>
                </a:cubicBezTo>
                <a:lnTo>
                  <a:pt x="5715" y="20791"/>
                </a:lnTo>
                <a:cubicBezTo>
                  <a:pt x="5715" y="21705"/>
                  <a:pt x="6463" y="22440"/>
                  <a:pt x="7361" y="22440"/>
                </a:cubicBezTo>
                <a:cubicBezTo>
                  <a:pt x="8272" y="22440"/>
                  <a:pt x="9020" y="21705"/>
                  <a:pt x="9020" y="20791"/>
                </a:cubicBezTo>
                <a:lnTo>
                  <a:pt x="9020" y="14968"/>
                </a:lnTo>
                <a:cubicBezTo>
                  <a:pt x="9020" y="14955"/>
                  <a:pt x="9007" y="14955"/>
                  <a:pt x="9007" y="14942"/>
                </a:cubicBezTo>
                <a:cubicBezTo>
                  <a:pt x="9144" y="14697"/>
                  <a:pt x="9210" y="14422"/>
                  <a:pt x="9210" y="14138"/>
                </a:cubicBezTo>
                <a:cubicBezTo>
                  <a:pt x="9210" y="13498"/>
                  <a:pt x="8857" y="12927"/>
                  <a:pt x="8328" y="12626"/>
                </a:cubicBezTo>
                <a:cubicBezTo>
                  <a:pt x="8749" y="12300"/>
                  <a:pt x="9020" y="11797"/>
                  <a:pt x="9020" y="11238"/>
                </a:cubicBezTo>
                <a:lnTo>
                  <a:pt x="9020" y="1647"/>
                </a:lnTo>
                <a:cubicBezTo>
                  <a:pt x="9020" y="735"/>
                  <a:pt x="8272" y="1"/>
                  <a:pt x="736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5"/>
          <p:cNvSpPr/>
          <p:nvPr/>
        </p:nvSpPr>
        <p:spPr>
          <a:xfrm rot="-1635335" flipH="1">
            <a:off x="7838328" y="-2302410"/>
            <a:ext cx="2322548" cy="5664635"/>
          </a:xfrm>
          <a:custGeom>
            <a:avLst/>
            <a:gdLst/>
            <a:ahLst/>
            <a:cxnLst/>
            <a:rect l="l" t="t" r="r" b="b"/>
            <a:pathLst>
              <a:path w="9201" h="22441" extrusionOk="0">
                <a:moveTo>
                  <a:pt x="1839" y="585"/>
                </a:moveTo>
                <a:cubicBezTo>
                  <a:pt x="2424" y="585"/>
                  <a:pt x="2901" y="1062"/>
                  <a:pt x="2901" y="1647"/>
                </a:cubicBezTo>
                <a:lnTo>
                  <a:pt x="2901" y="1865"/>
                </a:lnTo>
                <a:lnTo>
                  <a:pt x="2901" y="2163"/>
                </a:lnTo>
                <a:lnTo>
                  <a:pt x="2901" y="3253"/>
                </a:lnTo>
                <a:cubicBezTo>
                  <a:pt x="2901" y="3417"/>
                  <a:pt x="3021" y="3551"/>
                  <a:pt x="3185" y="3551"/>
                </a:cubicBezTo>
                <a:cubicBezTo>
                  <a:pt x="3348" y="3551"/>
                  <a:pt x="3485" y="3417"/>
                  <a:pt x="3485" y="3253"/>
                </a:cubicBezTo>
                <a:lnTo>
                  <a:pt x="3485" y="2339"/>
                </a:lnTo>
                <a:cubicBezTo>
                  <a:pt x="3726" y="2238"/>
                  <a:pt x="3980" y="2189"/>
                  <a:pt x="4233" y="2189"/>
                </a:cubicBezTo>
                <a:cubicBezTo>
                  <a:pt x="4725" y="2189"/>
                  <a:pt x="5213" y="2376"/>
                  <a:pt x="5582" y="2734"/>
                </a:cubicBezTo>
                <a:cubicBezTo>
                  <a:pt x="5608" y="2777"/>
                  <a:pt x="5647" y="2816"/>
                  <a:pt x="5676" y="2858"/>
                </a:cubicBezTo>
                <a:cubicBezTo>
                  <a:pt x="5690" y="2871"/>
                  <a:pt x="5703" y="2884"/>
                  <a:pt x="5716" y="2910"/>
                </a:cubicBezTo>
                <a:cubicBezTo>
                  <a:pt x="5758" y="2953"/>
                  <a:pt x="5797" y="3008"/>
                  <a:pt x="5840" y="3061"/>
                </a:cubicBezTo>
                <a:cubicBezTo>
                  <a:pt x="5921" y="3185"/>
                  <a:pt x="5990" y="3335"/>
                  <a:pt x="6029" y="3482"/>
                </a:cubicBezTo>
                <a:cubicBezTo>
                  <a:pt x="6206" y="4070"/>
                  <a:pt x="6042" y="4723"/>
                  <a:pt x="5552" y="5144"/>
                </a:cubicBezTo>
                <a:cubicBezTo>
                  <a:pt x="5432" y="5252"/>
                  <a:pt x="5418" y="5428"/>
                  <a:pt x="5526" y="5553"/>
                </a:cubicBezTo>
                <a:cubicBezTo>
                  <a:pt x="5582" y="5621"/>
                  <a:pt x="5663" y="5660"/>
                  <a:pt x="5745" y="5660"/>
                </a:cubicBezTo>
                <a:cubicBezTo>
                  <a:pt x="5810" y="5660"/>
                  <a:pt x="5879" y="5634"/>
                  <a:pt x="5934" y="5592"/>
                </a:cubicBezTo>
                <a:cubicBezTo>
                  <a:pt x="6261" y="5321"/>
                  <a:pt x="6480" y="4968"/>
                  <a:pt x="6601" y="4586"/>
                </a:cubicBezTo>
                <a:cubicBezTo>
                  <a:pt x="6927" y="4723"/>
                  <a:pt x="7241" y="4925"/>
                  <a:pt x="7499" y="5183"/>
                </a:cubicBezTo>
                <a:cubicBezTo>
                  <a:pt x="8439" y="6124"/>
                  <a:pt x="8573" y="7607"/>
                  <a:pt x="7852" y="8694"/>
                </a:cubicBezTo>
                <a:cubicBezTo>
                  <a:pt x="7566" y="8573"/>
                  <a:pt x="7253" y="8507"/>
                  <a:pt x="6928" y="8507"/>
                </a:cubicBezTo>
                <a:cubicBezTo>
                  <a:pt x="6851" y="8507"/>
                  <a:pt x="6773" y="8510"/>
                  <a:pt x="6695" y="8518"/>
                </a:cubicBezTo>
                <a:cubicBezTo>
                  <a:pt x="6532" y="8544"/>
                  <a:pt x="6411" y="8681"/>
                  <a:pt x="6437" y="8844"/>
                </a:cubicBezTo>
                <a:cubicBezTo>
                  <a:pt x="6450" y="8999"/>
                  <a:pt x="6585" y="9104"/>
                  <a:pt x="6737" y="9104"/>
                </a:cubicBezTo>
                <a:cubicBezTo>
                  <a:pt x="6746" y="9104"/>
                  <a:pt x="6755" y="9103"/>
                  <a:pt x="6764" y="9102"/>
                </a:cubicBezTo>
                <a:cubicBezTo>
                  <a:pt x="6825" y="9095"/>
                  <a:pt x="6886" y="9092"/>
                  <a:pt x="6947" y="9092"/>
                </a:cubicBezTo>
                <a:cubicBezTo>
                  <a:pt x="7474" y="9092"/>
                  <a:pt x="7954" y="9354"/>
                  <a:pt x="8247" y="9756"/>
                </a:cubicBezTo>
                <a:cubicBezTo>
                  <a:pt x="8358" y="9961"/>
                  <a:pt x="8452" y="10177"/>
                  <a:pt x="8521" y="10409"/>
                </a:cubicBezTo>
                <a:cubicBezTo>
                  <a:pt x="8521" y="10438"/>
                  <a:pt x="8521" y="10464"/>
                  <a:pt x="8534" y="10490"/>
                </a:cubicBezTo>
                <a:cubicBezTo>
                  <a:pt x="8534" y="10533"/>
                  <a:pt x="8547" y="10559"/>
                  <a:pt x="8560" y="10601"/>
                </a:cubicBezTo>
                <a:cubicBezTo>
                  <a:pt x="8603" y="10778"/>
                  <a:pt x="8616" y="10967"/>
                  <a:pt x="8616" y="11157"/>
                </a:cubicBezTo>
                <a:cubicBezTo>
                  <a:pt x="8616" y="11891"/>
                  <a:pt x="8328" y="12587"/>
                  <a:pt x="7812" y="13103"/>
                </a:cubicBezTo>
                <a:cubicBezTo>
                  <a:pt x="7430" y="12695"/>
                  <a:pt x="6888" y="12437"/>
                  <a:pt x="6274" y="12424"/>
                </a:cubicBezTo>
                <a:cubicBezTo>
                  <a:pt x="6111" y="12424"/>
                  <a:pt x="5974" y="12561"/>
                  <a:pt x="5974" y="12724"/>
                </a:cubicBezTo>
                <a:cubicBezTo>
                  <a:pt x="5974" y="12871"/>
                  <a:pt x="6098" y="13008"/>
                  <a:pt x="6261" y="13008"/>
                </a:cubicBezTo>
                <a:cubicBezTo>
                  <a:pt x="6833" y="13021"/>
                  <a:pt x="7336" y="13335"/>
                  <a:pt x="7607" y="13799"/>
                </a:cubicBezTo>
                <a:cubicBezTo>
                  <a:pt x="7718" y="14031"/>
                  <a:pt x="7786" y="14275"/>
                  <a:pt x="7825" y="14520"/>
                </a:cubicBezTo>
                <a:lnTo>
                  <a:pt x="7825" y="14628"/>
                </a:lnTo>
                <a:cubicBezTo>
                  <a:pt x="7825" y="14667"/>
                  <a:pt x="7838" y="14710"/>
                  <a:pt x="7852" y="14749"/>
                </a:cubicBezTo>
                <a:lnTo>
                  <a:pt x="7852" y="14955"/>
                </a:lnTo>
                <a:cubicBezTo>
                  <a:pt x="7852" y="16055"/>
                  <a:pt x="7228" y="17022"/>
                  <a:pt x="6261" y="17486"/>
                </a:cubicBezTo>
                <a:cubicBezTo>
                  <a:pt x="6137" y="16656"/>
                  <a:pt x="5526" y="15948"/>
                  <a:pt x="4667" y="15716"/>
                </a:cubicBezTo>
                <a:cubicBezTo>
                  <a:pt x="4643" y="15710"/>
                  <a:pt x="4618" y="15707"/>
                  <a:pt x="4594" y="15707"/>
                </a:cubicBezTo>
                <a:cubicBezTo>
                  <a:pt x="4462" y="15707"/>
                  <a:pt x="4351" y="15796"/>
                  <a:pt x="4315" y="15935"/>
                </a:cubicBezTo>
                <a:cubicBezTo>
                  <a:pt x="4275" y="16085"/>
                  <a:pt x="4370" y="16248"/>
                  <a:pt x="4520" y="16287"/>
                </a:cubicBezTo>
                <a:cubicBezTo>
                  <a:pt x="5226" y="16464"/>
                  <a:pt x="5690" y="17104"/>
                  <a:pt x="5703" y="17799"/>
                </a:cubicBezTo>
                <a:cubicBezTo>
                  <a:pt x="5690" y="17839"/>
                  <a:pt x="5690" y="17881"/>
                  <a:pt x="5690" y="17920"/>
                </a:cubicBezTo>
                <a:lnTo>
                  <a:pt x="5690" y="18044"/>
                </a:lnTo>
                <a:lnTo>
                  <a:pt x="5690" y="18057"/>
                </a:lnTo>
                <a:cubicBezTo>
                  <a:pt x="5676" y="18113"/>
                  <a:pt x="5676" y="18165"/>
                  <a:pt x="5647" y="18221"/>
                </a:cubicBezTo>
                <a:cubicBezTo>
                  <a:pt x="5634" y="18276"/>
                  <a:pt x="5647" y="18328"/>
                  <a:pt x="5663" y="18384"/>
                </a:cubicBezTo>
                <a:cubicBezTo>
                  <a:pt x="5500" y="19269"/>
                  <a:pt x="4723" y="19935"/>
                  <a:pt x="3799" y="19935"/>
                </a:cubicBezTo>
                <a:cubicBezTo>
                  <a:pt x="3622" y="19935"/>
                  <a:pt x="3443" y="19909"/>
                  <a:pt x="3266" y="19867"/>
                </a:cubicBezTo>
                <a:cubicBezTo>
                  <a:pt x="3240" y="19854"/>
                  <a:pt x="3214" y="19854"/>
                  <a:pt x="3185" y="19854"/>
                </a:cubicBezTo>
                <a:cubicBezTo>
                  <a:pt x="2858" y="19690"/>
                  <a:pt x="2600" y="19377"/>
                  <a:pt x="2545" y="18982"/>
                </a:cubicBezTo>
                <a:cubicBezTo>
                  <a:pt x="2521" y="18845"/>
                  <a:pt x="2395" y="18733"/>
                  <a:pt x="2259" y="18733"/>
                </a:cubicBezTo>
                <a:cubicBezTo>
                  <a:pt x="2246" y="18733"/>
                  <a:pt x="2232" y="18734"/>
                  <a:pt x="2218" y="18737"/>
                </a:cubicBezTo>
                <a:cubicBezTo>
                  <a:pt x="2055" y="18766"/>
                  <a:pt x="1947" y="18913"/>
                  <a:pt x="1960" y="19076"/>
                </a:cubicBezTo>
                <a:cubicBezTo>
                  <a:pt x="2042" y="19648"/>
                  <a:pt x="2411" y="20112"/>
                  <a:pt x="2901" y="20356"/>
                </a:cubicBezTo>
                <a:lnTo>
                  <a:pt x="2901" y="20791"/>
                </a:lnTo>
                <a:cubicBezTo>
                  <a:pt x="2901" y="21379"/>
                  <a:pt x="2424" y="21852"/>
                  <a:pt x="1839" y="21852"/>
                </a:cubicBezTo>
                <a:cubicBezTo>
                  <a:pt x="1255" y="21852"/>
                  <a:pt x="778" y="21379"/>
                  <a:pt x="778" y="20791"/>
                </a:cubicBezTo>
                <a:lnTo>
                  <a:pt x="778" y="17567"/>
                </a:lnTo>
                <a:cubicBezTo>
                  <a:pt x="1075" y="17839"/>
                  <a:pt x="1483" y="18002"/>
                  <a:pt x="1921" y="18002"/>
                </a:cubicBezTo>
                <a:cubicBezTo>
                  <a:pt x="2260" y="18002"/>
                  <a:pt x="2574" y="17907"/>
                  <a:pt x="2845" y="17744"/>
                </a:cubicBezTo>
                <a:cubicBezTo>
                  <a:pt x="2974" y="17690"/>
                  <a:pt x="3110" y="17663"/>
                  <a:pt x="3248" y="17663"/>
                </a:cubicBezTo>
                <a:cubicBezTo>
                  <a:pt x="3386" y="17663"/>
                  <a:pt x="3526" y="17690"/>
                  <a:pt x="3661" y="17744"/>
                </a:cubicBezTo>
                <a:cubicBezTo>
                  <a:pt x="3949" y="17852"/>
                  <a:pt x="4164" y="18070"/>
                  <a:pt x="4288" y="18341"/>
                </a:cubicBezTo>
                <a:cubicBezTo>
                  <a:pt x="4328" y="18452"/>
                  <a:pt x="4439" y="18521"/>
                  <a:pt x="4560" y="18521"/>
                </a:cubicBezTo>
                <a:cubicBezTo>
                  <a:pt x="4586" y="18521"/>
                  <a:pt x="4628" y="18505"/>
                  <a:pt x="4667" y="18492"/>
                </a:cubicBezTo>
                <a:cubicBezTo>
                  <a:pt x="4818" y="18423"/>
                  <a:pt x="4886" y="18260"/>
                  <a:pt x="4818" y="18113"/>
                </a:cubicBezTo>
                <a:cubicBezTo>
                  <a:pt x="4641" y="17688"/>
                  <a:pt x="4302" y="17362"/>
                  <a:pt x="3880" y="17198"/>
                </a:cubicBezTo>
                <a:cubicBezTo>
                  <a:pt x="3743" y="17133"/>
                  <a:pt x="3593" y="17104"/>
                  <a:pt x="3443" y="17091"/>
                </a:cubicBezTo>
                <a:cubicBezTo>
                  <a:pt x="3580" y="16846"/>
                  <a:pt x="3648" y="16562"/>
                  <a:pt x="3648" y="16274"/>
                </a:cubicBezTo>
                <a:lnTo>
                  <a:pt x="3648" y="15036"/>
                </a:lnTo>
                <a:cubicBezTo>
                  <a:pt x="3648" y="14873"/>
                  <a:pt x="3511" y="14736"/>
                  <a:pt x="3348" y="14736"/>
                </a:cubicBezTo>
                <a:cubicBezTo>
                  <a:pt x="3185" y="14736"/>
                  <a:pt x="3064" y="14873"/>
                  <a:pt x="3064" y="15036"/>
                </a:cubicBezTo>
                <a:lnTo>
                  <a:pt x="3064" y="16274"/>
                </a:lnTo>
                <a:cubicBezTo>
                  <a:pt x="3064" y="16656"/>
                  <a:pt x="2858" y="17009"/>
                  <a:pt x="2574" y="17215"/>
                </a:cubicBezTo>
                <a:lnTo>
                  <a:pt x="2561" y="17215"/>
                </a:lnTo>
                <a:cubicBezTo>
                  <a:pt x="2531" y="17228"/>
                  <a:pt x="2505" y="17241"/>
                  <a:pt x="2479" y="17267"/>
                </a:cubicBezTo>
                <a:cubicBezTo>
                  <a:pt x="2316" y="17362"/>
                  <a:pt x="2123" y="17417"/>
                  <a:pt x="1921" y="17417"/>
                </a:cubicBezTo>
                <a:cubicBezTo>
                  <a:pt x="1281" y="17417"/>
                  <a:pt x="778" y="16901"/>
                  <a:pt x="778" y="16274"/>
                </a:cubicBezTo>
                <a:lnTo>
                  <a:pt x="778" y="15595"/>
                </a:lnTo>
                <a:cubicBezTo>
                  <a:pt x="1049" y="15784"/>
                  <a:pt x="1388" y="15892"/>
                  <a:pt x="1757" y="15892"/>
                </a:cubicBezTo>
                <a:cubicBezTo>
                  <a:pt x="1908" y="15892"/>
                  <a:pt x="2042" y="15771"/>
                  <a:pt x="2042" y="15608"/>
                </a:cubicBezTo>
                <a:cubicBezTo>
                  <a:pt x="2042" y="15445"/>
                  <a:pt x="1908" y="15307"/>
                  <a:pt x="1757" y="15307"/>
                </a:cubicBezTo>
                <a:cubicBezTo>
                  <a:pt x="1104" y="15307"/>
                  <a:pt x="585" y="14791"/>
                  <a:pt x="585" y="14138"/>
                </a:cubicBezTo>
                <a:cubicBezTo>
                  <a:pt x="585" y="13498"/>
                  <a:pt x="1104" y="12969"/>
                  <a:pt x="1757" y="12969"/>
                </a:cubicBezTo>
                <a:lnTo>
                  <a:pt x="1921" y="12969"/>
                </a:lnTo>
                <a:cubicBezTo>
                  <a:pt x="2871" y="12969"/>
                  <a:pt x="3648" y="12192"/>
                  <a:pt x="3648" y="11238"/>
                </a:cubicBezTo>
                <a:lnTo>
                  <a:pt x="3648" y="10340"/>
                </a:lnTo>
                <a:cubicBezTo>
                  <a:pt x="4831" y="10206"/>
                  <a:pt x="5758" y="9197"/>
                  <a:pt x="5758" y="7989"/>
                </a:cubicBezTo>
                <a:cubicBezTo>
                  <a:pt x="5758" y="6682"/>
                  <a:pt x="4710" y="5634"/>
                  <a:pt x="3417" y="5621"/>
                </a:cubicBezTo>
                <a:cubicBezTo>
                  <a:pt x="3159" y="5089"/>
                  <a:pt x="2613" y="4707"/>
                  <a:pt x="1973" y="4707"/>
                </a:cubicBezTo>
                <a:cubicBezTo>
                  <a:pt x="1810" y="4707"/>
                  <a:pt x="1689" y="4844"/>
                  <a:pt x="1689" y="5007"/>
                </a:cubicBezTo>
                <a:cubicBezTo>
                  <a:pt x="1689" y="5170"/>
                  <a:pt x="1810" y="5308"/>
                  <a:pt x="1973" y="5308"/>
                </a:cubicBezTo>
                <a:cubicBezTo>
                  <a:pt x="2531" y="5308"/>
                  <a:pt x="2982" y="5755"/>
                  <a:pt x="2982" y="6313"/>
                </a:cubicBezTo>
                <a:cubicBezTo>
                  <a:pt x="2982" y="6872"/>
                  <a:pt x="2531" y="7319"/>
                  <a:pt x="1973" y="7319"/>
                </a:cubicBezTo>
                <a:cubicBezTo>
                  <a:pt x="1810" y="7319"/>
                  <a:pt x="1689" y="7456"/>
                  <a:pt x="1689" y="7620"/>
                </a:cubicBezTo>
                <a:cubicBezTo>
                  <a:pt x="1689" y="7783"/>
                  <a:pt x="1810" y="7907"/>
                  <a:pt x="1973" y="7907"/>
                </a:cubicBezTo>
                <a:cubicBezTo>
                  <a:pt x="2858" y="7907"/>
                  <a:pt x="3580" y="7198"/>
                  <a:pt x="3580" y="6313"/>
                </a:cubicBezTo>
                <a:cubicBezTo>
                  <a:pt x="3580" y="6274"/>
                  <a:pt x="3567" y="6245"/>
                  <a:pt x="3567" y="6219"/>
                </a:cubicBezTo>
                <a:lnTo>
                  <a:pt x="3567" y="6219"/>
                </a:lnTo>
                <a:cubicBezTo>
                  <a:pt x="4465" y="6300"/>
                  <a:pt x="5174" y="7061"/>
                  <a:pt x="5174" y="7989"/>
                </a:cubicBezTo>
                <a:cubicBezTo>
                  <a:pt x="5174" y="8844"/>
                  <a:pt x="4560" y="9566"/>
                  <a:pt x="3730" y="9729"/>
                </a:cubicBezTo>
                <a:lnTo>
                  <a:pt x="3635" y="9729"/>
                </a:lnTo>
                <a:cubicBezTo>
                  <a:pt x="3551" y="9748"/>
                  <a:pt x="3467" y="9757"/>
                  <a:pt x="3384" y="9757"/>
                </a:cubicBezTo>
                <a:cubicBezTo>
                  <a:pt x="2860" y="9757"/>
                  <a:pt x="2379" y="9399"/>
                  <a:pt x="2260" y="8858"/>
                </a:cubicBezTo>
                <a:cubicBezTo>
                  <a:pt x="2238" y="8721"/>
                  <a:pt x="2120" y="8632"/>
                  <a:pt x="1986" y="8632"/>
                </a:cubicBezTo>
                <a:cubicBezTo>
                  <a:pt x="1960" y="8632"/>
                  <a:pt x="1934" y="8635"/>
                  <a:pt x="1908" y="8642"/>
                </a:cubicBezTo>
                <a:cubicBezTo>
                  <a:pt x="1757" y="8668"/>
                  <a:pt x="1646" y="8831"/>
                  <a:pt x="1689" y="8982"/>
                </a:cubicBezTo>
                <a:cubicBezTo>
                  <a:pt x="1839" y="9687"/>
                  <a:pt x="2398" y="10193"/>
                  <a:pt x="3064" y="10314"/>
                </a:cubicBezTo>
                <a:lnTo>
                  <a:pt x="3064" y="11238"/>
                </a:lnTo>
                <a:cubicBezTo>
                  <a:pt x="3064" y="11865"/>
                  <a:pt x="2545" y="12381"/>
                  <a:pt x="1921" y="12381"/>
                </a:cubicBezTo>
                <a:cubicBezTo>
                  <a:pt x="1281" y="12381"/>
                  <a:pt x="778" y="11865"/>
                  <a:pt x="778" y="11238"/>
                </a:cubicBezTo>
                <a:lnTo>
                  <a:pt x="778" y="1647"/>
                </a:lnTo>
                <a:cubicBezTo>
                  <a:pt x="778" y="1062"/>
                  <a:pt x="1255" y="585"/>
                  <a:pt x="1839" y="585"/>
                </a:cubicBezTo>
                <a:close/>
                <a:moveTo>
                  <a:pt x="1839" y="1"/>
                </a:moveTo>
                <a:cubicBezTo>
                  <a:pt x="928" y="1"/>
                  <a:pt x="193" y="735"/>
                  <a:pt x="193" y="1647"/>
                </a:cubicBezTo>
                <a:lnTo>
                  <a:pt x="193" y="11238"/>
                </a:lnTo>
                <a:cubicBezTo>
                  <a:pt x="193" y="11797"/>
                  <a:pt x="451" y="12300"/>
                  <a:pt x="872" y="12626"/>
                </a:cubicBezTo>
                <a:cubicBezTo>
                  <a:pt x="356" y="12927"/>
                  <a:pt x="0" y="13498"/>
                  <a:pt x="0" y="14138"/>
                </a:cubicBezTo>
                <a:cubicBezTo>
                  <a:pt x="0" y="14422"/>
                  <a:pt x="69" y="14697"/>
                  <a:pt x="193" y="14942"/>
                </a:cubicBezTo>
                <a:lnTo>
                  <a:pt x="193" y="14968"/>
                </a:lnTo>
                <a:lnTo>
                  <a:pt x="193" y="20791"/>
                </a:lnTo>
                <a:cubicBezTo>
                  <a:pt x="193" y="21705"/>
                  <a:pt x="928" y="22440"/>
                  <a:pt x="1839" y="22440"/>
                </a:cubicBezTo>
                <a:cubicBezTo>
                  <a:pt x="2750" y="22440"/>
                  <a:pt x="3485" y="21705"/>
                  <a:pt x="3485" y="20791"/>
                </a:cubicBezTo>
                <a:lnTo>
                  <a:pt x="3485" y="20533"/>
                </a:lnTo>
                <a:cubicBezTo>
                  <a:pt x="3541" y="20546"/>
                  <a:pt x="3606" y="20546"/>
                  <a:pt x="3661" y="20546"/>
                </a:cubicBezTo>
                <a:cubicBezTo>
                  <a:pt x="3743" y="20546"/>
                  <a:pt x="3825" y="20533"/>
                  <a:pt x="3906" y="20533"/>
                </a:cubicBezTo>
                <a:cubicBezTo>
                  <a:pt x="3933" y="20520"/>
                  <a:pt x="3949" y="20520"/>
                  <a:pt x="3962" y="20520"/>
                </a:cubicBezTo>
                <a:cubicBezTo>
                  <a:pt x="5226" y="20438"/>
                  <a:pt x="6235" y="19390"/>
                  <a:pt x="6274" y="18113"/>
                </a:cubicBezTo>
                <a:cubicBezTo>
                  <a:pt x="7580" y="17607"/>
                  <a:pt x="8452" y="16369"/>
                  <a:pt x="8452" y="14955"/>
                </a:cubicBezTo>
                <a:cubicBezTo>
                  <a:pt x="8452" y="14791"/>
                  <a:pt x="8439" y="14628"/>
                  <a:pt x="8410" y="14465"/>
                </a:cubicBezTo>
                <a:cubicBezTo>
                  <a:pt x="8384" y="14151"/>
                  <a:pt x="8302" y="13851"/>
                  <a:pt x="8165" y="13593"/>
                </a:cubicBezTo>
                <a:cubicBezTo>
                  <a:pt x="8831" y="12953"/>
                  <a:pt x="9200" y="12084"/>
                  <a:pt x="9200" y="11157"/>
                </a:cubicBezTo>
                <a:cubicBezTo>
                  <a:pt x="9200" y="10846"/>
                  <a:pt x="9158" y="10546"/>
                  <a:pt x="9076" y="10259"/>
                </a:cubicBezTo>
                <a:cubicBezTo>
                  <a:pt x="9024" y="9961"/>
                  <a:pt x="8913" y="9687"/>
                  <a:pt x="8750" y="9458"/>
                </a:cubicBezTo>
                <a:cubicBezTo>
                  <a:pt x="8642" y="9279"/>
                  <a:pt x="8521" y="9116"/>
                  <a:pt x="8384" y="8952"/>
                </a:cubicBezTo>
                <a:cubicBezTo>
                  <a:pt x="8766" y="8342"/>
                  <a:pt x="8942" y="7633"/>
                  <a:pt x="8900" y="6911"/>
                </a:cubicBezTo>
                <a:cubicBezTo>
                  <a:pt x="8831" y="6111"/>
                  <a:pt x="8492" y="5334"/>
                  <a:pt x="7920" y="4762"/>
                </a:cubicBezTo>
                <a:cubicBezTo>
                  <a:pt x="7580" y="4423"/>
                  <a:pt x="7159" y="4165"/>
                  <a:pt x="6725" y="3988"/>
                </a:cubicBezTo>
                <a:cubicBezTo>
                  <a:pt x="6708" y="3782"/>
                  <a:pt x="6682" y="3580"/>
                  <a:pt x="6614" y="3374"/>
                </a:cubicBezTo>
                <a:cubicBezTo>
                  <a:pt x="6562" y="3142"/>
                  <a:pt x="6450" y="2910"/>
                  <a:pt x="6300" y="2708"/>
                </a:cubicBezTo>
                <a:cubicBezTo>
                  <a:pt x="6219" y="2571"/>
                  <a:pt x="6111" y="2437"/>
                  <a:pt x="5990" y="2326"/>
                </a:cubicBezTo>
                <a:cubicBezTo>
                  <a:pt x="5521" y="1847"/>
                  <a:pt x="4883" y="1600"/>
                  <a:pt x="4238" y="1600"/>
                </a:cubicBezTo>
                <a:cubicBezTo>
                  <a:pt x="3985" y="1600"/>
                  <a:pt x="3731" y="1638"/>
                  <a:pt x="3485" y="1715"/>
                </a:cubicBezTo>
                <a:lnTo>
                  <a:pt x="3485" y="1647"/>
                </a:lnTo>
                <a:cubicBezTo>
                  <a:pt x="3485" y="735"/>
                  <a:pt x="2750" y="1"/>
                  <a:pt x="183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/>
          <p:nvPr/>
        </p:nvSpPr>
        <p:spPr>
          <a:xfrm rot="-7199981" flipH="1">
            <a:off x="7377306" y="2006304"/>
            <a:ext cx="2322738" cy="5659561"/>
          </a:xfrm>
          <a:custGeom>
            <a:avLst/>
            <a:gdLst/>
            <a:ahLst/>
            <a:cxnLst/>
            <a:rect l="l" t="t" r="r" b="b"/>
            <a:pathLst>
              <a:path w="9210" h="22441" extrusionOk="0">
                <a:moveTo>
                  <a:pt x="7361" y="585"/>
                </a:moveTo>
                <a:cubicBezTo>
                  <a:pt x="7946" y="585"/>
                  <a:pt x="8423" y="1062"/>
                  <a:pt x="8423" y="1647"/>
                </a:cubicBezTo>
                <a:lnTo>
                  <a:pt x="8423" y="11238"/>
                </a:lnTo>
                <a:cubicBezTo>
                  <a:pt x="8423" y="11865"/>
                  <a:pt x="7920" y="12381"/>
                  <a:pt x="7280" y="12381"/>
                </a:cubicBezTo>
                <a:cubicBezTo>
                  <a:pt x="6653" y="12381"/>
                  <a:pt x="6137" y="11865"/>
                  <a:pt x="6137" y="11238"/>
                </a:cubicBezTo>
                <a:lnTo>
                  <a:pt x="6137" y="10314"/>
                </a:lnTo>
                <a:cubicBezTo>
                  <a:pt x="6803" y="10193"/>
                  <a:pt x="7361" y="9687"/>
                  <a:pt x="7511" y="8982"/>
                </a:cubicBezTo>
                <a:cubicBezTo>
                  <a:pt x="7551" y="8831"/>
                  <a:pt x="7443" y="8668"/>
                  <a:pt x="7293" y="8642"/>
                </a:cubicBezTo>
                <a:cubicBezTo>
                  <a:pt x="7266" y="8635"/>
                  <a:pt x="7240" y="8632"/>
                  <a:pt x="7215" y="8632"/>
                </a:cubicBezTo>
                <a:cubicBezTo>
                  <a:pt x="7084" y="8632"/>
                  <a:pt x="6973" y="8721"/>
                  <a:pt x="6940" y="8858"/>
                </a:cubicBezTo>
                <a:cubicBezTo>
                  <a:pt x="6822" y="9399"/>
                  <a:pt x="6348" y="9757"/>
                  <a:pt x="5820" y="9757"/>
                </a:cubicBezTo>
                <a:cubicBezTo>
                  <a:pt x="5736" y="9757"/>
                  <a:pt x="5650" y="9748"/>
                  <a:pt x="5565" y="9729"/>
                </a:cubicBezTo>
                <a:lnTo>
                  <a:pt x="5470" y="9729"/>
                </a:lnTo>
                <a:cubicBezTo>
                  <a:pt x="4654" y="9566"/>
                  <a:pt x="4027" y="8844"/>
                  <a:pt x="4027" y="7989"/>
                </a:cubicBezTo>
                <a:cubicBezTo>
                  <a:pt x="4027" y="7061"/>
                  <a:pt x="4735" y="6300"/>
                  <a:pt x="5634" y="6219"/>
                </a:cubicBezTo>
                <a:lnTo>
                  <a:pt x="5634" y="6313"/>
                </a:lnTo>
                <a:cubicBezTo>
                  <a:pt x="5634" y="7198"/>
                  <a:pt x="6339" y="7907"/>
                  <a:pt x="7224" y="7907"/>
                </a:cubicBezTo>
                <a:cubicBezTo>
                  <a:pt x="7387" y="7907"/>
                  <a:pt x="7524" y="7783"/>
                  <a:pt x="7524" y="7620"/>
                </a:cubicBezTo>
                <a:cubicBezTo>
                  <a:pt x="7524" y="7456"/>
                  <a:pt x="7387" y="7319"/>
                  <a:pt x="7224" y="7319"/>
                </a:cubicBezTo>
                <a:cubicBezTo>
                  <a:pt x="6666" y="7319"/>
                  <a:pt x="6218" y="6872"/>
                  <a:pt x="6218" y="6313"/>
                </a:cubicBezTo>
                <a:cubicBezTo>
                  <a:pt x="6218" y="5755"/>
                  <a:pt x="6666" y="5308"/>
                  <a:pt x="7224" y="5308"/>
                </a:cubicBezTo>
                <a:cubicBezTo>
                  <a:pt x="7387" y="5308"/>
                  <a:pt x="7524" y="5170"/>
                  <a:pt x="7524" y="5007"/>
                </a:cubicBezTo>
                <a:cubicBezTo>
                  <a:pt x="7524" y="4844"/>
                  <a:pt x="7387" y="4707"/>
                  <a:pt x="7224" y="4707"/>
                </a:cubicBezTo>
                <a:cubicBezTo>
                  <a:pt x="6597" y="4707"/>
                  <a:pt x="6042" y="5089"/>
                  <a:pt x="5781" y="5621"/>
                </a:cubicBezTo>
                <a:cubicBezTo>
                  <a:pt x="4491" y="5634"/>
                  <a:pt x="3442" y="6682"/>
                  <a:pt x="3442" y="7989"/>
                </a:cubicBezTo>
                <a:cubicBezTo>
                  <a:pt x="3442" y="9197"/>
                  <a:pt x="4366" y="10206"/>
                  <a:pt x="5552" y="10340"/>
                </a:cubicBezTo>
                <a:lnTo>
                  <a:pt x="5552" y="11238"/>
                </a:lnTo>
                <a:cubicBezTo>
                  <a:pt x="5552" y="12192"/>
                  <a:pt x="6326" y="12969"/>
                  <a:pt x="7280" y="12969"/>
                </a:cubicBezTo>
                <a:lnTo>
                  <a:pt x="7456" y="12969"/>
                </a:lnTo>
                <a:cubicBezTo>
                  <a:pt x="8096" y="12969"/>
                  <a:pt x="8612" y="13498"/>
                  <a:pt x="8612" y="14138"/>
                </a:cubicBezTo>
                <a:cubicBezTo>
                  <a:pt x="8612" y="14791"/>
                  <a:pt x="8096" y="15307"/>
                  <a:pt x="7456" y="15307"/>
                </a:cubicBezTo>
                <a:cubicBezTo>
                  <a:pt x="7293" y="15307"/>
                  <a:pt x="7155" y="15445"/>
                  <a:pt x="7155" y="15608"/>
                </a:cubicBezTo>
                <a:cubicBezTo>
                  <a:pt x="7155" y="15771"/>
                  <a:pt x="7293" y="15892"/>
                  <a:pt x="7456" y="15892"/>
                </a:cubicBezTo>
                <a:cubicBezTo>
                  <a:pt x="7809" y="15892"/>
                  <a:pt x="8148" y="15784"/>
                  <a:pt x="8423" y="15595"/>
                </a:cubicBezTo>
                <a:lnTo>
                  <a:pt x="8423" y="16274"/>
                </a:lnTo>
                <a:cubicBezTo>
                  <a:pt x="8423" y="16901"/>
                  <a:pt x="7920" y="17417"/>
                  <a:pt x="7280" y="17417"/>
                </a:cubicBezTo>
                <a:cubicBezTo>
                  <a:pt x="7074" y="17417"/>
                  <a:pt x="6884" y="17362"/>
                  <a:pt x="6721" y="17267"/>
                </a:cubicBezTo>
                <a:cubicBezTo>
                  <a:pt x="6695" y="17241"/>
                  <a:pt x="6666" y="17228"/>
                  <a:pt x="6639" y="17215"/>
                </a:cubicBezTo>
                <a:cubicBezTo>
                  <a:pt x="6339" y="17009"/>
                  <a:pt x="6137" y="16656"/>
                  <a:pt x="6137" y="16274"/>
                </a:cubicBezTo>
                <a:lnTo>
                  <a:pt x="6137" y="15036"/>
                </a:lnTo>
                <a:cubicBezTo>
                  <a:pt x="6137" y="14873"/>
                  <a:pt x="6012" y="14736"/>
                  <a:pt x="5849" y="14736"/>
                </a:cubicBezTo>
                <a:cubicBezTo>
                  <a:pt x="5686" y="14736"/>
                  <a:pt x="5552" y="14873"/>
                  <a:pt x="5552" y="15036"/>
                </a:cubicBezTo>
                <a:lnTo>
                  <a:pt x="5552" y="16274"/>
                </a:lnTo>
                <a:cubicBezTo>
                  <a:pt x="5552" y="16562"/>
                  <a:pt x="5634" y="16846"/>
                  <a:pt x="5754" y="17091"/>
                </a:cubicBezTo>
                <a:cubicBezTo>
                  <a:pt x="5604" y="17104"/>
                  <a:pt x="5470" y="17133"/>
                  <a:pt x="5320" y="17198"/>
                </a:cubicBezTo>
                <a:cubicBezTo>
                  <a:pt x="4899" y="17362"/>
                  <a:pt x="4556" y="17688"/>
                  <a:pt x="4379" y="18113"/>
                </a:cubicBezTo>
                <a:cubicBezTo>
                  <a:pt x="4311" y="18260"/>
                  <a:pt x="4379" y="18423"/>
                  <a:pt x="4530" y="18492"/>
                </a:cubicBezTo>
                <a:cubicBezTo>
                  <a:pt x="4572" y="18505"/>
                  <a:pt x="4611" y="18521"/>
                  <a:pt x="4654" y="18521"/>
                </a:cubicBezTo>
                <a:cubicBezTo>
                  <a:pt x="4762" y="18521"/>
                  <a:pt x="4869" y="18452"/>
                  <a:pt x="4912" y="18341"/>
                </a:cubicBezTo>
                <a:cubicBezTo>
                  <a:pt x="5033" y="18070"/>
                  <a:pt x="5265" y="17852"/>
                  <a:pt x="5536" y="17744"/>
                </a:cubicBezTo>
                <a:cubicBezTo>
                  <a:pt x="5673" y="17690"/>
                  <a:pt x="5812" y="17663"/>
                  <a:pt x="5952" y="17663"/>
                </a:cubicBezTo>
                <a:cubicBezTo>
                  <a:pt x="6092" y="17663"/>
                  <a:pt x="6231" y="17690"/>
                  <a:pt x="6368" y="17744"/>
                </a:cubicBezTo>
                <a:cubicBezTo>
                  <a:pt x="6626" y="17907"/>
                  <a:pt x="6953" y="18002"/>
                  <a:pt x="7280" y="18002"/>
                </a:cubicBezTo>
                <a:cubicBezTo>
                  <a:pt x="7727" y="18002"/>
                  <a:pt x="8122" y="17839"/>
                  <a:pt x="8423" y="17567"/>
                </a:cubicBezTo>
                <a:lnTo>
                  <a:pt x="8423" y="20791"/>
                </a:lnTo>
                <a:cubicBezTo>
                  <a:pt x="8423" y="21379"/>
                  <a:pt x="7946" y="21852"/>
                  <a:pt x="7361" y="21852"/>
                </a:cubicBezTo>
                <a:cubicBezTo>
                  <a:pt x="6777" y="21852"/>
                  <a:pt x="6300" y="21379"/>
                  <a:pt x="6300" y="20791"/>
                </a:cubicBezTo>
                <a:lnTo>
                  <a:pt x="6300" y="20356"/>
                </a:lnTo>
                <a:cubicBezTo>
                  <a:pt x="6790" y="20112"/>
                  <a:pt x="7155" y="19648"/>
                  <a:pt x="7237" y="19076"/>
                </a:cubicBezTo>
                <a:cubicBezTo>
                  <a:pt x="7266" y="18913"/>
                  <a:pt x="7142" y="18766"/>
                  <a:pt x="6992" y="18737"/>
                </a:cubicBezTo>
                <a:cubicBezTo>
                  <a:pt x="6977" y="18734"/>
                  <a:pt x="6962" y="18733"/>
                  <a:pt x="6947" y="18733"/>
                </a:cubicBezTo>
                <a:cubicBezTo>
                  <a:pt x="6802" y="18733"/>
                  <a:pt x="6676" y="18845"/>
                  <a:pt x="6653" y="18982"/>
                </a:cubicBezTo>
                <a:cubicBezTo>
                  <a:pt x="6597" y="19377"/>
                  <a:pt x="6352" y="19690"/>
                  <a:pt x="6012" y="19854"/>
                </a:cubicBezTo>
                <a:cubicBezTo>
                  <a:pt x="5986" y="19854"/>
                  <a:pt x="5960" y="19854"/>
                  <a:pt x="5931" y="19867"/>
                </a:cubicBezTo>
                <a:cubicBezTo>
                  <a:pt x="5754" y="19909"/>
                  <a:pt x="5578" y="19935"/>
                  <a:pt x="5402" y="19935"/>
                </a:cubicBezTo>
                <a:cubicBezTo>
                  <a:pt x="4474" y="19935"/>
                  <a:pt x="3700" y="19269"/>
                  <a:pt x="3537" y="18384"/>
                </a:cubicBezTo>
                <a:cubicBezTo>
                  <a:pt x="3563" y="18328"/>
                  <a:pt x="3563" y="18276"/>
                  <a:pt x="3550" y="18221"/>
                </a:cubicBezTo>
                <a:cubicBezTo>
                  <a:pt x="3537" y="18165"/>
                  <a:pt x="3524" y="18113"/>
                  <a:pt x="3511" y="18044"/>
                </a:cubicBezTo>
                <a:lnTo>
                  <a:pt x="3511" y="17920"/>
                </a:lnTo>
                <a:cubicBezTo>
                  <a:pt x="3524" y="17881"/>
                  <a:pt x="3511" y="17839"/>
                  <a:pt x="3494" y="17799"/>
                </a:cubicBezTo>
                <a:cubicBezTo>
                  <a:pt x="3511" y="17104"/>
                  <a:pt x="3971" y="16464"/>
                  <a:pt x="4680" y="16287"/>
                </a:cubicBezTo>
                <a:cubicBezTo>
                  <a:pt x="4843" y="16248"/>
                  <a:pt x="4938" y="16085"/>
                  <a:pt x="4899" y="15935"/>
                </a:cubicBezTo>
                <a:cubicBezTo>
                  <a:pt x="4863" y="15796"/>
                  <a:pt x="4740" y="15707"/>
                  <a:pt x="4604" y="15707"/>
                </a:cubicBezTo>
                <a:cubicBezTo>
                  <a:pt x="4579" y="15707"/>
                  <a:pt x="4555" y="15710"/>
                  <a:pt x="4530" y="15716"/>
                </a:cubicBezTo>
                <a:cubicBezTo>
                  <a:pt x="3674" y="15948"/>
                  <a:pt x="3073" y="16656"/>
                  <a:pt x="2939" y="17473"/>
                </a:cubicBezTo>
                <a:cubicBezTo>
                  <a:pt x="1973" y="17022"/>
                  <a:pt x="1346" y="16055"/>
                  <a:pt x="1346" y="14955"/>
                </a:cubicBezTo>
                <a:lnTo>
                  <a:pt x="1346" y="14749"/>
                </a:lnTo>
                <a:cubicBezTo>
                  <a:pt x="1372" y="14710"/>
                  <a:pt x="1372" y="14667"/>
                  <a:pt x="1372" y="14628"/>
                </a:cubicBezTo>
                <a:lnTo>
                  <a:pt x="1372" y="14520"/>
                </a:lnTo>
                <a:cubicBezTo>
                  <a:pt x="1414" y="14275"/>
                  <a:pt x="1483" y="14031"/>
                  <a:pt x="1590" y="13799"/>
                </a:cubicBezTo>
                <a:cubicBezTo>
                  <a:pt x="1862" y="13335"/>
                  <a:pt x="2368" y="13021"/>
                  <a:pt x="2939" y="13008"/>
                </a:cubicBezTo>
                <a:cubicBezTo>
                  <a:pt x="3103" y="13008"/>
                  <a:pt x="3223" y="12871"/>
                  <a:pt x="3223" y="12724"/>
                </a:cubicBezTo>
                <a:cubicBezTo>
                  <a:pt x="3223" y="12561"/>
                  <a:pt x="3086" y="12424"/>
                  <a:pt x="2923" y="12424"/>
                </a:cubicBezTo>
                <a:cubicBezTo>
                  <a:pt x="2325" y="12437"/>
                  <a:pt x="1767" y="12695"/>
                  <a:pt x="1388" y="13103"/>
                </a:cubicBezTo>
                <a:cubicBezTo>
                  <a:pt x="869" y="12587"/>
                  <a:pt x="585" y="11891"/>
                  <a:pt x="585" y="11157"/>
                </a:cubicBezTo>
                <a:cubicBezTo>
                  <a:pt x="585" y="10967"/>
                  <a:pt x="611" y="10778"/>
                  <a:pt x="637" y="10601"/>
                </a:cubicBezTo>
                <a:cubicBezTo>
                  <a:pt x="666" y="10559"/>
                  <a:pt x="666" y="10533"/>
                  <a:pt x="679" y="10490"/>
                </a:cubicBezTo>
                <a:cubicBezTo>
                  <a:pt x="679" y="10464"/>
                  <a:pt x="679" y="10438"/>
                  <a:pt x="692" y="10409"/>
                </a:cubicBezTo>
                <a:cubicBezTo>
                  <a:pt x="748" y="10177"/>
                  <a:pt x="843" y="9961"/>
                  <a:pt x="950" y="9756"/>
                </a:cubicBezTo>
                <a:cubicBezTo>
                  <a:pt x="1243" y="9354"/>
                  <a:pt x="1734" y="9092"/>
                  <a:pt x="2254" y="9092"/>
                </a:cubicBezTo>
                <a:cubicBezTo>
                  <a:pt x="2313" y="9092"/>
                  <a:pt x="2373" y="9095"/>
                  <a:pt x="2433" y="9102"/>
                </a:cubicBezTo>
                <a:cubicBezTo>
                  <a:pt x="2442" y="9103"/>
                  <a:pt x="2451" y="9104"/>
                  <a:pt x="2460" y="9104"/>
                </a:cubicBezTo>
                <a:cubicBezTo>
                  <a:pt x="2612" y="9104"/>
                  <a:pt x="2747" y="8999"/>
                  <a:pt x="2760" y="8844"/>
                </a:cubicBezTo>
                <a:cubicBezTo>
                  <a:pt x="2789" y="8681"/>
                  <a:pt x="2665" y="8544"/>
                  <a:pt x="2515" y="8518"/>
                </a:cubicBezTo>
                <a:cubicBezTo>
                  <a:pt x="2434" y="8510"/>
                  <a:pt x="2355" y="8507"/>
                  <a:pt x="2276" y="8507"/>
                </a:cubicBezTo>
                <a:cubicBezTo>
                  <a:pt x="1944" y="8507"/>
                  <a:pt x="1631" y="8573"/>
                  <a:pt x="1346" y="8694"/>
                </a:cubicBezTo>
                <a:cubicBezTo>
                  <a:pt x="624" y="7607"/>
                  <a:pt x="761" y="6124"/>
                  <a:pt x="1698" y="5183"/>
                </a:cubicBezTo>
                <a:cubicBezTo>
                  <a:pt x="1960" y="4925"/>
                  <a:pt x="2270" y="4723"/>
                  <a:pt x="2596" y="4586"/>
                </a:cubicBezTo>
                <a:cubicBezTo>
                  <a:pt x="2720" y="4968"/>
                  <a:pt x="2952" y="5321"/>
                  <a:pt x="3266" y="5592"/>
                </a:cubicBezTo>
                <a:cubicBezTo>
                  <a:pt x="3318" y="5634"/>
                  <a:pt x="3387" y="5660"/>
                  <a:pt x="3455" y="5660"/>
                </a:cubicBezTo>
                <a:cubicBezTo>
                  <a:pt x="3537" y="5660"/>
                  <a:pt x="3619" y="5621"/>
                  <a:pt x="3674" y="5553"/>
                </a:cubicBezTo>
                <a:cubicBezTo>
                  <a:pt x="3782" y="5428"/>
                  <a:pt x="3769" y="5252"/>
                  <a:pt x="3645" y="5144"/>
                </a:cubicBezTo>
                <a:cubicBezTo>
                  <a:pt x="3155" y="4723"/>
                  <a:pt x="2992" y="4070"/>
                  <a:pt x="3168" y="3482"/>
                </a:cubicBezTo>
                <a:cubicBezTo>
                  <a:pt x="3210" y="3335"/>
                  <a:pt x="3279" y="3198"/>
                  <a:pt x="3374" y="3061"/>
                </a:cubicBezTo>
                <a:cubicBezTo>
                  <a:pt x="3400" y="3008"/>
                  <a:pt x="3442" y="2953"/>
                  <a:pt x="3481" y="2910"/>
                </a:cubicBezTo>
                <a:cubicBezTo>
                  <a:pt x="3494" y="2884"/>
                  <a:pt x="3511" y="2871"/>
                  <a:pt x="3524" y="2858"/>
                </a:cubicBezTo>
                <a:cubicBezTo>
                  <a:pt x="3550" y="2816"/>
                  <a:pt x="3592" y="2777"/>
                  <a:pt x="3619" y="2734"/>
                </a:cubicBezTo>
                <a:cubicBezTo>
                  <a:pt x="3988" y="2376"/>
                  <a:pt x="4475" y="2189"/>
                  <a:pt x="4968" y="2189"/>
                </a:cubicBezTo>
                <a:cubicBezTo>
                  <a:pt x="5220" y="2189"/>
                  <a:pt x="5475" y="2238"/>
                  <a:pt x="5715" y="2339"/>
                </a:cubicBezTo>
                <a:lnTo>
                  <a:pt x="5715" y="3253"/>
                </a:lnTo>
                <a:cubicBezTo>
                  <a:pt x="5715" y="3417"/>
                  <a:pt x="5849" y="3551"/>
                  <a:pt x="6012" y="3551"/>
                </a:cubicBezTo>
                <a:cubicBezTo>
                  <a:pt x="6176" y="3551"/>
                  <a:pt x="6300" y="3417"/>
                  <a:pt x="6300" y="3253"/>
                </a:cubicBezTo>
                <a:lnTo>
                  <a:pt x="6300" y="2163"/>
                </a:lnTo>
                <a:lnTo>
                  <a:pt x="6300" y="1865"/>
                </a:lnTo>
                <a:lnTo>
                  <a:pt x="6300" y="1647"/>
                </a:lnTo>
                <a:cubicBezTo>
                  <a:pt x="6300" y="1062"/>
                  <a:pt x="6777" y="585"/>
                  <a:pt x="7361" y="585"/>
                </a:cubicBezTo>
                <a:close/>
                <a:moveTo>
                  <a:pt x="7361" y="1"/>
                </a:moveTo>
                <a:cubicBezTo>
                  <a:pt x="6463" y="1"/>
                  <a:pt x="5715" y="735"/>
                  <a:pt x="5715" y="1647"/>
                </a:cubicBezTo>
                <a:lnTo>
                  <a:pt x="5715" y="1715"/>
                </a:lnTo>
                <a:cubicBezTo>
                  <a:pt x="5469" y="1638"/>
                  <a:pt x="5215" y="1600"/>
                  <a:pt x="4962" y="1600"/>
                </a:cubicBezTo>
                <a:cubicBezTo>
                  <a:pt x="4317" y="1600"/>
                  <a:pt x="3679" y="1847"/>
                  <a:pt x="3210" y="2326"/>
                </a:cubicBezTo>
                <a:cubicBezTo>
                  <a:pt x="3086" y="2450"/>
                  <a:pt x="2978" y="2571"/>
                  <a:pt x="2897" y="2708"/>
                </a:cubicBezTo>
                <a:cubicBezTo>
                  <a:pt x="2747" y="2910"/>
                  <a:pt x="2652" y="3142"/>
                  <a:pt x="2583" y="3374"/>
                </a:cubicBezTo>
                <a:cubicBezTo>
                  <a:pt x="2531" y="3580"/>
                  <a:pt x="2489" y="3782"/>
                  <a:pt x="2489" y="3988"/>
                </a:cubicBezTo>
                <a:cubicBezTo>
                  <a:pt x="2041" y="4165"/>
                  <a:pt x="1633" y="4423"/>
                  <a:pt x="1290" y="4762"/>
                </a:cubicBezTo>
                <a:cubicBezTo>
                  <a:pt x="705" y="5334"/>
                  <a:pt x="366" y="6111"/>
                  <a:pt x="310" y="6911"/>
                </a:cubicBezTo>
                <a:cubicBezTo>
                  <a:pt x="258" y="7633"/>
                  <a:pt x="434" y="8342"/>
                  <a:pt x="816" y="8952"/>
                </a:cubicBezTo>
                <a:cubicBezTo>
                  <a:pt x="679" y="9116"/>
                  <a:pt x="555" y="9279"/>
                  <a:pt x="447" y="9458"/>
                </a:cubicBezTo>
                <a:cubicBezTo>
                  <a:pt x="297" y="9687"/>
                  <a:pt x="176" y="9961"/>
                  <a:pt x="121" y="10259"/>
                </a:cubicBezTo>
                <a:cubicBezTo>
                  <a:pt x="39" y="10546"/>
                  <a:pt x="0" y="10846"/>
                  <a:pt x="0" y="11157"/>
                </a:cubicBezTo>
                <a:cubicBezTo>
                  <a:pt x="0" y="12084"/>
                  <a:pt x="379" y="12953"/>
                  <a:pt x="1032" y="13593"/>
                </a:cubicBezTo>
                <a:cubicBezTo>
                  <a:pt x="898" y="13851"/>
                  <a:pt x="816" y="14151"/>
                  <a:pt x="787" y="14465"/>
                </a:cubicBezTo>
                <a:cubicBezTo>
                  <a:pt x="774" y="14628"/>
                  <a:pt x="761" y="14791"/>
                  <a:pt x="761" y="14955"/>
                </a:cubicBezTo>
                <a:cubicBezTo>
                  <a:pt x="761" y="16369"/>
                  <a:pt x="1617" y="17607"/>
                  <a:pt x="2923" y="18113"/>
                </a:cubicBezTo>
                <a:cubicBezTo>
                  <a:pt x="2965" y="19390"/>
                  <a:pt x="3971" y="20438"/>
                  <a:pt x="5238" y="20520"/>
                </a:cubicBezTo>
                <a:cubicBezTo>
                  <a:pt x="5251" y="20520"/>
                  <a:pt x="5278" y="20520"/>
                  <a:pt x="5291" y="20533"/>
                </a:cubicBezTo>
                <a:cubicBezTo>
                  <a:pt x="5372" y="20533"/>
                  <a:pt x="5454" y="20546"/>
                  <a:pt x="5536" y="20546"/>
                </a:cubicBezTo>
                <a:cubicBezTo>
                  <a:pt x="5591" y="20546"/>
                  <a:pt x="5660" y="20546"/>
                  <a:pt x="5715" y="20533"/>
                </a:cubicBezTo>
                <a:lnTo>
                  <a:pt x="5715" y="20791"/>
                </a:lnTo>
                <a:cubicBezTo>
                  <a:pt x="5715" y="21705"/>
                  <a:pt x="6463" y="22440"/>
                  <a:pt x="7361" y="22440"/>
                </a:cubicBezTo>
                <a:cubicBezTo>
                  <a:pt x="8272" y="22440"/>
                  <a:pt x="9020" y="21705"/>
                  <a:pt x="9020" y="20791"/>
                </a:cubicBezTo>
                <a:lnTo>
                  <a:pt x="9020" y="14968"/>
                </a:lnTo>
                <a:cubicBezTo>
                  <a:pt x="9020" y="14955"/>
                  <a:pt x="9007" y="14955"/>
                  <a:pt x="9007" y="14942"/>
                </a:cubicBezTo>
                <a:cubicBezTo>
                  <a:pt x="9144" y="14697"/>
                  <a:pt x="9210" y="14422"/>
                  <a:pt x="9210" y="14138"/>
                </a:cubicBezTo>
                <a:cubicBezTo>
                  <a:pt x="9210" y="13498"/>
                  <a:pt x="8857" y="12927"/>
                  <a:pt x="8328" y="12626"/>
                </a:cubicBezTo>
                <a:cubicBezTo>
                  <a:pt x="8749" y="12300"/>
                  <a:pt x="9020" y="11797"/>
                  <a:pt x="9020" y="11238"/>
                </a:cubicBezTo>
                <a:lnTo>
                  <a:pt x="9020" y="1647"/>
                </a:lnTo>
                <a:cubicBezTo>
                  <a:pt x="9020" y="735"/>
                  <a:pt x="8272" y="1"/>
                  <a:pt x="736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0"/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2800" dirty="0"/>
              <a:t>Neuronavigazione</a:t>
            </a:r>
            <a:endParaRPr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708FD4A3-FAA0-1B63-2672-7D5D7493621E}"/>
              </a:ext>
            </a:extLst>
          </p:cNvPr>
          <p:cNvGrpSpPr/>
          <p:nvPr/>
        </p:nvGrpSpPr>
        <p:grpSpPr>
          <a:xfrm>
            <a:off x="595125" y="2315148"/>
            <a:ext cx="7953750" cy="2208112"/>
            <a:chOff x="641575" y="1909512"/>
            <a:chExt cx="7953750" cy="2208112"/>
          </a:xfrm>
        </p:grpSpPr>
        <p:grpSp>
          <p:nvGrpSpPr>
            <p:cNvPr id="536" name="Google Shape;536;p30"/>
            <p:cNvGrpSpPr/>
            <p:nvPr/>
          </p:nvGrpSpPr>
          <p:grpSpPr>
            <a:xfrm>
              <a:off x="1080499" y="2774875"/>
              <a:ext cx="6993704" cy="1342749"/>
              <a:chOff x="1080499" y="2698675"/>
              <a:chExt cx="6993704" cy="1342749"/>
            </a:xfrm>
          </p:grpSpPr>
          <p:grpSp>
            <p:nvGrpSpPr>
              <p:cNvPr id="537" name="Google Shape;537;p30"/>
              <p:cNvGrpSpPr/>
              <p:nvPr/>
            </p:nvGrpSpPr>
            <p:grpSpPr>
              <a:xfrm>
                <a:off x="1080499" y="3202374"/>
                <a:ext cx="6993704" cy="839050"/>
                <a:chOff x="1080499" y="3202374"/>
                <a:chExt cx="6993704" cy="839050"/>
              </a:xfrm>
            </p:grpSpPr>
            <p:sp>
              <p:nvSpPr>
                <p:cNvPr id="538" name="Google Shape;538;p30"/>
                <p:cNvSpPr/>
                <p:nvPr/>
              </p:nvSpPr>
              <p:spPr>
                <a:xfrm>
                  <a:off x="1080499" y="3202374"/>
                  <a:ext cx="970967" cy="83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7" h="14947" extrusionOk="0">
                      <a:moveTo>
                        <a:pt x="10412" y="0"/>
                      </a:moveTo>
                      <a:cubicBezTo>
                        <a:pt x="9523" y="0"/>
                        <a:pt x="8727" y="233"/>
                        <a:pt x="8192" y="633"/>
                      </a:cubicBezTo>
                      <a:cubicBezTo>
                        <a:pt x="7863" y="454"/>
                        <a:pt x="7486" y="355"/>
                        <a:pt x="7094" y="355"/>
                      </a:cubicBezTo>
                      <a:cubicBezTo>
                        <a:pt x="6855" y="355"/>
                        <a:pt x="6611" y="392"/>
                        <a:pt x="6369" y="469"/>
                      </a:cubicBezTo>
                      <a:cubicBezTo>
                        <a:pt x="5866" y="633"/>
                        <a:pt x="5458" y="943"/>
                        <a:pt x="5184" y="1351"/>
                      </a:cubicBezTo>
                      <a:cubicBezTo>
                        <a:pt x="5017" y="1316"/>
                        <a:pt x="4843" y="1299"/>
                        <a:pt x="4665" y="1299"/>
                      </a:cubicBezTo>
                      <a:cubicBezTo>
                        <a:pt x="4005" y="1299"/>
                        <a:pt x="3292" y="1540"/>
                        <a:pt x="2682" y="2034"/>
                      </a:cubicBezTo>
                      <a:cubicBezTo>
                        <a:pt x="1960" y="2605"/>
                        <a:pt x="1539" y="3392"/>
                        <a:pt x="1458" y="4156"/>
                      </a:cubicBezTo>
                      <a:cubicBezTo>
                        <a:pt x="736" y="4346"/>
                        <a:pt x="164" y="4944"/>
                        <a:pt x="53" y="5721"/>
                      </a:cubicBezTo>
                      <a:cubicBezTo>
                        <a:pt x="1" y="6237"/>
                        <a:pt x="151" y="6727"/>
                        <a:pt x="448" y="7096"/>
                      </a:cubicBezTo>
                      <a:cubicBezTo>
                        <a:pt x="259" y="7693"/>
                        <a:pt x="259" y="8347"/>
                        <a:pt x="517" y="8944"/>
                      </a:cubicBezTo>
                      <a:cubicBezTo>
                        <a:pt x="955" y="9974"/>
                        <a:pt x="1994" y="10584"/>
                        <a:pt x="3113" y="10584"/>
                      </a:cubicBezTo>
                      <a:cubicBezTo>
                        <a:pt x="3520" y="10584"/>
                        <a:pt x="3938" y="10503"/>
                        <a:pt x="4341" y="10332"/>
                      </a:cubicBezTo>
                      <a:cubicBezTo>
                        <a:pt x="4449" y="10280"/>
                        <a:pt x="4573" y="10224"/>
                        <a:pt x="4681" y="10156"/>
                      </a:cubicBezTo>
                      <a:cubicBezTo>
                        <a:pt x="4694" y="10224"/>
                        <a:pt x="4723" y="10293"/>
                        <a:pt x="4749" y="10348"/>
                      </a:cubicBezTo>
                      <a:cubicBezTo>
                        <a:pt x="5188" y="11377"/>
                        <a:pt x="6228" y="11986"/>
                        <a:pt x="7343" y="11986"/>
                      </a:cubicBezTo>
                      <a:cubicBezTo>
                        <a:pt x="7747" y="11986"/>
                        <a:pt x="8162" y="11906"/>
                        <a:pt x="8561" y="11736"/>
                      </a:cubicBezTo>
                      <a:cubicBezTo>
                        <a:pt x="8613" y="11707"/>
                        <a:pt x="8668" y="11681"/>
                        <a:pt x="8724" y="11668"/>
                      </a:cubicBezTo>
                      <a:cubicBezTo>
                        <a:pt x="9023" y="11995"/>
                        <a:pt x="9467" y="12178"/>
                        <a:pt x="9934" y="12178"/>
                      </a:cubicBezTo>
                      <a:cubicBezTo>
                        <a:pt x="10105" y="12178"/>
                        <a:pt x="10280" y="12153"/>
                        <a:pt x="10452" y="12102"/>
                      </a:cubicBezTo>
                      <a:cubicBezTo>
                        <a:pt x="10520" y="12347"/>
                        <a:pt x="10628" y="12592"/>
                        <a:pt x="10749" y="12837"/>
                      </a:cubicBezTo>
                      <a:cubicBezTo>
                        <a:pt x="11389" y="14049"/>
                        <a:pt x="12493" y="14810"/>
                        <a:pt x="13606" y="14947"/>
                      </a:cubicBezTo>
                      <a:lnTo>
                        <a:pt x="14113" y="14496"/>
                      </a:lnTo>
                      <a:cubicBezTo>
                        <a:pt x="14096" y="14483"/>
                        <a:pt x="14096" y="14483"/>
                        <a:pt x="14083" y="14470"/>
                      </a:cubicBezTo>
                      <a:cubicBezTo>
                        <a:pt x="13077" y="14156"/>
                        <a:pt x="12329" y="13219"/>
                        <a:pt x="12329" y="12089"/>
                      </a:cubicBezTo>
                      <a:lnTo>
                        <a:pt x="12329" y="11994"/>
                      </a:lnTo>
                      <a:cubicBezTo>
                        <a:pt x="12768" y="12248"/>
                        <a:pt x="13281" y="12388"/>
                        <a:pt x="13814" y="12388"/>
                      </a:cubicBezTo>
                      <a:cubicBezTo>
                        <a:pt x="14223" y="12388"/>
                        <a:pt x="14643" y="12305"/>
                        <a:pt x="15050" y="12128"/>
                      </a:cubicBezTo>
                      <a:cubicBezTo>
                        <a:pt x="16562" y="11491"/>
                        <a:pt x="17297" y="9829"/>
                        <a:pt x="16696" y="8428"/>
                      </a:cubicBezTo>
                      <a:cubicBezTo>
                        <a:pt x="16601" y="8196"/>
                        <a:pt x="16464" y="7981"/>
                        <a:pt x="16317" y="7788"/>
                      </a:cubicBezTo>
                      <a:cubicBezTo>
                        <a:pt x="16983" y="7096"/>
                        <a:pt x="17173" y="5897"/>
                        <a:pt x="16709" y="4797"/>
                      </a:cubicBezTo>
                      <a:cubicBezTo>
                        <a:pt x="16288" y="3801"/>
                        <a:pt x="15432" y="3134"/>
                        <a:pt x="14560" y="3027"/>
                      </a:cubicBezTo>
                      <a:cubicBezTo>
                        <a:pt x="14736" y="1789"/>
                        <a:pt x="13391" y="509"/>
                        <a:pt x="11500" y="113"/>
                      </a:cubicBezTo>
                      <a:cubicBezTo>
                        <a:pt x="11130" y="37"/>
                        <a:pt x="10763" y="0"/>
                        <a:pt x="1041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9" name="Google Shape;539;p30"/>
                <p:cNvSpPr/>
                <p:nvPr/>
              </p:nvSpPr>
              <p:spPr>
                <a:xfrm>
                  <a:off x="7103236" y="3202374"/>
                  <a:ext cx="970967" cy="83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7" h="14947" extrusionOk="0">
                      <a:moveTo>
                        <a:pt x="10412" y="0"/>
                      </a:moveTo>
                      <a:cubicBezTo>
                        <a:pt x="9523" y="0"/>
                        <a:pt x="8727" y="233"/>
                        <a:pt x="8192" y="633"/>
                      </a:cubicBezTo>
                      <a:cubicBezTo>
                        <a:pt x="7863" y="454"/>
                        <a:pt x="7486" y="355"/>
                        <a:pt x="7094" y="355"/>
                      </a:cubicBezTo>
                      <a:cubicBezTo>
                        <a:pt x="6855" y="355"/>
                        <a:pt x="6611" y="392"/>
                        <a:pt x="6369" y="469"/>
                      </a:cubicBezTo>
                      <a:cubicBezTo>
                        <a:pt x="5866" y="633"/>
                        <a:pt x="5458" y="943"/>
                        <a:pt x="5184" y="1351"/>
                      </a:cubicBezTo>
                      <a:cubicBezTo>
                        <a:pt x="5017" y="1316"/>
                        <a:pt x="4843" y="1299"/>
                        <a:pt x="4665" y="1299"/>
                      </a:cubicBezTo>
                      <a:cubicBezTo>
                        <a:pt x="4005" y="1299"/>
                        <a:pt x="3292" y="1540"/>
                        <a:pt x="2682" y="2034"/>
                      </a:cubicBezTo>
                      <a:cubicBezTo>
                        <a:pt x="1960" y="2605"/>
                        <a:pt x="1539" y="3392"/>
                        <a:pt x="1458" y="4156"/>
                      </a:cubicBezTo>
                      <a:cubicBezTo>
                        <a:pt x="736" y="4346"/>
                        <a:pt x="164" y="4944"/>
                        <a:pt x="53" y="5721"/>
                      </a:cubicBezTo>
                      <a:cubicBezTo>
                        <a:pt x="1" y="6237"/>
                        <a:pt x="151" y="6727"/>
                        <a:pt x="448" y="7096"/>
                      </a:cubicBezTo>
                      <a:cubicBezTo>
                        <a:pt x="259" y="7693"/>
                        <a:pt x="259" y="8347"/>
                        <a:pt x="517" y="8944"/>
                      </a:cubicBezTo>
                      <a:cubicBezTo>
                        <a:pt x="955" y="9974"/>
                        <a:pt x="1994" y="10584"/>
                        <a:pt x="3113" y="10584"/>
                      </a:cubicBezTo>
                      <a:cubicBezTo>
                        <a:pt x="3520" y="10584"/>
                        <a:pt x="3938" y="10503"/>
                        <a:pt x="4341" y="10332"/>
                      </a:cubicBezTo>
                      <a:cubicBezTo>
                        <a:pt x="4449" y="10280"/>
                        <a:pt x="4573" y="10224"/>
                        <a:pt x="4681" y="10156"/>
                      </a:cubicBezTo>
                      <a:cubicBezTo>
                        <a:pt x="4694" y="10224"/>
                        <a:pt x="4723" y="10293"/>
                        <a:pt x="4749" y="10348"/>
                      </a:cubicBezTo>
                      <a:cubicBezTo>
                        <a:pt x="5188" y="11377"/>
                        <a:pt x="6228" y="11986"/>
                        <a:pt x="7343" y="11986"/>
                      </a:cubicBezTo>
                      <a:cubicBezTo>
                        <a:pt x="7747" y="11986"/>
                        <a:pt x="8162" y="11906"/>
                        <a:pt x="8561" y="11736"/>
                      </a:cubicBezTo>
                      <a:cubicBezTo>
                        <a:pt x="8613" y="11707"/>
                        <a:pt x="8668" y="11681"/>
                        <a:pt x="8724" y="11668"/>
                      </a:cubicBezTo>
                      <a:cubicBezTo>
                        <a:pt x="9023" y="11995"/>
                        <a:pt x="9467" y="12178"/>
                        <a:pt x="9934" y="12178"/>
                      </a:cubicBezTo>
                      <a:cubicBezTo>
                        <a:pt x="10105" y="12178"/>
                        <a:pt x="10280" y="12153"/>
                        <a:pt x="10452" y="12102"/>
                      </a:cubicBezTo>
                      <a:cubicBezTo>
                        <a:pt x="10520" y="12347"/>
                        <a:pt x="10628" y="12592"/>
                        <a:pt x="10749" y="12837"/>
                      </a:cubicBezTo>
                      <a:cubicBezTo>
                        <a:pt x="11389" y="14049"/>
                        <a:pt x="12493" y="14810"/>
                        <a:pt x="13606" y="14947"/>
                      </a:cubicBezTo>
                      <a:lnTo>
                        <a:pt x="14113" y="14496"/>
                      </a:lnTo>
                      <a:cubicBezTo>
                        <a:pt x="14096" y="14483"/>
                        <a:pt x="14096" y="14483"/>
                        <a:pt x="14083" y="14470"/>
                      </a:cubicBezTo>
                      <a:cubicBezTo>
                        <a:pt x="13077" y="14156"/>
                        <a:pt x="12329" y="13219"/>
                        <a:pt x="12329" y="12089"/>
                      </a:cubicBezTo>
                      <a:lnTo>
                        <a:pt x="12329" y="11994"/>
                      </a:lnTo>
                      <a:cubicBezTo>
                        <a:pt x="12768" y="12248"/>
                        <a:pt x="13281" y="12388"/>
                        <a:pt x="13814" y="12388"/>
                      </a:cubicBezTo>
                      <a:cubicBezTo>
                        <a:pt x="14223" y="12388"/>
                        <a:pt x="14643" y="12305"/>
                        <a:pt x="15050" y="12128"/>
                      </a:cubicBezTo>
                      <a:cubicBezTo>
                        <a:pt x="16562" y="11491"/>
                        <a:pt x="17297" y="9829"/>
                        <a:pt x="16696" y="8428"/>
                      </a:cubicBezTo>
                      <a:cubicBezTo>
                        <a:pt x="16601" y="8196"/>
                        <a:pt x="16464" y="7981"/>
                        <a:pt x="16317" y="7788"/>
                      </a:cubicBezTo>
                      <a:cubicBezTo>
                        <a:pt x="16983" y="7096"/>
                        <a:pt x="17173" y="5897"/>
                        <a:pt x="16709" y="4797"/>
                      </a:cubicBezTo>
                      <a:cubicBezTo>
                        <a:pt x="16288" y="3801"/>
                        <a:pt x="15432" y="3134"/>
                        <a:pt x="14560" y="3027"/>
                      </a:cubicBezTo>
                      <a:cubicBezTo>
                        <a:pt x="14736" y="1789"/>
                        <a:pt x="13391" y="509"/>
                        <a:pt x="11500" y="113"/>
                      </a:cubicBezTo>
                      <a:cubicBezTo>
                        <a:pt x="11130" y="37"/>
                        <a:pt x="10763" y="0"/>
                        <a:pt x="1041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0" name="Google Shape;540;p30"/>
                <p:cNvSpPr/>
                <p:nvPr/>
              </p:nvSpPr>
              <p:spPr>
                <a:xfrm>
                  <a:off x="5095663" y="3202374"/>
                  <a:ext cx="970967" cy="83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7" h="14947" extrusionOk="0">
                      <a:moveTo>
                        <a:pt x="10412" y="0"/>
                      </a:moveTo>
                      <a:cubicBezTo>
                        <a:pt x="9523" y="0"/>
                        <a:pt x="8727" y="233"/>
                        <a:pt x="8192" y="633"/>
                      </a:cubicBezTo>
                      <a:cubicBezTo>
                        <a:pt x="7863" y="454"/>
                        <a:pt x="7486" y="355"/>
                        <a:pt x="7094" y="355"/>
                      </a:cubicBezTo>
                      <a:cubicBezTo>
                        <a:pt x="6855" y="355"/>
                        <a:pt x="6611" y="392"/>
                        <a:pt x="6369" y="469"/>
                      </a:cubicBezTo>
                      <a:cubicBezTo>
                        <a:pt x="5866" y="633"/>
                        <a:pt x="5458" y="943"/>
                        <a:pt x="5184" y="1351"/>
                      </a:cubicBezTo>
                      <a:cubicBezTo>
                        <a:pt x="5017" y="1316"/>
                        <a:pt x="4843" y="1299"/>
                        <a:pt x="4665" y="1299"/>
                      </a:cubicBezTo>
                      <a:cubicBezTo>
                        <a:pt x="4005" y="1299"/>
                        <a:pt x="3292" y="1540"/>
                        <a:pt x="2682" y="2034"/>
                      </a:cubicBezTo>
                      <a:cubicBezTo>
                        <a:pt x="1960" y="2605"/>
                        <a:pt x="1539" y="3392"/>
                        <a:pt x="1458" y="4156"/>
                      </a:cubicBezTo>
                      <a:cubicBezTo>
                        <a:pt x="736" y="4346"/>
                        <a:pt x="164" y="4944"/>
                        <a:pt x="53" y="5721"/>
                      </a:cubicBezTo>
                      <a:cubicBezTo>
                        <a:pt x="1" y="6237"/>
                        <a:pt x="151" y="6727"/>
                        <a:pt x="448" y="7096"/>
                      </a:cubicBezTo>
                      <a:cubicBezTo>
                        <a:pt x="259" y="7693"/>
                        <a:pt x="259" y="8347"/>
                        <a:pt x="517" y="8944"/>
                      </a:cubicBezTo>
                      <a:cubicBezTo>
                        <a:pt x="955" y="9974"/>
                        <a:pt x="1994" y="10584"/>
                        <a:pt x="3113" y="10584"/>
                      </a:cubicBezTo>
                      <a:cubicBezTo>
                        <a:pt x="3520" y="10584"/>
                        <a:pt x="3938" y="10503"/>
                        <a:pt x="4341" y="10332"/>
                      </a:cubicBezTo>
                      <a:cubicBezTo>
                        <a:pt x="4449" y="10280"/>
                        <a:pt x="4573" y="10224"/>
                        <a:pt x="4681" y="10156"/>
                      </a:cubicBezTo>
                      <a:cubicBezTo>
                        <a:pt x="4694" y="10224"/>
                        <a:pt x="4723" y="10293"/>
                        <a:pt x="4749" y="10348"/>
                      </a:cubicBezTo>
                      <a:cubicBezTo>
                        <a:pt x="5188" y="11377"/>
                        <a:pt x="6228" y="11986"/>
                        <a:pt x="7343" y="11986"/>
                      </a:cubicBezTo>
                      <a:cubicBezTo>
                        <a:pt x="7747" y="11986"/>
                        <a:pt x="8162" y="11906"/>
                        <a:pt x="8561" y="11736"/>
                      </a:cubicBezTo>
                      <a:cubicBezTo>
                        <a:pt x="8613" y="11707"/>
                        <a:pt x="8668" y="11681"/>
                        <a:pt x="8724" y="11668"/>
                      </a:cubicBezTo>
                      <a:cubicBezTo>
                        <a:pt x="9023" y="11995"/>
                        <a:pt x="9467" y="12178"/>
                        <a:pt x="9934" y="12178"/>
                      </a:cubicBezTo>
                      <a:cubicBezTo>
                        <a:pt x="10105" y="12178"/>
                        <a:pt x="10280" y="12153"/>
                        <a:pt x="10452" y="12102"/>
                      </a:cubicBezTo>
                      <a:cubicBezTo>
                        <a:pt x="10520" y="12347"/>
                        <a:pt x="10628" y="12592"/>
                        <a:pt x="10749" y="12837"/>
                      </a:cubicBezTo>
                      <a:cubicBezTo>
                        <a:pt x="11389" y="14049"/>
                        <a:pt x="12493" y="14810"/>
                        <a:pt x="13606" y="14947"/>
                      </a:cubicBezTo>
                      <a:lnTo>
                        <a:pt x="14113" y="14496"/>
                      </a:lnTo>
                      <a:cubicBezTo>
                        <a:pt x="14096" y="14483"/>
                        <a:pt x="14096" y="14483"/>
                        <a:pt x="14083" y="14470"/>
                      </a:cubicBezTo>
                      <a:cubicBezTo>
                        <a:pt x="13077" y="14156"/>
                        <a:pt x="12329" y="13219"/>
                        <a:pt x="12329" y="12089"/>
                      </a:cubicBezTo>
                      <a:lnTo>
                        <a:pt x="12329" y="11994"/>
                      </a:lnTo>
                      <a:cubicBezTo>
                        <a:pt x="12768" y="12248"/>
                        <a:pt x="13281" y="12388"/>
                        <a:pt x="13814" y="12388"/>
                      </a:cubicBezTo>
                      <a:cubicBezTo>
                        <a:pt x="14223" y="12388"/>
                        <a:pt x="14643" y="12305"/>
                        <a:pt x="15050" y="12128"/>
                      </a:cubicBezTo>
                      <a:cubicBezTo>
                        <a:pt x="16562" y="11491"/>
                        <a:pt x="17297" y="9829"/>
                        <a:pt x="16696" y="8428"/>
                      </a:cubicBezTo>
                      <a:cubicBezTo>
                        <a:pt x="16601" y="8196"/>
                        <a:pt x="16464" y="7981"/>
                        <a:pt x="16317" y="7788"/>
                      </a:cubicBezTo>
                      <a:cubicBezTo>
                        <a:pt x="16983" y="7096"/>
                        <a:pt x="17173" y="5897"/>
                        <a:pt x="16709" y="4797"/>
                      </a:cubicBezTo>
                      <a:cubicBezTo>
                        <a:pt x="16288" y="3801"/>
                        <a:pt x="15432" y="3134"/>
                        <a:pt x="14560" y="3027"/>
                      </a:cubicBezTo>
                      <a:cubicBezTo>
                        <a:pt x="14736" y="1789"/>
                        <a:pt x="13391" y="509"/>
                        <a:pt x="11500" y="113"/>
                      </a:cubicBezTo>
                      <a:cubicBezTo>
                        <a:pt x="11130" y="37"/>
                        <a:pt x="10763" y="0"/>
                        <a:pt x="1041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1" name="Google Shape;541;p30"/>
                <p:cNvSpPr/>
                <p:nvPr/>
              </p:nvSpPr>
              <p:spPr>
                <a:xfrm>
                  <a:off x="3088101" y="3202374"/>
                  <a:ext cx="970967" cy="83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7" h="14947" extrusionOk="0">
                      <a:moveTo>
                        <a:pt x="10412" y="0"/>
                      </a:moveTo>
                      <a:cubicBezTo>
                        <a:pt x="9523" y="0"/>
                        <a:pt x="8727" y="233"/>
                        <a:pt x="8192" y="633"/>
                      </a:cubicBezTo>
                      <a:cubicBezTo>
                        <a:pt x="7863" y="454"/>
                        <a:pt x="7486" y="355"/>
                        <a:pt x="7094" y="355"/>
                      </a:cubicBezTo>
                      <a:cubicBezTo>
                        <a:pt x="6855" y="355"/>
                        <a:pt x="6611" y="392"/>
                        <a:pt x="6369" y="469"/>
                      </a:cubicBezTo>
                      <a:cubicBezTo>
                        <a:pt x="5866" y="633"/>
                        <a:pt x="5458" y="943"/>
                        <a:pt x="5184" y="1351"/>
                      </a:cubicBezTo>
                      <a:cubicBezTo>
                        <a:pt x="5017" y="1316"/>
                        <a:pt x="4843" y="1299"/>
                        <a:pt x="4665" y="1299"/>
                      </a:cubicBezTo>
                      <a:cubicBezTo>
                        <a:pt x="4005" y="1299"/>
                        <a:pt x="3292" y="1540"/>
                        <a:pt x="2682" y="2034"/>
                      </a:cubicBezTo>
                      <a:cubicBezTo>
                        <a:pt x="1960" y="2605"/>
                        <a:pt x="1539" y="3392"/>
                        <a:pt x="1458" y="4156"/>
                      </a:cubicBezTo>
                      <a:cubicBezTo>
                        <a:pt x="736" y="4346"/>
                        <a:pt x="164" y="4944"/>
                        <a:pt x="53" y="5721"/>
                      </a:cubicBezTo>
                      <a:cubicBezTo>
                        <a:pt x="1" y="6237"/>
                        <a:pt x="151" y="6727"/>
                        <a:pt x="448" y="7096"/>
                      </a:cubicBezTo>
                      <a:cubicBezTo>
                        <a:pt x="259" y="7693"/>
                        <a:pt x="259" y="8347"/>
                        <a:pt x="517" y="8944"/>
                      </a:cubicBezTo>
                      <a:cubicBezTo>
                        <a:pt x="955" y="9974"/>
                        <a:pt x="1994" y="10584"/>
                        <a:pt x="3113" y="10584"/>
                      </a:cubicBezTo>
                      <a:cubicBezTo>
                        <a:pt x="3520" y="10584"/>
                        <a:pt x="3938" y="10503"/>
                        <a:pt x="4341" y="10332"/>
                      </a:cubicBezTo>
                      <a:cubicBezTo>
                        <a:pt x="4449" y="10280"/>
                        <a:pt x="4573" y="10224"/>
                        <a:pt x="4681" y="10156"/>
                      </a:cubicBezTo>
                      <a:cubicBezTo>
                        <a:pt x="4694" y="10224"/>
                        <a:pt x="4723" y="10293"/>
                        <a:pt x="4749" y="10348"/>
                      </a:cubicBezTo>
                      <a:cubicBezTo>
                        <a:pt x="5188" y="11377"/>
                        <a:pt x="6228" y="11986"/>
                        <a:pt x="7343" y="11986"/>
                      </a:cubicBezTo>
                      <a:cubicBezTo>
                        <a:pt x="7747" y="11986"/>
                        <a:pt x="8162" y="11906"/>
                        <a:pt x="8561" y="11736"/>
                      </a:cubicBezTo>
                      <a:cubicBezTo>
                        <a:pt x="8613" y="11707"/>
                        <a:pt x="8668" y="11681"/>
                        <a:pt x="8724" y="11668"/>
                      </a:cubicBezTo>
                      <a:cubicBezTo>
                        <a:pt x="9023" y="11995"/>
                        <a:pt x="9467" y="12178"/>
                        <a:pt x="9934" y="12178"/>
                      </a:cubicBezTo>
                      <a:cubicBezTo>
                        <a:pt x="10105" y="12178"/>
                        <a:pt x="10280" y="12153"/>
                        <a:pt x="10452" y="12102"/>
                      </a:cubicBezTo>
                      <a:cubicBezTo>
                        <a:pt x="10520" y="12347"/>
                        <a:pt x="10628" y="12592"/>
                        <a:pt x="10749" y="12837"/>
                      </a:cubicBezTo>
                      <a:cubicBezTo>
                        <a:pt x="11389" y="14049"/>
                        <a:pt x="12493" y="14810"/>
                        <a:pt x="13606" y="14947"/>
                      </a:cubicBezTo>
                      <a:lnTo>
                        <a:pt x="14113" y="14496"/>
                      </a:lnTo>
                      <a:cubicBezTo>
                        <a:pt x="14096" y="14483"/>
                        <a:pt x="14096" y="14483"/>
                        <a:pt x="14083" y="14470"/>
                      </a:cubicBezTo>
                      <a:cubicBezTo>
                        <a:pt x="13077" y="14156"/>
                        <a:pt x="12329" y="13219"/>
                        <a:pt x="12329" y="12089"/>
                      </a:cubicBezTo>
                      <a:lnTo>
                        <a:pt x="12329" y="11994"/>
                      </a:lnTo>
                      <a:cubicBezTo>
                        <a:pt x="12768" y="12248"/>
                        <a:pt x="13281" y="12388"/>
                        <a:pt x="13814" y="12388"/>
                      </a:cubicBezTo>
                      <a:cubicBezTo>
                        <a:pt x="14223" y="12388"/>
                        <a:pt x="14643" y="12305"/>
                        <a:pt x="15050" y="12128"/>
                      </a:cubicBezTo>
                      <a:cubicBezTo>
                        <a:pt x="16562" y="11491"/>
                        <a:pt x="17297" y="9829"/>
                        <a:pt x="16696" y="8428"/>
                      </a:cubicBezTo>
                      <a:cubicBezTo>
                        <a:pt x="16601" y="8196"/>
                        <a:pt x="16464" y="7981"/>
                        <a:pt x="16317" y="7788"/>
                      </a:cubicBezTo>
                      <a:cubicBezTo>
                        <a:pt x="16983" y="7096"/>
                        <a:pt x="17173" y="5897"/>
                        <a:pt x="16709" y="4797"/>
                      </a:cubicBezTo>
                      <a:cubicBezTo>
                        <a:pt x="16288" y="3801"/>
                        <a:pt x="15432" y="3134"/>
                        <a:pt x="14560" y="3027"/>
                      </a:cubicBezTo>
                      <a:cubicBezTo>
                        <a:pt x="14736" y="1789"/>
                        <a:pt x="13391" y="509"/>
                        <a:pt x="11500" y="113"/>
                      </a:cubicBezTo>
                      <a:cubicBezTo>
                        <a:pt x="11130" y="37"/>
                        <a:pt x="10763" y="0"/>
                        <a:pt x="1041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cxnSp>
            <p:nvCxnSpPr>
              <p:cNvPr id="542" name="Google Shape;542;p30"/>
              <p:cNvCxnSpPr/>
              <p:nvPr/>
            </p:nvCxnSpPr>
            <p:spPr>
              <a:xfrm>
                <a:off x="1596625" y="2698675"/>
                <a:ext cx="10800" cy="503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lt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3" name="Google Shape;543;p30"/>
              <p:cNvCxnSpPr/>
              <p:nvPr/>
            </p:nvCxnSpPr>
            <p:spPr>
              <a:xfrm>
                <a:off x="3611175" y="2698675"/>
                <a:ext cx="10800" cy="503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4" name="Google Shape;544;p30"/>
              <p:cNvCxnSpPr/>
              <p:nvPr/>
            </p:nvCxnSpPr>
            <p:spPr>
              <a:xfrm>
                <a:off x="5625725" y="2698675"/>
                <a:ext cx="10800" cy="503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5" name="Google Shape;545;p30"/>
              <p:cNvCxnSpPr/>
              <p:nvPr/>
            </p:nvCxnSpPr>
            <p:spPr>
              <a:xfrm>
                <a:off x="7640275" y="2698675"/>
                <a:ext cx="10800" cy="503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1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46" name="Google Shape;546;p30"/>
            <p:cNvSpPr/>
            <p:nvPr/>
          </p:nvSpPr>
          <p:spPr>
            <a:xfrm>
              <a:off x="6674425" y="1909512"/>
              <a:ext cx="1920900" cy="50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0000" tIns="91425" rIns="274300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 dirty="0">
                  <a:latin typeface="Fira Sans"/>
                  <a:ea typeface="Fira Sans"/>
                  <a:cs typeface="Fira Sans"/>
                  <a:sym typeface="Fira Sans"/>
                </a:rPr>
                <a:t>Eliminare l’approccio empirico</a:t>
              </a:r>
              <a:endParaRPr sz="12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547" name="Google Shape;547;p30"/>
            <p:cNvSpPr/>
            <p:nvPr/>
          </p:nvSpPr>
          <p:spPr>
            <a:xfrm>
              <a:off x="4665275" y="1914694"/>
              <a:ext cx="1920900" cy="50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300" tIns="91425" rIns="274300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 dirty="0">
                  <a:latin typeface="Fira Sans"/>
                  <a:ea typeface="Fira Sans"/>
                  <a:cs typeface="Fira Sans"/>
                  <a:sym typeface="Fira Sans"/>
                </a:rPr>
                <a:t>Ottimizzare </a:t>
              </a:r>
              <a:r>
                <a:rPr lang="it-IT" sz="1200" dirty="0">
                  <a:latin typeface="Fira Sans"/>
                  <a:ea typeface="Fira Sans"/>
                  <a:cs typeface="Fira Sans"/>
                  <a:sym typeface="Fira Sans"/>
                </a:rPr>
                <a:t>i risultati</a:t>
              </a:r>
              <a:endParaRPr sz="12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2656125" y="1909512"/>
              <a:ext cx="1920900" cy="50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000" tIns="91425" rIns="274300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 dirty="0">
                  <a:latin typeface="Fira Sans"/>
                  <a:ea typeface="Fira Sans"/>
                  <a:cs typeface="Fira Sans"/>
                  <a:sym typeface="Fira Sans"/>
                </a:rPr>
                <a:t>Approccio mini invasivo: limitare </a:t>
              </a:r>
              <a:r>
                <a:rPr lang="it-IT" sz="1200" dirty="0">
                  <a:latin typeface="Fira Sans"/>
                  <a:ea typeface="Fira Sans"/>
                  <a:cs typeface="Fira Sans"/>
                  <a:sym typeface="Fira Sans"/>
                </a:rPr>
                <a:t>i</a:t>
              </a:r>
              <a:r>
                <a:rPr lang="en" sz="1200" dirty="0">
                  <a:latin typeface="Fira Sans"/>
                  <a:ea typeface="Fira Sans"/>
                  <a:cs typeface="Fira Sans"/>
                  <a:sym typeface="Fira Sans"/>
                </a:rPr>
                <a:t> danni</a:t>
              </a:r>
              <a:endParaRPr sz="12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549" name="Google Shape;549;p30"/>
            <p:cNvSpPr/>
            <p:nvPr/>
          </p:nvSpPr>
          <p:spPr>
            <a:xfrm>
              <a:off x="641575" y="1915281"/>
              <a:ext cx="1920900" cy="50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74300" tIns="91425" rIns="274300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 dirty="0">
                  <a:latin typeface="Fira Sans"/>
                  <a:ea typeface="Fira Sans"/>
                  <a:cs typeface="Fira Sans"/>
                  <a:sym typeface="Fira Sans"/>
                </a:rPr>
                <a:t>Localizzare strutture complesse</a:t>
              </a:r>
              <a:endParaRPr sz="12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cxnSp>
          <p:nvCxnSpPr>
            <p:cNvPr id="554" name="Google Shape;554;p30"/>
            <p:cNvCxnSpPr/>
            <p:nvPr/>
          </p:nvCxnSpPr>
          <p:spPr>
            <a:xfrm>
              <a:off x="937675" y="2571750"/>
              <a:ext cx="131790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5" name="Google Shape;555;p30"/>
            <p:cNvCxnSpPr/>
            <p:nvPr/>
          </p:nvCxnSpPr>
          <p:spPr>
            <a:xfrm>
              <a:off x="2957625" y="2571750"/>
              <a:ext cx="13179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6" name="Google Shape;556;p30"/>
            <p:cNvCxnSpPr/>
            <p:nvPr/>
          </p:nvCxnSpPr>
          <p:spPr>
            <a:xfrm>
              <a:off x="4966775" y="2571750"/>
              <a:ext cx="1317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7" name="Google Shape;557;p30"/>
            <p:cNvCxnSpPr/>
            <p:nvPr/>
          </p:nvCxnSpPr>
          <p:spPr>
            <a:xfrm>
              <a:off x="6986725" y="2560264"/>
              <a:ext cx="1317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" name="Google Shape;114;p17">
            <a:extLst>
              <a:ext uri="{FF2B5EF4-FFF2-40B4-BE49-F238E27FC236}">
                <a16:creationId xmlns:a16="http://schemas.microsoft.com/office/drawing/2014/main" id="{D14FA2F7-55EE-A7A7-970F-CDC443A37C2B}"/>
              </a:ext>
            </a:extLst>
          </p:cNvPr>
          <p:cNvSpPr txBox="1"/>
          <p:nvPr/>
        </p:nvSpPr>
        <p:spPr>
          <a:xfrm>
            <a:off x="595125" y="1164569"/>
            <a:ext cx="795375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Fira Sans"/>
                <a:ea typeface="Fira Sans"/>
                <a:cs typeface="Fira Sans"/>
                <a:sym typeface="Fira Sans"/>
              </a:rPr>
              <a:t>La neuronavigazione è una </a:t>
            </a:r>
            <a:r>
              <a:rPr lang="en" sz="1200" b="1" dirty="0">
                <a:latin typeface="Fira Sans"/>
                <a:ea typeface="Fira Sans"/>
                <a:cs typeface="Fira Sans"/>
                <a:sym typeface="Fira Sans"/>
              </a:rPr>
              <a:t>tecnologia di assistenza chirurgica </a:t>
            </a:r>
            <a:r>
              <a:rPr lang="en" sz="1200" dirty="0">
                <a:latin typeface="Fira Sans"/>
                <a:ea typeface="Fira Sans"/>
                <a:cs typeface="Fira Sans"/>
                <a:sym typeface="Fira Sans"/>
              </a:rPr>
              <a:t>che prevede l’utilizzo di un dispositivo di ausilio tecnologico, il neuronavigatore, che orienta il chirurgo consentendogli di sapere esattamente dove si trova rispetto alle strutture anatomiche:</a:t>
            </a: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 dirty="0"/>
              <a:t>P</a:t>
            </a:r>
            <a:r>
              <a:rPr lang="en" sz="2800" dirty="0"/>
              <a:t>rincipio della ‘Stereotassi’</a:t>
            </a:r>
            <a:endParaRPr sz="2800" dirty="0"/>
          </a:p>
        </p:txBody>
      </p:sp>
      <p:sp>
        <p:nvSpPr>
          <p:cNvPr id="78" name="Google Shape;78;p16"/>
          <p:cNvSpPr txBox="1"/>
          <p:nvPr/>
        </p:nvSpPr>
        <p:spPr>
          <a:xfrm>
            <a:off x="569143" y="1151029"/>
            <a:ext cx="8005713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latin typeface="Fira Sans"/>
                <a:ea typeface="Fira Sans"/>
                <a:cs typeface="Fira Sans"/>
                <a:sym typeface="Fira Sans"/>
              </a:rPr>
              <a:t>Trattamento del cervello come un </a:t>
            </a:r>
            <a:r>
              <a:rPr lang="it-IT" b="1" dirty="0">
                <a:latin typeface="Fira Sans"/>
                <a:ea typeface="Fira Sans"/>
                <a:cs typeface="Fira Sans"/>
                <a:sym typeface="Fira Sans"/>
              </a:rPr>
              <a:t>volume geometrico </a:t>
            </a:r>
            <a:r>
              <a:rPr lang="it-IT" dirty="0">
                <a:latin typeface="Fira Sans"/>
                <a:ea typeface="Fira Sans"/>
                <a:cs typeface="Fira Sans"/>
                <a:sym typeface="Fira Sans"/>
              </a:rPr>
              <a:t>definito da un sistema di coordinate cartesiane (x, y, z):</a:t>
            </a:r>
            <a:endParaRPr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13839325" y="943356"/>
            <a:ext cx="1884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Planet Mercury is the closest object to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13839325" y="596506"/>
            <a:ext cx="1884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Mercury</a:t>
            </a:r>
            <a:endParaRPr sz="170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13839325" y="1847653"/>
            <a:ext cx="1884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6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Mars</a:t>
            </a:r>
            <a:endParaRPr sz="1700">
              <a:solidFill>
                <a:schemeClr val="accent6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13839325" y="2194503"/>
            <a:ext cx="1884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Despite being red,</a:t>
            </a:r>
            <a:br>
              <a:rPr lang="en" sz="1200">
                <a:latin typeface="Fira Sans"/>
                <a:ea typeface="Fira Sans"/>
                <a:cs typeface="Fira Sans"/>
                <a:sym typeface="Fira Sans"/>
              </a:rPr>
            </a:b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Mars is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13839325" y="3110189"/>
            <a:ext cx="1884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Jupiter</a:t>
            </a:r>
            <a:endParaRPr sz="1700">
              <a:solidFill>
                <a:schemeClr val="accent5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13839325" y="3457039"/>
            <a:ext cx="1884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a gas giant</a:t>
            </a:r>
            <a:br>
              <a:rPr lang="en" sz="1200">
                <a:latin typeface="Fira Sans"/>
                <a:ea typeface="Fira Sans"/>
                <a:cs typeface="Fira Sans"/>
                <a:sym typeface="Fira Sans"/>
              </a:rPr>
            </a:b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and the biggest planet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33788930-9C82-DD72-3EEB-06839675502D}"/>
              </a:ext>
            </a:extLst>
          </p:cNvPr>
          <p:cNvGrpSpPr/>
          <p:nvPr/>
        </p:nvGrpSpPr>
        <p:grpSpPr>
          <a:xfrm>
            <a:off x="569143" y="1847653"/>
            <a:ext cx="8005713" cy="2333189"/>
            <a:chOff x="569143" y="1747510"/>
            <a:chExt cx="8005713" cy="2333189"/>
          </a:xfrm>
        </p:grpSpPr>
        <p:grpSp>
          <p:nvGrpSpPr>
            <p:cNvPr id="2" name="Google Shape;87;p16">
              <a:extLst>
                <a:ext uri="{FF2B5EF4-FFF2-40B4-BE49-F238E27FC236}">
                  <a16:creationId xmlns:a16="http://schemas.microsoft.com/office/drawing/2014/main" id="{914E8E1B-9872-504E-835D-2AD3005FA07A}"/>
                </a:ext>
              </a:extLst>
            </p:cNvPr>
            <p:cNvGrpSpPr/>
            <p:nvPr/>
          </p:nvGrpSpPr>
          <p:grpSpPr>
            <a:xfrm>
              <a:off x="3290231" y="1747510"/>
              <a:ext cx="2563537" cy="2333189"/>
              <a:chOff x="2736050" y="970450"/>
              <a:chExt cx="3672000" cy="3672000"/>
            </a:xfrm>
          </p:grpSpPr>
          <p:sp>
            <p:nvSpPr>
              <p:cNvPr id="3" name="Google Shape;88;p16">
                <a:extLst>
                  <a:ext uri="{FF2B5EF4-FFF2-40B4-BE49-F238E27FC236}">
                    <a16:creationId xmlns:a16="http://schemas.microsoft.com/office/drawing/2014/main" id="{12A1A67E-CB0C-EC8B-954A-6B9A3C5E6A7E}"/>
                  </a:ext>
                </a:extLst>
              </p:cNvPr>
              <p:cNvSpPr/>
              <p:nvPr/>
            </p:nvSpPr>
            <p:spPr>
              <a:xfrm>
                <a:off x="2736050" y="970450"/>
                <a:ext cx="3672000" cy="3672000"/>
              </a:xfrm>
              <a:prstGeom prst="ellipse">
                <a:avLst/>
              </a:prstGeom>
              <a:solidFill>
                <a:srgbClr val="EFEFE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" name="Google Shape;89;p16">
                <a:extLst>
                  <a:ext uri="{FF2B5EF4-FFF2-40B4-BE49-F238E27FC236}">
                    <a16:creationId xmlns:a16="http://schemas.microsoft.com/office/drawing/2014/main" id="{8855CCD1-6758-16DF-098A-28728EBD9344}"/>
                  </a:ext>
                </a:extLst>
              </p:cNvPr>
              <p:cNvSpPr/>
              <p:nvPr/>
            </p:nvSpPr>
            <p:spPr>
              <a:xfrm>
                <a:off x="3443962" y="2671843"/>
                <a:ext cx="705181" cy="681400"/>
              </a:xfrm>
              <a:custGeom>
                <a:avLst/>
                <a:gdLst/>
                <a:ahLst/>
                <a:cxnLst/>
                <a:rect l="l" t="t" r="r" b="b"/>
                <a:pathLst>
                  <a:path w="4831" h="4668" extrusionOk="0">
                    <a:moveTo>
                      <a:pt x="301" y="1"/>
                    </a:moveTo>
                    <a:cubicBezTo>
                      <a:pt x="137" y="1"/>
                      <a:pt x="0" y="138"/>
                      <a:pt x="0" y="285"/>
                    </a:cubicBezTo>
                    <a:cubicBezTo>
                      <a:pt x="13" y="448"/>
                      <a:pt x="150" y="586"/>
                      <a:pt x="301" y="586"/>
                    </a:cubicBezTo>
                    <a:lnTo>
                      <a:pt x="340" y="586"/>
                    </a:lnTo>
                    <a:cubicBezTo>
                      <a:pt x="1538" y="586"/>
                      <a:pt x="2518" y="1539"/>
                      <a:pt x="2544" y="2751"/>
                    </a:cubicBezTo>
                    <a:cubicBezTo>
                      <a:pt x="2518" y="2751"/>
                      <a:pt x="2492" y="2764"/>
                      <a:pt x="2463" y="2777"/>
                    </a:cubicBezTo>
                    <a:cubicBezTo>
                      <a:pt x="1770" y="3048"/>
                      <a:pt x="1225" y="3580"/>
                      <a:pt x="924" y="4260"/>
                    </a:cubicBezTo>
                    <a:cubicBezTo>
                      <a:pt x="859" y="4410"/>
                      <a:pt x="924" y="4586"/>
                      <a:pt x="1075" y="4655"/>
                    </a:cubicBezTo>
                    <a:cubicBezTo>
                      <a:pt x="1117" y="4668"/>
                      <a:pt x="1156" y="4668"/>
                      <a:pt x="1199" y="4668"/>
                    </a:cubicBezTo>
                    <a:cubicBezTo>
                      <a:pt x="1306" y="4668"/>
                      <a:pt x="1414" y="4612"/>
                      <a:pt x="1470" y="4491"/>
                    </a:cubicBezTo>
                    <a:cubicBezTo>
                      <a:pt x="1702" y="3959"/>
                      <a:pt x="2136" y="3538"/>
                      <a:pt x="2681" y="3322"/>
                    </a:cubicBezTo>
                    <a:cubicBezTo>
                      <a:pt x="2948" y="3218"/>
                      <a:pt x="3225" y="3166"/>
                      <a:pt x="3500" y="3166"/>
                    </a:cubicBezTo>
                    <a:cubicBezTo>
                      <a:pt x="3800" y="3166"/>
                      <a:pt x="4098" y="3227"/>
                      <a:pt x="4383" y="3348"/>
                    </a:cubicBezTo>
                    <a:cubicBezTo>
                      <a:pt x="4418" y="3367"/>
                      <a:pt x="4457" y="3375"/>
                      <a:pt x="4496" y="3375"/>
                    </a:cubicBezTo>
                    <a:cubicBezTo>
                      <a:pt x="4604" y="3375"/>
                      <a:pt x="4714" y="3309"/>
                      <a:pt x="4762" y="3198"/>
                    </a:cubicBezTo>
                    <a:cubicBezTo>
                      <a:pt x="4830" y="3048"/>
                      <a:pt x="4762" y="2872"/>
                      <a:pt x="4615" y="2803"/>
                    </a:cubicBezTo>
                    <a:cubicBezTo>
                      <a:pt x="4257" y="2651"/>
                      <a:pt x="3886" y="2575"/>
                      <a:pt x="3509" y="2575"/>
                    </a:cubicBezTo>
                    <a:cubicBezTo>
                      <a:pt x="3382" y="2575"/>
                      <a:pt x="3256" y="2583"/>
                      <a:pt x="3129" y="2601"/>
                    </a:cubicBezTo>
                    <a:cubicBezTo>
                      <a:pt x="3034" y="1144"/>
                      <a:pt x="1809" y="1"/>
                      <a:pt x="340" y="1"/>
                    </a:cubicBezTo>
                    <a:close/>
                  </a:path>
                </a:pathLst>
              </a:custGeom>
              <a:solidFill>
                <a:srgbClr val="64DEA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" name="Google Shape;90;p16">
                <a:extLst>
                  <a:ext uri="{FF2B5EF4-FFF2-40B4-BE49-F238E27FC236}">
                    <a16:creationId xmlns:a16="http://schemas.microsoft.com/office/drawing/2014/main" id="{044D97B7-E8FF-80A3-BACE-3A5DB9080212}"/>
                  </a:ext>
                </a:extLst>
              </p:cNvPr>
              <p:cNvGrpSpPr/>
              <p:nvPr/>
            </p:nvGrpSpPr>
            <p:grpSpPr>
              <a:xfrm>
                <a:off x="3199901" y="1168350"/>
                <a:ext cx="1344431" cy="3275769"/>
                <a:chOff x="3199901" y="1168350"/>
                <a:chExt cx="1344431" cy="3275769"/>
              </a:xfrm>
            </p:grpSpPr>
            <p:sp>
              <p:nvSpPr>
                <p:cNvPr id="11" name="Google Shape;91;p16">
                  <a:extLst>
                    <a:ext uri="{FF2B5EF4-FFF2-40B4-BE49-F238E27FC236}">
                      <a16:creationId xmlns:a16="http://schemas.microsoft.com/office/drawing/2014/main" id="{E794DAA8-3E7C-E694-13B7-362005BE1D24}"/>
                    </a:ext>
                  </a:extLst>
                </p:cNvPr>
                <p:cNvSpPr/>
                <p:nvPr/>
              </p:nvSpPr>
              <p:spPr>
                <a:xfrm>
                  <a:off x="3250259" y="1229949"/>
                  <a:ext cx="1294072" cy="3152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5" h="19962" extrusionOk="0">
                      <a:moveTo>
                        <a:pt x="6545" y="0"/>
                      </a:moveTo>
                      <a:cubicBezTo>
                        <a:pt x="5745" y="0"/>
                        <a:pt x="5092" y="654"/>
                        <a:pt x="5092" y="1457"/>
                      </a:cubicBezTo>
                      <a:lnTo>
                        <a:pt x="5092" y="1525"/>
                      </a:lnTo>
                      <a:cubicBezTo>
                        <a:pt x="4875" y="1457"/>
                        <a:pt x="4650" y="1424"/>
                        <a:pt x="4426" y="1424"/>
                      </a:cubicBezTo>
                      <a:cubicBezTo>
                        <a:pt x="3849" y="1424"/>
                        <a:pt x="3276" y="1646"/>
                        <a:pt x="2845" y="2068"/>
                      </a:cubicBezTo>
                      <a:cubicBezTo>
                        <a:pt x="2750" y="2179"/>
                        <a:pt x="2655" y="2286"/>
                        <a:pt x="2574" y="2407"/>
                      </a:cubicBezTo>
                      <a:cubicBezTo>
                        <a:pt x="2437" y="2600"/>
                        <a:pt x="2355" y="2789"/>
                        <a:pt x="2300" y="3008"/>
                      </a:cubicBezTo>
                      <a:cubicBezTo>
                        <a:pt x="2247" y="3185"/>
                        <a:pt x="2218" y="3361"/>
                        <a:pt x="2205" y="3550"/>
                      </a:cubicBezTo>
                      <a:cubicBezTo>
                        <a:pt x="1810" y="3701"/>
                        <a:pt x="1444" y="3932"/>
                        <a:pt x="1143" y="4233"/>
                      </a:cubicBezTo>
                      <a:cubicBezTo>
                        <a:pt x="627" y="4749"/>
                        <a:pt x="314" y="5428"/>
                        <a:pt x="275" y="6150"/>
                      </a:cubicBezTo>
                      <a:cubicBezTo>
                        <a:pt x="219" y="6790"/>
                        <a:pt x="382" y="7430"/>
                        <a:pt x="722" y="7959"/>
                      </a:cubicBezTo>
                      <a:cubicBezTo>
                        <a:pt x="601" y="8109"/>
                        <a:pt x="490" y="8260"/>
                        <a:pt x="396" y="8410"/>
                      </a:cubicBezTo>
                      <a:cubicBezTo>
                        <a:pt x="258" y="8629"/>
                        <a:pt x="151" y="8857"/>
                        <a:pt x="95" y="9119"/>
                      </a:cubicBezTo>
                      <a:cubicBezTo>
                        <a:pt x="30" y="9377"/>
                        <a:pt x="0" y="9648"/>
                        <a:pt x="0" y="9919"/>
                      </a:cubicBezTo>
                      <a:cubicBezTo>
                        <a:pt x="0" y="10751"/>
                        <a:pt x="327" y="11525"/>
                        <a:pt x="912" y="12097"/>
                      </a:cubicBezTo>
                      <a:cubicBezTo>
                        <a:pt x="791" y="12329"/>
                        <a:pt x="722" y="12587"/>
                        <a:pt x="696" y="12858"/>
                      </a:cubicBezTo>
                      <a:cubicBezTo>
                        <a:pt x="683" y="13008"/>
                        <a:pt x="667" y="13158"/>
                        <a:pt x="667" y="13309"/>
                      </a:cubicBezTo>
                      <a:cubicBezTo>
                        <a:pt x="667" y="14559"/>
                        <a:pt x="1431" y="15676"/>
                        <a:pt x="2600" y="16111"/>
                      </a:cubicBezTo>
                      <a:cubicBezTo>
                        <a:pt x="2626" y="17254"/>
                        <a:pt x="3541" y="18181"/>
                        <a:pt x="4667" y="18246"/>
                      </a:cubicBezTo>
                      <a:cubicBezTo>
                        <a:pt x="4684" y="18263"/>
                        <a:pt x="4684" y="18263"/>
                        <a:pt x="4697" y="18263"/>
                      </a:cubicBezTo>
                      <a:cubicBezTo>
                        <a:pt x="4778" y="18276"/>
                        <a:pt x="4847" y="18276"/>
                        <a:pt x="4929" y="18276"/>
                      </a:cubicBezTo>
                      <a:lnTo>
                        <a:pt x="5092" y="18276"/>
                      </a:lnTo>
                      <a:lnTo>
                        <a:pt x="5092" y="18491"/>
                      </a:lnTo>
                      <a:cubicBezTo>
                        <a:pt x="5092" y="19308"/>
                        <a:pt x="5745" y="19961"/>
                        <a:pt x="6545" y="19961"/>
                      </a:cubicBezTo>
                      <a:cubicBezTo>
                        <a:pt x="7362" y="19961"/>
                        <a:pt x="8015" y="19308"/>
                        <a:pt x="8015" y="18491"/>
                      </a:cubicBezTo>
                      <a:lnTo>
                        <a:pt x="8015" y="13309"/>
                      </a:lnTo>
                      <a:lnTo>
                        <a:pt x="8015" y="13295"/>
                      </a:lnTo>
                      <a:cubicBezTo>
                        <a:pt x="8126" y="13077"/>
                        <a:pt x="8194" y="12832"/>
                        <a:pt x="8194" y="12587"/>
                      </a:cubicBezTo>
                      <a:cubicBezTo>
                        <a:pt x="8194" y="12166"/>
                        <a:pt x="7554" y="11783"/>
                        <a:pt x="7280" y="11499"/>
                      </a:cubicBezTo>
                      <a:lnTo>
                        <a:pt x="7757" y="10859"/>
                      </a:lnTo>
                      <a:cubicBezTo>
                        <a:pt x="7920" y="10614"/>
                        <a:pt x="8015" y="10314"/>
                        <a:pt x="8015" y="10000"/>
                      </a:cubicBezTo>
                      <a:lnTo>
                        <a:pt x="8015" y="1457"/>
                      </a:lnTo>
                      <a:cubicBezTo>
                        <a:pt x="8015" y="654"/>
                        <a:pt x="7362" y="0"/>
                        <a:pt x="654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" name="Google Shape;92;p16">
                  <a:extLst>
                    <a:ext uri="{FF2B5EF4-FFF2-40B4-BE49-F238E27FC236}">
                      <a16:creationId xmlns:a16="http://schemas.microsoft.com/office/drawing/2014/main" id="{BBE2E9A5-ACEC-6112-8FDD-62A1C9D63BA0}"/>
                    </a:ext>
                  </a:extLst>
                </p:cNvPr>
                <p:cNvSpPr/>
                <p:nvPr/>
              </p:nvSpPr>
              <p:spPr>
                <a:xfrm>
                  <a:off x="3199901" y="1168350"/>
                  <a:ext cx="1344384" cy="32757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10" h="22441" extrusionOk="0">
                      <a:moveTo>
                        <a:pt x="7361" y="585"/>
                      </a:moveTo>
                      <a:cubicBezTo>
                        <a:pt x="7946" y="585"/>
                        <a:pt x="8423" y="1062"/>
                        <a:pt x="8423" y="1647"/>
                      </a:cubicBezTo>
                      <a:lnTo>
                        <a:pt x="8423" y="11238"/>
                      </a:lnTo>
                      <a:cubicBezTo>
                        <a:pt x="8423" y="11865"/>
                        <a:pt x="7920" y="12381"/>
                        <a:pt x="7280" y="12381"/>
                      </a:cubicBezTo>
                      <a:cubicBezTo>
                        <a:pt x="6653" y="12381"/>
                        <a:pt x="6137" y="11865"/>
                        <a:pt x="6137" y="11238"/>
                      </a:cubicBezTo>
                      <a:lnTo>
                        <a:pt x="6137" y="10314"/>
                      </a:lnTo>
                      <a:cubicBezTo>
                        <a:pt x="6803" y="10193"/>
                        <a:pt x="7361" y="9687"/>
                        <a:pt x="7511" y="8982"/>
                      </a:cubicBezTo>
                      <a:cubicBezTo>
                        <a:pt x="7551" y="8831"/>
                        <a:pt x="7443" y="8668"/>
                        <a:pt x="7293" y="8642"/>
                      </a:cubicBezTo>
                      <a:cubicBezTo>
                        <a:pt x="7266" y="8635"/>
                        <a:pt x="7240" y="8632"/>
                        <a:pt x="7215" y="8632"/>
                      </a:cubicBezTo>
                      <a:cubicBezTo>
                        <a:pt x="7084" y="8632"/>
                        <a:pt x="6973" y="8721"/>
                        <a:pt x="6940" y="8858"/>
                      </a:cubicBezTo>
                      <a:cubicBezTo>
                        <a:pt x="6822" y="9399"/>
                        <a:pt x="6348" y="9757"/>
                        <a:pt x="5820" y="9757"/>
                      </a:cubicBezTo>
                      <a:cubicBezTo>
                        <a:pt x="5736" y="9757"/>
                        <a:pt x="5650" y="9748"/>
                        <a:pt x="5565" y="9729"/>
                      </a:cubicBezTo>
                      <a:lnTo>
                        <a:pt x="5470" y="9729"/>
                      </a:lnTo>
                      <a:cubicBezTo>
                        <a:pt x="4654" y="9566"/>
                        <a:pt x="4027" y="8844"/>
                        <a:pt x="4027" y="7989"/>
                      </a:cubicBezTo>
                      <a:cubicBezTo>
                        <a:pt x="4027" y="7061"/>
                        <a:pt x="4735" y="6300"/>
                        <a:pt x="5634" y="6219"/>
                      </a:cubicBezTo>
                      <a:lnTo>
                        <a:pt x="5634" y="6313"/>
                      </a:lnTo>
                      <a:cubicBezTo>
                        <a:pt x="5634" y="7198"/>
                        <a:pt x="6339" y="7907"/>
                        <a:pt x="7224" y="7907"/>
                      </a:cubicBezTo>
                      <a:cubicBezTo>
                        <a:pt x="7387" y="7907"/>
                        <a:pt x="7524" y="7783"/>
                        <a:pt x="7524" y="7620"/>
                      </a:cubicBezTo>
                      <a:cubicBezTo>
                        <a:pt x="7524" y="7456"/>
                        <a:pt x="7387" y="7319"/>
                        <a:pt x="7224" y="7319"/>
                      </a:cubicBezTo>
                      <a:cubicBezTo>
                        <a:pt x="6666" y="7319"/>
                        <a:pt x="6218" y="6872"/>
                        <a:pt x="6218" y="6313"/>
                      </a:cubicBezTo>
                      <a:cubicBezTo>
                        <a:pt x="6218" y="5755"/>
                        <a:pt x="6666" y="5308"/>
                        <a:pt x="7224" y="5308"/>
                      </a:cubicBezTo>
                      <a:cubicBezTo>
                        <a:pt x="7387" y="5308"/>
                        <a:pt x="7524" y="5170"/>
                        <a:pt x="7524" y="5007"/>
                      </a:cubicBezTo>
                      <a:cubicBezTo>
                        <a:pt x="7524" y="4844"/>
                        <a:pt x="7387" y="4707"/>
                        <a:pt x="7224" y="4707"/>
                      </a:cubicBezTo>
                      <a:cubicBezTo>
                        <a:pt x="6597" y="4707"/>
                        <a:pt x="6042" y="5089"/>
                        <a:pt x="5781" y="5621"/>
                      </a:cubicBezTo>
                      <a:cubicBezTo>
                        <a:pt x="4491" y="5634"/>
                        <a:pt x="3442" y="6682"/>
                        <a:pt x="3442" y="7989"/>
                      </a:cubicBezTo>
                      <a:cubicBezTo>
                        <a:pt x="3442" y="9197"/>
                        <a:pt x="4366" y="10206"/>
                        <a:pt x="5552" y="10340"/>
                      </a:cubicBezTo>
                      <a:lnTo>
                        <a:pt x="5552" y="11238"/>
                      </a:lnTo>
                      <a:cubicBezTo>
                        <a:pt x="5552" y="12192"/>
                        <a:pt x="6326" y="12969"/>
                        <a:pt x="7280" y="12969"/>
                      </a:cubicBezTo>
                      <a:lnTo>
                        <a:pt x="7456" y="12969"/>
                      </a:lnTo>
                      <a:cubicBezTo>
                        <a:pt x="8096" y="12969"/>
                        <a:pt x="8612" y="13498"/>
                        <a:pt x="8612" y="14138"/>
                      </a:cubicBezTo>
                      <a:cubicBezTo>
                        <a:pt x="8612" y="14791"/>
                        <a:pt x="8096" y="15307"/>
                        <a:pt x="7456" y="15307"/>
                      </a:cubicBezTo>
                      <a:cubicBezTo>
                        <a:pt x="7293" y="15307"/>
                        <a:pt x="7155" y="15445"/>
                        <a:pt x="7155" y="15608"/>
                      </a:cubicBezTo>
                      <a:cubicBezTo>
                        <a:pt x="7155" y="15771"/>
                        <a:pt x="7293" y="15892"/>
                        <a:pt x="7456" y="15892"/>
                      </a:cubicBezTo>
                      <a:cubicBezTo>
                        <a:pt x="7809" y="15892"/>
                        <a:pt x="8148" y="15784"/>
                        <a:pt x="8423" y="15595"/>
                      </a:cubicBezTo>
                      <a:lnTo>
                        <a:pt x="8423" y="16274"/>
                      </a:lnTo>
                      <a:cubicBezTo>
                        <a:pt x="8423" y="16901"/>
                        <a:pt x="7920" y="17417"/>
                        <a:pt x="7280" y="17417"/>
                      </a:cubicBezTo>
                      <a:cubicBezTo>
                        <a:pt x="7074" y="17417"/>
                        <a:pt x="6884" y="17362"/>
                        <a:pt x="6721" y="17267"/>
                      </a:cubicBezTo>
                      <a:cubicBezTo>
                        <a:pt x="6695" y="17241"/>
                        <a:pt x="6666" y="17228"/>
                        <a:pt x="6639" y="17215"/>
                      </a:cubicBezTo>
                      <a:cubicBezTo>
                        <a:pt x="6339" y="17009"/>
                        <a:pt x="6137" y="16656"/>
                        <a:pt x="6137" y="16274"/>
                      </a:cubicBezTo>
                      <a:lnTo>
                        <a:pt x="6137" y="15036"/>
                      </a:lnTo>
                      <a:cubicBezTo>
                        <a:pt x="6137" y="14873"/>
                        <a:pt x="6012" y="14736"/>
                        <a:pt x="5849" y="14736"/>
                      </a:cubicBezTo>
                      <a:cubicBezTo>
                        <a:pt x="5686" y="14736"/>
                        <a:pt x="5552" y="14873"/>
                        <a:pt x="5552" y="15036"/>
                      </a:cubicBezTo>
                      <a:lnTo>
                        <a:pt x="5552" y="16274"/>
                      </a:lnTo>
                      <a:cubicBezTo>
                        <a:pt x="5552" y="16562"/>
                        <a:pt x="5634" y="16846"/>
                        <a:pt x="5754" y="17091"/>
                      </a:cubicBezTo>
                      <a:cubicBezTo>
                        <a:pt x="5604" y="17104"/>
                        <a:pt x="5470" y="17133"/>
                        <a:pt x="5320" y="17198"/>
                      </a:cubicBezTo>
                      <a:cubicBezTo>
                        <a:pt x="4899" y="17362"/>
                        <a:pt x="4556" y="17688"/>
                        <a:pt x="4379" y="18113"/>
                      </a:cubicBezTo>
                      <a:cubicBezTo>
                        <a:pt x="4311" y="18260"/>
                        <a:pt x="4379" y="18423"/>
                        <a:pt x="4530" y="18492"/>
                      </a:cubicBezTo>
                      <a:cubicBezTo>
                        <a:pt x="4572" y="18505"/>
                        <a:pt x="4611" y="18521"/>
                        <a:pt x="4654" y="18521"/>
                      </a:cubicBezTo>
                      <a:cubicBezTo>
                        <a:pt x="4762" y="18521"/>
                        <a:pt x="4869" y="18452"/>
                        <a:pt x="4912" y="18341"/>
                      </a:cubicBezTo>
                      <a:cubicBezTo>
                        <a:pt x="5033" y="18070"/>
                        <a:pt x="5265" y="17852"/>
                        <a:pt x="5536" y="17744"/>
                      </a:cubicBezTo>
                      <a:cubicBezTo>
                        <a:pt x="5673" y="17690"/>
                        <a:pt x="5812" y="17663"/>
                        <a:pt x="5952" y="17663"/>
                      </a:cubicBezTo>
                      <a:cubicBezTo>
                        <a:pt x="6092" y="17663"/>
                        <a:pt x="6231" y="17690"/>
                        <a:pt x="6368" y="17744"/>
                      </a:cubicBezTo>
                      <a:cubicBezTo>
                        <a:pt x="6626" y="17907"/>
                        <a:pt x="6953" y="18002"/>
                        <a:pt x="7280" y="18002"/>
                      </a:cubicBezTo>
                      <a:cubicBezTo>
                        <a:pt x="7727" y="18002"/>
                        <a:pt x="8122" y="17839"/>
                        <a:pt x="8423" y="17567"/>
                      </a:cubicBezTo>
                      <a:lnTo>
                        <a:pt x="8423" y="20791"/>
                      </a:lnTo>
                      <a:cubicBezTo>
                        <a:pt x="8423" y="21379"/>
                        <a:pt x="7946" y="21852"/>
                        <a:pt x="7361" y="21852"/>
                      </a:cubicBezTo>
                      <a:cubicBezTo>
                        <a:pt x="6777" y="21852"/>
                        <a:pt x="6300" y="21379"/>
                        <a:pt x="6300" y="20791"/>
                      </a:cubicBezTo>
                      <a:lnTo>
                        <a:pt x="6300" y="20356"/>
                      </a:lnTo>
                      <a:cubicBezTo>
                        <a:pt x="6790" y="20112"/>
                        <a:pt x="7155" y="19648"/>
                        <a:pt x="7237" y="19076"/>
                      </a:cubicBezTo>
                      <a:cubicBezTo>
                        <a:pt x="7266" y="18913"/>
                        <a:pt x="7142" y="18766"/>
                        <a:pt x="6992" y="18737"/>
                      </a:cubicBezTo>
                      <a:cubicBezTo>
                        <a:pt x="6977" y="18734"/>
                        <a:pt x="6962" y="18733"/>
                        <a:pt x="6947" y="18733"/>
                      </a:cubicBezTo>
                      <a:cubicBezTo>
                        <a:pt x="6802" y="18733"/>
                        <a:pt x="6676" y="18845"/>
                        <a:pt x="6653" y="18982"/>
                      </a:cubicBezTo>
                      <a:cubicBezTo>
                        <a:pt x="6597" y="19377"/>
                        <a:pt x="6352" y="19690"/>
                        <a:pt x="6012" y="19854"/>
                      </a:cubicBezTo>
                      <a:cubicBezTo>
                        <a:pt x="5986" y="19854"/>
                        <a:pt x="5960" y="19854"/>
                        <a:pt x="5931" y="19867"/>
                      </a:cubicBezTo>
                      <a:cubicBezTo>
                        <a:pt x="5754" y="19909"/>
                        <a:pt x="5578" y="19935"/>
                        <a:pt x="5402" y="19935"/>
                      </a:cubicBezTo>
                      <a:cubicBezTo>
                        <a:pt x="4474" y="19935"/>
                        <a:pt x="3700" y="19269"/>
                        <a:pt x="3537" y="18384"/>
                      </a:cubicBezTo>
                      <a:cubicBezTo>
                        <a:pt x="3563" y="18328"/>
                        <a:pt x="3563" y="18276"/>
                        <a:pt x="3550" y="18221"/>
                      </a:cubicBezTo>
                      <a:cubicBezTo>
                        <a:pt x="3537" y="18165"/>
                        <a:pt x="3524" y="18113"/>
                        <a:pt x="3511" y="18044"/>
                      </a:cubicBezTo>
                      <a:lnTo>
                        <a:pt x="3511" y="17920"/>
                      </a:lnTo>
                      <a:cubicBezTo>
                        <a:pt x="3524" y="17881"/>
                        <a:pt x="3511" y="17839"/>
                        <a:pt x="3494" y="17799"/>
                      </a:cubicBezTo>
                      <a:cubicBezTo>
                        <a:pt x="3511" y="17104"/>
                        <a:pt x="3971" y="16464"/>
                        <a:pt x="4680" y="16287"/>
                      </a:cubicBezTo>
                      <a:cubicBezTo>
                        <a:pt x="4843" y="16248"/>
                        <a:pt x="4938" y="16085"/>
                        <a:pt x="4899" y="15935"/>
                      </a:cubicBezTo>
                      <a:cubicBezTo>
                        <a:pt x="4863" y="15796"/>
                        <a:pt x="4740" y="15707"/>
                        <a:pt x="4604" y="15707"/>
                      </a:cubicBezTo>
                      <a:cubicBezTo>
                        <a:pt x="4579" y="15707"/>
                        <a:pt x="4555" y="15710"/>
                        <a:pt x="4530" y="15716"/>
                      </a:cubicBezTo>
                      <a:cubicBezTo>
                        <a:pt x="3674" y="15948"/>
                        <a:pt x="3073" y="16656"/>
                        <a:pt x="2939" y="17473"/>
                      </a:cubicBezTo>
                      <a:cubicBezTo>
                        <a:pt x="1973" y="17022"/>
                        <a:pt x="1346" y="16055"/>
                        <a:pt x="1346" y="14955"/>
                      </a:cubicBezTo>
                      <a:lnTo>
                        <a:pt x="1346" y="14749"/>
                      </a:lnTo>
                      <a:cubicBezTo>
                        <a:pt x="1372" y="14710"/>
                        <a:pt x="1372" y="14667"/>
                        <a:pt x="1372" y="14628"/>
                      </a:cubicBezTo>
                      <a:lnTo>
                        <a:pt x="1372" y="14520"/>
                      </a:lnTo>
                      <a:cubicBezTo>
                        <a:pt x="1414" y="14275"/>
                        <a:pt x="1483" y="14031"/>
                        <a:pt x="1590" y="13799"/>
                      </a:cubicBezTo>
                      <a:cubicBezTo>
                        <a:pt x="1862" y="13335"/>
                        <a:pt x="2368" y="13021"/>
                        <a:pt x="2939" y="13008"/>
                      </a:cubicBezTo>
                      <a:cubicBezTo>
                        <a:pt x="3103" y="13008"/>
                        <a:pt x="3223" y="12871"/>
                        <a:pt x="3223" y="12724"/>
                      </a:cubicBezTo>
                      <a:cubicBezTo>
                        <a:pt x="3223" y="12561"/>
                        <a:pt x="3086" y="12424"/>
                        <a:pt x="2923" y="12424"/>
                      </a:cubicBezTo>
                      <a:cubicBezTo>
                        <a:pt x="2325" y="12437"/>
                        <a:pt x="1767" y="12695"/>
                        <a:pt x="1388" y="13103"/>
                      </a:cubicBezTo>
                      <a:cubicBezTo>
                        <a:pt x="869" y="12587"/>
                        <a:pt x="585" y="11891"/>
                        <a:pt x="585" y="11157"/>
                      </a:cubicBezTo>
                      <a:cubicBezTo>
                        <a:pt x="585" y="10967"/>
                        <a:pt x="611" y="10778"/>
                        <a:pt x="637" y="10601"/>
                      </a:cubicBezTo>
                      <a:cubicBezTo>
                        <a:pt x="666" y="10559"/>
                        <a:pt x="666" y="10533"/>
                        <a:pt x="679" y="10490"/>
                      </a:cubicBezTo>
                      <a:cubicBezTo>
                        <a:pt x="679" y="10464"/>
                        <a:pt x="679" y="10438"/>
                        <a:pt x="692" y="10409"/>
                      </a:cubicBezTo>
                      <a:cubicBezTo>
                        <a:pt x="748" y="10177"/>
                        <a:pt x="843" y="9961"/>
                        <a:pt x="950" y="9756"/>
                      </a:cubicBezTo>
                      <a:cubicBezTo>
                        <a:pt x="1243" y="9354"/>
                        <a:pt x="1734" y="9092"/>
                        <a:pt x="2254" y="9092"/>
                      </a:cubicBezTo>
                      <a:cubicBezTo>
                        <a:pt x="2313" y="9092"/>
                        <a:pt x="2373" y="9095"/>
                        <a:pt x="2433" y="9102"/>
                      </a:cubicBezTo>
                      <a:cubicBezTo>
                        <a:pt x="2442" y="9103"/>
                        <a:pt x="2451" y="9104"/>
                        <a:pt x="2460" y="9104"/>
                      </a:cubicBezTo>
                      <a:cubicBezTo>
                        <a:pt x="2612" y="9104"/>
                        <a:pt x="2747" y="8999"/>
                        <a:pt x="2760" y="8844"/>
                      </a:cubicBezTo>
                      <a:cubicBezTo>
                        <a:pt x="2789" y="8681"/>
                        <a:pt x="2665" y="8544"/>
                        <a:pt x="2515" y="8518"/>
                      </a:cubicBezTo>
                      <a:cubicBezTo>
                        <a:pt x="2434" y="8510"/>
                        <a:pt x="2355" y="8507"/>
                        <a:pt x="2276" y="8507"/>
                      </a:cubicBezTo>
                      <a:cubicBezTo>
                        <a:pt x="1944" y="8507"/>
                        <a:pt x="1631" y="8573"/>
                        <a:pt x="1346" y="8694"/>
                      </a:cubicBezTo>
                      <a:cubicBezTo>
                        <a:pt x="624" y="7607"/>
                        <a:pt x="761" y="6124"/>
                        <a:pt x="1698" y="5183"/>
                      </a:cubicBezTo>
                      <a:cubicBezTo>
                        <a:pt x="1960" y="4925"/>
                        <a:pt x="2270" y="4723"/>
                        <a:pt x="2596" y="4586"/>
                      </a:cubicBezTo>
                      <a:cubicBezTo>
                        <a:pt x="2720" y="4968"/>
                        <a:pt x="2952" y="5321"/>
                        <a:pt x="3266" y="5592"/>
                      </a:cubicBezTo>
                      <a:cubicBezTo>
                        <a:pt x="3318" y="5634"/>
                        <a:pt x="3387" y="5660"/>
                        <a:pt x="3455" y="5660"/>
                      </a:cubicBezTo>
                      <a:cubicBezTo>
                        <a:pt x="3537" y="5660"/>
                        <a:pt x="3619" y="5621"/>
                        <a:pt x="3674" y="5553"/>
                      </a:cubicBezTo>
                      <a:cubicBezTo>
                        <a:pt x="3782" y="5428"/>
                        <a:pt x="3769" y="5252"/>
                        <a:pt x="3645" y="5144"/>
                      </a:cubicBezTo>
                      <a:cubicBezTo>
                        <a:pt x="3155" y="4723"/>
                        <a:pt x="2992" y="4070"/>
                        <a:pt x="3168" y="3482"/>
                      </a:cubicBezTo>
                      <a:cubicBezTo>
                        <a:pt x="3210" y="3335"/>
                        <a:pt x="3279" y="3198"/>
                        <a:pt x="3374" y="3061"/>
                      </a:cubicBezTo>
                      <a:cubicBezTo>
                        <a:pt x="3400" y="3008"/>
                        <a:pt x="3442" y="2953"/>
                        <a:pt x="3481" y="2910"/>
                      </a:cubicBezTo>
                      <a:cubicBezTo>
                        <a:pt x="3494" y="2884"/>
                        <a:pt x="3511" y="2871"/>
                        <a:pt x="3524" y="2858"/>
                      </a:cubicBezTo>
                      <a:cubicBezTo>
                        <a:pt x="3550" y="2816"/>
                        <a:pt x="3592" y="2777"/>
                        <a:pt x="3619" y="2734"/>
                      </a:cubicBezTo>
                      <a:cubicBezTo>
                        <a:pt x="3988" y="2376"/>
                        <a:pt x="4475" y="2189"/>
                        <a:pt x="4968" y="2189"/>
                      </a:cubicBezTo>
                      <a:cubicBezTo>
                        <a:pt x="5220" y="2189"/>
                        <a:pt x="5475" y="2238"/>
                        <a:pt x="5715" y="2339"/>
                      </a:cubicBezTo>
                      <a:lnTo>
                        <a:pt x="5715" y="3253"/>
                      </a:lnTo>
                      <a:cubicBezTo>
                        <a:pt x="5715" y="3417"/>
                        <a:pt x="5849" y="3551"/>
                        <a:pt x="6012" y="3551"/>
                      </a:cubicBezTo>
                      <a:cubicBezTo>
                        <a:pt x="6176" y="3551"/>
                        <a:pt x="6300" y="3417"/>
                        <a:pt x="6300" y="3253"/>
                      </a:cubicBezTo>
                      <a:lnTo>
                        <a:pt x="6300" y="2163"/>
                      </a:lnTo>
                      <a:lnTo>
                        <a:pt x="6300" y="1865"/>
                      </a:lnTo>
                      <a:lnTo>
                        <a:pt x="6300" y="1647"/>
                      </a:lnTo>
                      <a:cubicBezTo>
                        <a:pt x="6300" y="1062"/>
                        <a:pt x="6777" y="585"/>
                        <a:pt x="7361" y="585"/>
                      </a:cubicBezTo>
                      <a:close/>
                      <a:moveTo>
                        <a:pt x="7361" y="1"/>
                      </a:moveTo>
                      <a:cubicBezTo>
                        <a:pt x="6463" y="1"/>
                        <a:pt x="5715" y="735"/>
                        <a:pt x="5715" y="1647"/>
                      </a:cubicBezTo>
                      <a:lnTo>
                        <a:pt x="5715" y="1715"/>
                      </a:lnTo>
                      <a:cubicBezTo>
                        <a:pt x="5469" y="1638"/>
                        <a:pt x="5215" y="1600"/>
                        <a:pt x="4962" y="1600"/>
                      </a:cubicBezTo>
                      <a:cubicBezTo>
                        <a:pt x="4317" y="1600"/>
                        <a:pt x="3679" y="1847"/>
                        <a:pt x="3210" y="2326"/>
                      </a:cubicBezTo>
                      <a:cubicBezTo>
                        <a:pt x="3086" y="2450"/>
                        <a:pt x="2978" y="2571"/>
                        <a:pt x="2897" y="2708"/>
                      </a:cubicBezTo>
                      <a:cubicBezTo>
                        <a:pt x="2747" y="2910"/>
                        <a:pt x="2652" y="3142"/>
                        <a:pt x="2583" y="3374"/>
                      </a:cubicBezTo>
                      <a:cubicBezTo>
                        <a:pt x="2531" y="3580"/>
                        <a:pt x="2489" y="3782"/>
                        <a:pt x="2489" y="3988"/>
                      </a:cubicBezTo>
                      <a:cubicBezTo>
                        <a:pt x="2041" y="4165"/>
                        <a:pt x="1633" y="4423"/>
                        <a:pt x="1290" y="4762"/>
                      </a:cubicBezTo>
                      <a:cubicBezTo>
                        <a:pt x="705" y="5334"/>
                        <a:pt x="366" y="6111"/>
                        <a:pt x="310" y="6911"/>
                      </a:cubicBezTo>
                      <a:cubicBezTo>
                        <a:pt x="258" y="7633"/>
                        <a:pt x="434" y="8342"/>
                        <a:pt x="816" y="8952"/>
                      </a:cubicBezTo>
                      <a:cubicBezTo>
                        <a:pt x="679" y="9116"/>
                        <a:pt x="555" y="9279"/>
                        <a:pt x="447" y="9458"/>
                      </a:cubicBezTo>
                      <a:cubicBezTo>
                        <a:pt x="297" y="9687"/>
                        <a:pt x="176" y="9961"/>
                        <a:pt x="121" y="10259"/>
                      </a:cubicBezTo>
                      <a:cubicBezTo>
                        <a:pt x="39" y="10546"/>
                        <a:pt x="0" y="10846"/>
                        <a:pt x="0" y="11157"/>
                      </a:cubicBezTo>
                      <a:cubicBezTo>
                        <a:pt x="0" y="12084"/>
                        <a:pt x="379" y="12953"/>
                        <a:pt x="1032" y="13593"/>
                      </a:cubicBezTo>
                      <a:cubicBezTo>
                        <a:pt x="898" y="13851"/>
                        <a:pt x="816" y="14151"/>
                        <a:pt x="787" y="14465"/>
                      </a:cubicBezTo>
                      <a:cubicBezTo>
                        <a:pt x="774" y="14628"/>
                        <a:pt x="761" y="14791"/>
                        <a:pt x="761" y="14955"/>
                      </a:cubicBezTo>
                      <a:cubicBezTo>
                        <a:pt x="761" y="16369"/>
                        <a:pt x="1617" y="17607"/>
                        <a:pt x="2923" y="18113"/>
                      </a:cubicBezTo>
                      <a:cubicBezTo>
                        <a:pt x="2965" y="19390"/>
                        <a:pt x="3971" y="20438"/>
                        <a:pt x="5238" y="20520"/>
                      </a:cubicBezTo>
                      <a:cubicBezTo>
                        <a:pt x="5251" y="20520"/>
                        <a:pt x="5278" y="20520"/>
                        <a:pt x="5291" y="20533"/>
                      </a:cubicBezTo>
                      <a:cubicBezTo>
                        <a:pt x="5372" y="20533"/>
                        <a:pt x="5454" y="20546"/>
                        <a:pt x="5536" y="20546"/>
                      </a:cubicBezTo>
                      <a:cubicBezTo>
                        <a:pt x="5591" y="20546"/>
                        <a:pt x="5660" y="20546"/>
                        <a:pt x="5715" y="20533"/>
                      </a:cubicBezTo>
                      <a:lnTo>
                        <a:pt x="5715" y="20791"/>
                      </a:lnTo>
                      <a:cubicBezTo>
                        <a:pt x="5715" y="21705"/>
                        <a:pt x="6463" y="22440"/>
                        <a:pt x="7361" y="22440"/>
                      </a:cubicBezTo>
                      <a:cubicBezTo>
                        <a:pt x="8272" y="22440"/>
                        <a:pt x="9020" y="21705"/>
                        <a:pt x="9020" y="20791"/>
                      </a:cubicBezTo>
                      <a:lnTo>
                        <a:pt x="9020" y="14968"/>
                      </a:lnTo>
                      <a:cubicBezTo>
                        <a:pt x="9020" y="14955"/>
                        <a:pt x="9007" y="14955"/>
                        <a:pt x="9007" y="14942"/>
                      </a:cubicBezTo>
                      <a:cubicBezTo>
                        <a:pt x="9144" y="14697"/>
                        <a:pt x="9210" y="14422"/>
                        <a:pt x="9210" y="14138"/>
                      </a:cubicBezTo>
                      <a:cubicBezTo>
                        <a:pt x="9210" y="13498"/>
                        <a:pt x="8857" y="12927"/>
                        <a:pt x="8328" y="12626"/>
                      </a:cubicBezTo>
                      <a:cubicBezTo>
                        <a:pt x="8749" y="12300"/>
                        <a:pt x="9020" y="11797"/>
                        <a:pt x="9020" y="11238"/>
                      </a:cubicBezTo>
                      <a:lnTo>
                        <a:pt x="9020" y="1647"/>
                      </a:lnTo>
                      <a:cubicBezTo>
                        <a:pt x="9020" y="735"/>
                        <a:pt x="8272" y="1"/>
                        <a:pt x="7361" y="1"/>
                      </a:cubicBezTo>
                      <a:close/>
                    </a:path>
                  </a:pathLst>
                </a:custGeom>
                <a:solidFill>
                  <a:srgbClr val="64DEA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" name="Google Shape;93;p16">
                <a:extLst>
                  <a:ext uri="{FF2B5EF4-FFF2-40B4-BE49-F238E27FC236}">
                    <a16:creationId xmlns:a16="http://schemas.microsoft.com/office/drawing/2014/main" id="{30A364CB-1A4A-526C-F693-19F0ABC24835}"/>
                  </a:ext>
                </a:extLst>
              </p:cNvPr>
              <p:cNvGrpSpPr/>
              <p:nvPr/>
            </p:nvGrpSpPr>
            <p:grpSpPr>
              <a:xfrm>
                <a:off x="4613761" y="1168350"/>
                <a:ext cx="1343070" cy="3275769"/>
                <a:chOff x="4613761" y="1168350"/>
                <a:chExt cx="1343070" cy="3275769"/>
              </a:xfrm>
            </p:grpSpPr>
            <p:sp>
              <p:nvSpPr>
                <p:cNvPr id="9" name="Google Shape;94;p16">
                  <a:extLst>
                    <a:ext uri="{FF2B5EF4-FFF2-40B4-BE49-F238E27FC236}">
                      <a16:creationId xmlns:a16="http://schemas.microsoft.com/office/drawing/2014/main" id="{A67EE921-00F9-169F-19CC-C3024CD67C8E}"/>
                    </a:ext>
                  </a:extLst>
                </p:cNvPr>
                <p:cNvSpPr/>
                <p:nvPr/>
              </p:nvSpPr>
              <p:spPr>
                <a:xfrm>
                  <a:off x="4633905" y="1229876"/>
                  <a:ext cx="1293926" cy="315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2" h="19962" extrusionOk="0">
                      <a:moveTo>
                        <a:pt x="1647" y="0"/>
                      </a:moveTo>
                      <a:cubicBezTo>
                        <a:pt x="830" y="0"/>
                        <a:pt x="177" y="654"/>
                        <a:pt x="177" y="1457"/>
                      </a:cubicBezTo>
                      <a:lnTo>
                        <a:pt x="177" y="10000"/>
                      </a:lnTo>
                      <a:cubicBezTo>
                        <a:pt x="177" y="10314"/>
                        <a:pt x="272" y="10614"/>
                        <a:pt x="435" y="10859"/>
                      </a:cubicBezTo>
                      <a:lnTo>
                        <a:pt x="873" y="11499"/>
                      </a:lnTo>
                      <a:cubicBezTo>
                        <a:pt x="599" y="11783"/>
                        <a:pt x="1" y="12166"/>
                        <a:pt x="1" y="12587"/>
                      </a:cubicBezTo>
                      <a:cubicBezTo>
                        <a:pt x="1" y="12832"/>
                        <a:pt x="70" y="13077"/>
                        <a:pt x="177" y="13295"/>
                      </a:cubicBezTo>
                      <a:lnTo>
                        <a:pt x="177" y="13309"/>
                      </a:lnTo>
                      <a:lnTo>
                        <a:pt x="177" y="18491"/>
                      </a:lnTo>
                      <a:cubicBezTo>
                        <a:pt x="177" y="19308"/>
                        <a:pt x="830" y="19961"/>
                        <a:pt x="1647" y="19961"/>
                      </a:cubicBezTo>
                      <a:cubicBezTo>
                        <a:pt x="2450" y="19961"/>
                        <a:pt x="3104" y="19308"/>
                        <a:pt x="3104" y="18491"/>
                      </a:cubicBezTo>
                      <a:lnTo>
                        <a:pt x="3104" y="18276"/>
                      </a:lnTo>
                      <a:lnTo>
                        <a:pt x="3267" y="18276"/>
                      </a:lnTo>
                      <a:cubicBezTo>
                        <a:pt x="3348" y="18276"/>
                        <a:pt x="3417" y="18276"/>
                        <a:pt x="3486" y="18263"/>
                      </a:cubicBezTo>
                      <a:cubicBezTo>
                        <a:pt x="3499" y="18263"/>
                        <a:pt x="3512" y="18263"/>
                        <a:pt x="3525" y="18246"/>
                      </a:cubicBezTo>
                      <a:cubicBezTo>
                        <a:pt x="4655" y="18181"/>
                        <a:pt x="5566" y="17254"/>
                        <a:pt x="5595" y="16111"/>
                      </a:cubicBezTo>
                      <a:cubicBezTo>
                        <a:pt x="6751" y="15676"/>
                        <a:pt x="7525" y="14559"/>
                        <a:pt x="7525" y="13309"/>
                      </a:cubicBezTo>
                      <a:cubicBezTo>
                        <a:pt x="7525" y="13158"/>
                        <a:pt x="7512" y="13008"/>
                        <a:pt x="7486" y="12858"/>
                      </a:cubicBezTo>
                      <a:cubicBezTo>
                        <a:pt x="7473" y="12587"/>
                        <a:pt x="7392" y="12329"/>
                        <a:pt x="7267" y="12097"/>
                      </a:cubicBezTo>
                      <a:cubicBezTo>
                        <a:pt x="7865" y="11525"/>
                        <a:pt x="8192" y="10751"/>
                        <a:pt x="8192" y="9919"/>
                      </a:cubicBezTo>
                      <a:cubicBezTo>
                        <a:pt x="8192" y="9648"/>
                        <a:pt x="8166" y="9377"/>
                        <a:pt x="8084" y="9119"/>
                      </a:cubicBezTo>
                      <a:cubicBezTo>
                        <a:pt x="8045" y="8857"/>
                        <a:pt x="7934" y="8629"/>
                        <a:pt x="7800" y="8410"/>
                      </a:cubicBezTo>
                      <a:cubicBezTo>
                        <a:pt x="7702" y="8260"/>
                        <a:pt x="7594" y="8109"/>
                        <a:pt x="7473" y="7959"/>
                      </a:cubicBezTo>
                      <a:cubicBezTo>
                        <a:pt x="7813" y="7430"/>
                        <a:pt x="7976" y="6790"/>
                        <a:pt x="7921" y="6150"/>
                      </a:cubicBezTo>
                      <a:cubicBezTo>
                        <a:pt x="7865" y="5428"/>
                        <a:pt x="7568" y="4749"/>
                        <a:pt x="7049" y="4233"/>
                      </a:cubicBezTo>
                      <a:cubicBezTo>
                        <a:pt x="6751" y="3932"/>
                        <a:pt x="6382" y="3701"/>
                        <a:pt x="5987" y="3550"/>
                      </a:cubicBezTo>
                      <a:cubicBezTo>
                        <a:pt x="5974" y="3361"/>
                        <a:pt x="5948" y="3185"/>
                        <a:pt x="5893" y="3008"/>
                      </a:cubicBezTo>
                      <a:cubicBezTo>
                        <a:pt x="5840" y="2789"/>
                        <a:pt x="5742" y="2600"/>
                        <a:pt x="5621" y="2407"/>
                      </a:cubicBezTo>
                      <a:cubicBezTo>
                        <a:pt x="5540" y="2286"/>
                        <a:pt x="5445" y="2179"/>
                        <a:pt x="5334" y="2068"/>
                      </a:cubicBezTo>
                      <a:cubicBezTo>
                        <a:pt x="4913" y="1646"/>
                        <a:pt x="4344" y="1424"/>
                        <a:pt x="3768" y="1424"/>
                      </a:cubicBezTo>
                      <a:cubicBezTo>
                        <a:pt x="3545" y="1424"/>
                        <a:pt x="3321" y="1457"/>
                        <a:pt x="3104" y="1525"/>
                      </a:cubicBezTo>
                      <a:lnTo>
                        <a:pt x="3104" y="1457"/>
                      </a:lnTo>
                      <a:cubicBezTo>
                        <a:pt x="3104" y="654"/>
                        <a:pt x="2450" y="0"/>
                        <a:pt x="164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" name="Google Shape;95;p16">
                  <a:extLst>
                    <a:ext uri="{FF2B5EF4-FFF2-40B4-BE49-F238E27FC236}">
                      <a16:creationId xmlns:a16="http://schemas.microsoft.com/office/drawing/2014/main" id="{A6A8F9ED-A947-8D7C-1EE8-E8D9DE15B84C}"/>
                    </a:ext>
                  </a:extLst>
                </p:cNvPr>
                <p:cNvSpPr/>
                <p:nvPr/>
              </p:nvSpPr>
              <p:spPr>
                <a:xfrm>
                  <a:off x="4613761" y="1168350"/>
                  <a:ext cx="1343070" cy="32757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01" h="22441" extrusionOk="0">
                      <a:moveTo>
                        <a:pt x="1839" y="585"/>
                      </a:moveTo>
                      <a:cubicBezTo>
                        <a:pt x="2424" y="585"/>
                        <a:pt x="2901" y="1062"/>
                        <a:pt x="2901" y="1647"/>
                      </a:cubicBezTo>
                      <a:lnTo>
                        <a:pt x="2901" y="1865"/>
                      </a:lnTo>
                      <a:lnTo>
                        <a:pt x="2901" y="2163"/>
                      </a:lnTo>
                      <a:lnTo>
                        <a:pt x="2901" y="3253"/>
                      </a:lnTo>
                      <a:cubicBezTo>
                        <a:pt x="2901" y="3417"/>
                        <a:pt x="3021" y="3551"/>
                        <a:pt x="3185" y="3551"/>
                      </a:cubicBezTo>
                      <a:cubicBezTo>
                        <a:pt x="3348" y="3551"/>
                        <a:pt x="3485" y="3417"/>
                        <a:pt x="3485" y="3253"/>
                      </a:cubicBezTo>
                      <a:lnTo>
                        <a:pt x="3485" y="2339"/>
                      </a:lnTo>
                      <a:cubicBezTo>
                        <a:pt x="3726" y="2238"/>
                        <a:pt x="3980" y="2189"/>
                        <a:pt x="4233" y="2189"/>
                      </a:cubicBezTo>
                      <a:cubicBezTo>
                        <a:pt x="4725" y="2189"/>
                        <a:pt x="5213" y="2376"/>
                        <a:pt x="5582" y="2734"/>
                      </a:cubicBezTo>
                      <a:cubicBezTo>
                        <a:pt x="5608" y="2777"/>
                        <a:pt x="5647" y="2816"/>
                        <a:pt x="5676" y="2858"/>
                      </a:cubicBezTo>
                      <a:cubicBezTo>
                        <a:pt x="5690" y="2871"/>
                        <a:pt x="5703" y="2884"/>
                        <a:pt x="5716" y="2910"/>
                      </a:cubicBezTo>
                      <a:cubicBezTo>
                        <a:pt x="5758" y="2953"/>
                        <a:pt x="5797" y="3008"/>
                        <a:pt x="5840" y="3061"/>
                      </a:cubicBezTo>
                      <a:cubicBezTo>
                        <a:pt x="5921" y="3185"/>
                        <a:pt x="5990" y="3335"/>
                        <a:pt x="6029" y="3482"/>
                      </a:cubicBezTo>
                      <a:cubicBezTo>
                        <a:pt x="6206" y="4070"/>
                        <a:pt x="6042" y="4723"/>
                        <a:pt x="5552" y="5144"/>
                      </a:cubicBezTo>
                      <a:cubicBezTo>
                        <a:pt x="5432" y="5252"/>
                        <a:pt x="5418" y="5428"/>
                        <a:pt x="5526" y="5553"/>
                      </a:cubicBezTo>
                      <a:cubicBezTo>
                        <a:pt x="5582" y="5621"/>
                        <a:pt x="5663" y="5660"/>
                        <a:pt x="5745" y="5660"/>
                      </a:cubicBezTo>
                      <a:cubicBezTo>
                        <a:pt x="5810" y="5660"/>
                        <a:pt x="5879" y="5634"/>
                        <a:pt x="5934" y="5592"/>
                      </a:cubicBezTo>
                      <a:cubicBezTo>
                        <a:pt x="6261" y="5321"/>
                        <a:pt x="6480" y="4968"/>
                        <a:pt x="6601" y="4586"/>
                      </a:cubicBezTo>
                      <a:cubicBezTo>
                        <a:pt x="6927" y="4723"/>
                        <a:pt x="7241" y="4925"/>
                        <a:pt x="7499" y="5183"/>
                      </a:cubicBezTo>
                      <a:cubicBezTo>
                        <a:pt x="8439" y="6124"/>
                        <a:pt x="8573" y="7607"/>
                        <a:pt x="7852" y="8694"/>
                      </a:cubicBezTo>
                      <a:cubicBezTo>
                        <a:pt x="7566" y="8573"/>
                        <a:pt x="7253" y="8507"/>
                        <a:pt x="6928" y="8507"/>
                      </a:cubicBezTo>
                      <a:cubicBezTo>
                        <a:pt x="6851" y="8507"/>
                        <a:pt x="6773" y="8510"/>
                        <a:pt x="6695" y="8518"/>
                      </a:cubicBezTo>
                      <a:cubicBezTo>
                        <a:pt x="6532" y="8544"/>
                        <a:pt x="6411" y="8681"/>
                        <a:pt x="6437" y="8844"/>
                      </a:cubicBezTo>
                      <a:cubicBezTo>
                        <a:pt x="6450" y="8999"/>
                        <a:pt x="6585" y="9104"/>
                        <a:pt x="6737" y="9104"/>
                      </a:cubicBezTo>
                      <a:cubicBezTo>
                        <a:pt x="6746" y="9104"/>
                        <a:pt x="6755" y="9103"/>
                        <a:pt x="6764" y="9102"/>
                      </a:cubicBezTo>
                      <a:cubicBezTo>
                        <a:pt x="6825" y="9095"/>
                        <a:pt x="6886" y="9092"/>
                        <a:pt x="6947" y="9092"/>
                      </a:cubicBezTo>
                      <a:cubicBezTo>
                        <a:pt x="7474" y="9092"/>
                        <a:pt x="7954" y="9354"/>
                        <a:pt x="8247" y="9756"/>
                      </a:cubicBezTo>
                      <a:cubicBezTo>
                        <a:pt x="8358" y="9961"/>
                        <a:pt x="8452" y="10177"/>
                        <a:pt x="8521" y="10409"/>
                      </a:cubicBezTo>
                      <a:cubicBezTo>
                        <a:pt x="8521" y="10438"/>
                        <a:pt x="8521" y="10464"/>
                        <a:pt x="8534" y="10490"/>
                      </a:cubicBezTo>
                      <a:cubicBezTo>
                        <a:pt x="8534" y="10533"/>
                        <a:pt x="8547" y="10559"/>
                        <a:pt x="8560" y="10601"/>
                      </a:cubicBezTo>
                      <a:cubicBezTo>
                        <a:pt x="8603" y="10778"/>
                        <a:pt x="8616" y="10967"/>
                        <a:pt x="8616" y="11157"/>
                      </a:cubicBezTo>
                      <a:cubicBezTo>
                        <a:pt x="8616" y="11891"/>
                        <a:pt x="8328" y="12587"/>
                        <a:pt x="7812" y="13103"/>
                      </a:cubicBezTo>
                      <a:cubicBezTo>
                        <a:pt x="7430" y="12695"/>
                        <a:pt x="6888" y="12437"/>
                        <a:pt x="6274" y="12424"/>
                      </a:cubicBezTo>
                      <a:cubicBezTo>
                        <a:pt x="6111" y="12424"/>
                        <a:pt x="5974" y="12561"/>
                        <a:pt x="5974" y="12724"/>
                      </a:cubicBezTo>
                      <a:cubicBezTo>
                        <a:pt x="5974" y="12871"/>
                        <a:pt x="6098" y="13008"/>
                        <a:pt x="6261" y="13008"/>
                      </a:cubicBezTo>
                      <a:cubicBezTo>
                        <a:pt x="6833" y="13021"/>
                        <a:pt x="7336" y="13335"/>
                        <a:pt x="7607" y="13799"/>
                      </a:cubicBezTo>
                      <a:cubicBezTo>
                        <a:pt x="7718" y="14031"/>
                        <a:pt x="7786" y="14275"/>
                        <a:pt x="7825" y="14520"/>
                      </a:cubicBezTo>
                      <a:lnTo>
                        <a:pt x="7825" y="14628"/>
                      </a:lnTo>
                      <a:cubicBezTo>
                        <a:pt x="7825" y="14667"/>
                        <a:pt x="7838" y="14710"/>
                        <a:pt x="7852" y="14749"/>
                      </a:cubicBezTo>
                      <a:lnTo>
                        <a:pt x="7852" y="14955"/>
                      </a:lnTo>
                      <a:cubicBezTo>
                        <a:pt x="7852" y="16055"/>
                        <a:pt x="7228" y="17022"/>
                        <a:pt x="6261" y="17486"/>
                      </a:cubicBezTo>
                      <a:cubicBezTo>
                        <a:pt x="6137" y="16656"/>
                        <a:pt x="5526" y="15948"/>
                        <a:pt x="4667" y="15716"/>
                      </a:cubicBezTo>
                      <a:cubicBezTo>
                        <a:pt x="4643" y="15710"/>
                        <a:pt x="4618" y="15707"/>
                        <a:pt x="4594" y="15707"/>
                      </a:cubicBezTo>
                      <a:cubicBezTo>
                        <a:pt x="4462" y="15707"/>
                        <a:pt x="4351" y="15796"/>
                        <a:pt x="4315" y="15935"/>
                      </a:cubicBezTo>
                      <a:cubicBezTo>
                        <a:pt x="4275" y="16085"/>
                        <a:pt x="4370" y="16248"/>
                        <a:pt x="4520" y="16287"/>
                      </a:cubicBezTo>
                      <a:cubicBezTo>
                        <a:pt x="5226" y="16464"/>
                        <a:pt x="5690" y="17104"/>
                        <a:pt x="5703" y="17799"/>
                      </a:cubicBezTo>
                      <a:cubicBezTo>
                        <a:pt x="5690" y="17839"/>
                        <a:pt x="5690" y="17881"/>
                        <a:pt x="5690" y="17920"/>
                      </a:cubicBezTo>
                      <a:lnTo>
                        <a:pt x="5690" y="18044"/>
                      </a:lnTo>
                      <a:lnTo>
                        <a:pt x="5690" y="18057"/>
                      </a:lnTo>
                      <a:cubicBezTo>
                        <a:pt x="5676" y="18113"/>
                        <a:pt x="5676" y="18165"/>
                        <a:pt x="5647" y="18221"/>
                      </a:cubicBezTo>
                      <a:cubicBezTo>
                        <a:pt x="5634" y="18276"/>
                        <a:pt x="5647" y="18328"/>
                        <a:pt x="5663" y="18384"/>
                      </a:cubicBezTo>
                      <a:cubicBezTo>
                        <a:pt x="5500" y="19269"/>
                        <a:pt x="4723" y="19935"/>
                        <a:pt x="3799" y="19935"/>
                      </a:cubicBezTo>
                      <a:cubicBezTo>
                        <a:pt x="3622" y="19935"/>
                        <a:pt x="3443" y="19909"/>
                        <a:pt x="3266" y="19867"/>
                      </a:cubicBezTo>
                      <a:cubicBezTo>
                        <a:pt x="3240" y="19854"/>
                        <a:pt x="3214" y="19854"/>
                        <a:pt x="3185" y="19854"/>
                      </a:cubicBezTo>
                      <a:cubicBezTo>
                        <a:pt x="2858" y="19690"/>
                        <a:pt x="2600" y="19377"/>
                        <a:pt x="2545" y="18982"/>
                      </a:cubicBezTo>
                      <a:cubicBezTo>
                        <a:pt x="2521" y="18845"/>
                        <a:pt x="2395" y="18733"/>
                        <a:pt x="2259" y="18733"/>
                      </a:cubicBezTo>
                      <a:cubicBezTo>
                        <a:pt x="2246" y="18733"/>
                        <a:pt x="2232" y="18734"/>
                        <a:pt x="2218" y="18737"/>
                      </a:cubicBezTo>
                      <a:cubicBezTo>
                        <a:pt x="2055" y="18766"/>
                        <a:pt x="1947" y="18913"/>
                        <a:pt x="1960" y="19076"/>
                      </a:cubicBezTo>
                      <a:cubicBezTo>
                        <a:pt x="2042" y="19648"/>
                        <a:pt x="2411" y="20112"/>
                        <a:pt x="2901" y="20356"/>
                      </a:cubicBezTo>
                      <a:lnTo>
                        <a:pt x="2901" y="20791"/>
                      </a:lnTo>
                      <a:cubicBezTo>
                        <a:pt x="2901" y="21379"/>
                        <a:pt x="2424" y="21852"/>
                        <a:pt x="1839" y="21852"/>
                      </a:cubicBezTo>
                      <a:cubicBezTo>
                        <a:pt x="1255" y="21852"/>
                        <a:pt x="778" y="21379"/>
                        <a:pt x="778" y="20791"/>
                      </a:cubicBezTo>
                      <a:lnTo>
                        <a:pt x="778" y="17567"/>
                      </a:lnTo>
                      <a:cubicBezTo>
                        <a:pt x="1075" y="17839"/>
                        <a:pt x="1483" y="18002"/>
                        <a:pt x="1921" y="18002"/>
                      </a:cubicBezTo>
                      <a:cubicBezTo>
                        <a:pt x="2260" y="18002"/>
                        <a:pt x="2574" y="17907"/>
                        <a:pt x="2845" y="17744"/>
                      </a:cubicBezTo>
                      <a:cubicBezTo>
                        <a:pt x="2974" y="17690"/>
                        <a:pt x="3110" y="17663"/>
                        <a:pt x="3248" y="17663"/>
                      </a:cubicBezTo>
                      <a:cubicBezTo>
                        <a:pt x="3386" y="17663"/>
                        <a:pt x="3526" y="17690"/>
                        <a:pt x="3661" y="17744"/>
                      </a:cubicBezTo>
                      <a:cubicBezTo>
                        <a:pt x="3949" y="17852"/>
                        <a:pt x="4164" y="18070"/>
                        <a:pt x="4288" y="18341"/>
                      </a:cubicBezTo>
                      <a:cubicBezTo>
                        <a:pt x="4328" y="18452"/>
                        <a:pt x="4439" y="18521"/>
                        <a:pt x="4560" y="18521"/>
                      </a:cubicBezTo>
                      <a:cubicBezTo>
                        <a:pt x="4586" y="18521"/>
                        <a:pt x="4628" y="18505"/>
                        <a:pt x="4667" y="18492"/>
                      </a:cubicBezTo>
                      <a:cubicBezTo>
                        <a:pt x="4818" y="18423"/>
                        <a:pt x="4886" y="18260"/>
                        <a:pt x="4818" y="18113"/>
                      </a:cubicBezTo>
                      <a:cubicBezTo>
                        <a:pt x="4641" y="17688"/>
                        <a:pt x="4302" y="17362"/>
                        <a:pt x="3880" y="17198"/>
                      </a:cubicBezTo>
                      <a:cubicBezTo>
                        <a:pt x="3743" y="17133"/>
                        <a:pt x="3593" y="17104"/>
                        <a:pt x="3443" y="17091"/>
                      </a:cubicBezTo>
                      <a:cubicBezTo>
                        <a:pt x="3580" y="16846"/>
                        <a:pt x="3648" y="16562"/>
                        <a:pt x="3648" y="16274"/>
                      </a:cubicBezTo>
                      <a:lnTo>
                        <a:pt x="3648" y="15036"/>
                      </a:lnTo>
                      <a:cubicBezTo>
                        <a:pt x="3648" y="14873"/>
                        <a:pt x="3511" y="14736"/>
                        <a:pt x="3348" y="14736"/>
                      </a:cubicBezTo>
                      <a:cubicBezTo>
                        <a:pt x="3185" y="14736"/>
                        <a:pt x="3064" y="14873"/>
                        <a:pt x="3064" y="15036"/>
                      </a:cubicBezTo>
                      <a:lnTo>
                        <a:pt x="3064" y="16274"/>
                      </a:lnTo>
                      <a:cubicBezTo>
                        <a:pt x="3064" y="16656"/>
                        <a:pt x="2858" y="17009"/>
                        <a:pt x="2574" y="17215"/>
                      </a:cubicBezTo>
                      <a:lnTo>
                        <a:pt x="2561" y="17215"/>
                      </a:lnTo>
                      <a:cubicBezTo>
                        <a:pt x="2531" y="17228"/>
                        <a:pt x="2505" y="17241"/>
                        <a:pt x="2479" y="17267"/>
                      </a:cubicBezTo>
                      <a:cubicBezTo>
                        <a:pt x="2316" y="17362"/>
                        <a:pt x="2123" y="17417"/>
                        <a:pt x="1921" y="17417"/>
                      </a:cubicBezTo>
                      <a:cubicBezTo>
                        <a:pt x="1281" y="17417"/>
                        <a:pt x="778" y="16901"/>
                        <a:pt x="778" y="16274"/>
                      </a:cubicBezTo>
                      <a:lnTo>
                        <a:pt x="778" y="15595"/>
                      </a:lnTo>
                      <a:cubicBezTo>
                        <a:pt x="1049" y="15784"/>
                        <a:pt x="1388" y="15892"/>
                        <a:pt x="1757" y="15892"/>
                      </a:cubicBezTo>
                      <a:cubicBezTo>
                        <a:pt x="1908" y="15892"/>
                        <a:pt x="2042" y="15771"/>
                        <a:pt x="2042" y="15608"/>
                      </a:cubicBezTo>
                      <a:cubicBezTo>
                        <a:pt x="2042" y="15445"/>
                        <a:pt x="1908" y="15307"/>
                        <a:pt x="1757" y="15307"/>
                      </a:cubicBezTo>
                      <a:cubicBezTo>
                        <a:pt x="1104" y="15307"/>
                        <a:pt x="585" y="14791"/>
                        <a:pt x="585" y="14138"/>
                      </a:cubicBezTo>
                      <a:cubicBezTo>
                        <a:pt x="585" y="13498"/>
                        <a:pt x="1104" y="12969"/>
                        <a:pt x="1757" y="12969"/>
                      </a:cubicBezTo>
                      <a:lnTo>
                        <a:pt x="1921" y="12969"/>
                      </a:lnTo>
                      <a:cubicBezTo>
                        <a:pt x="2871" y="12969"/>
                        <a:pt x="3648" y="12192"/>
                        <a:pt x="3648" y="11238"/>
                      </a:cubicBezTo>
                      <a:lnTo>
                        <a:pt x="3648" y="10340"/>
                      </a:lnTo>
                      <a:cubicBezTo>
                        <a:pt x="4831" y="10206"/>
                        <a:pt x="5758" y="9197"/>
                        <a:pt x="5758" y="7989"/>
                      </a:cubicBezTo>
                      <a:cubicBezTo>
                        <a:pt x="5758" y="6682"/>
                        <a:pt x="4710" y="5634"/>
                        <a:pt x="3417" y="5621"/>
                      </a:cubicBezTo>
                      <a:cubicBezTo>
                        <a:pt x="3159" y="5089"/>
                        <a:pt x="2613" y="4707"/>
                        <a:pt x="1973" y="4707"/>
                      </a:cubicBezTo>
                      <a:cubicBezTo>
                        <a:pt x="1810" y="4707"/>
                        <a:pt x="1689" y="4844"/>
                        <a:pt x="1689" y="5007"/>
                      </a:cubicBezTo>
                      <a:cubicBezTo>
                        <a:pt x="1689" y="5170"/>
                        <a:pt x="1810" y="5308"/>
                        <a:pt x="1973" y="5308"/>
                      </a:cubicBezTo>
                      <a:cubicBezTo>
                        <a:pt x="2531" y="5308"/>
                        <a:pt x="2982" y="5755"/>
                        <a:pt x="2982" y="6313"/>
                      </a:cubicBezTo>
                      <a:cubicBezTo>
                        <a:pt x="2982" y="6872"/>
                        <a:pt x="2531" y="7319"/>
                        <a:pt x="1973" y="7319"/>
                      </a:cubicBezTo>
                      <a:cubicBezTo>
                        <a:pt x="1810" y="7319"/>
                        <a:pt x="1689" y="7456"/>
                        <a:pt x="1689" y="7620"/>
                      </a:cubicBezTo>
                      <a:cubicBezTo>
                        <a:pt x="1689" y="7783"/>
                        <a:pt x="1810" y="7907"/>
                        <a:pt x="1973" y="7907"/>
                      </a:cubicBezTo>
                      <a:cubicBezTo>
                        <a:pt x="2858" y="7907"/>
                        <a:pt x="3580" y="7198"/>
                        <a:pt x="3580" y="6313"/>
                      </a:cubicBezTo>
                      <a:cubicBezTo>
                        <a:pt x="3580" y="6274"/>
                        <a:pt x="3567" y="6245"/>
                        <a:pt x="3567" y="6219"/>
                      </a:cubicBezTo>
                      <a:lnTo>
                        <a:pt x="3567" y="6219"/>
                      </a:lnTo>
                      <a:cubicBezTo>
                        <a:pt x="4465" y="6300"/>
                        <a:pt x="5174" y="7061"/>
                        <a:pt x="5174" y="7989"/>
                      </a:cubicBezTo>
                      <a:cubicBezTo>
                        <a:pt x="5174" y="8844"/>
                        <a:pt x="4560" y="9566"/>
                        <a:pt x="3730" y="9729"/>
                      </a:cubicBezTo>
                      <a:lnTo>
                        <a:pt x="3635" y="9729"/>
                      </a:lnTo>
                      <a:cubicBezTo>
                        <a:pt x="3551" y="9748"/>
                        <a:pt x="3467" y="9757"/>
                        <a:pt x="3384" y="9757"/>
                      </a:cubicBezTo>
                      <a:cubicBezTo>
                        <a:pt x="2860" y="9757"/>
                        <a:pt x="2379" y="9399"/>
                        <a:pt x="2260" y="8858"/>
                      </a:cubicBezTo>
                      <a:cubicBezTo>
                        <a:pt x="2238" y="8721"/>
                        <a:pt x="2120" y="8632"/>
                        <a:pt x="1986" y="8632"/>
                      </a:cubicBezTo>
                      <a:cubicBezTo>
                        <a:pt x="1960" y="8632"/>
                        <a:pt x="1934" y="8635"/>
                        <a:pt x="1908" y="8642"/>
                      </a:cubicBezTo>
                      <a:cubicBezTo>
                        <a:pt x="1757" y="8668"/>
                        <a:pt x="1646" y="8831"/>
                        <a:pt x="1689" y="8982"/>
                      </a:cubicBezTo>
                      <a:cubicBezTo>
                        <a:pt x="1839" y="9687"/>
                        <a:pt x="2398" y="10193"/>
                        <a:pt x="3064" y="10314"/>
                      </a:cubicBezTo>
                      <a:lnTo>
                        <a:pt x="3064" y="11238"/>
                      </a:lnTo>
                      <a:cubicBezTo>
                        <a:pt x="3064" y="11865"/>
                        <a:pt x="2545" y="12381"/>
                        <a:pt x="1921" y="12381"/>
                      </a:cubicBezTo>
                      <a:cubicBezTo>
                        <a:pt x="1281" y="12381"/>
                        <a:pt x="778" y="11865"/>
                        <a:pt x="778" y="11238"/>
                      </a:cubicBezTo>
                      <a:lnTo>
                        <a:pt x="778" y="1647"/>
                      </a:lnTo>
                      <a:cubicBezTo>
                        <a:pt x="778" y="1062"/>
                        <a:pt x="1255" y="585"/>
                        <a:pt x="1839" y="585"/>
                      </a:cubicBezTo>
                      <a:close/>
                      <a:moveTo>
                        <a:pt x="1839" y="1"/>
                      </a:moveTo>
                      <a:cubicBezTo>
                        <a:pt x="928" y="1"/>
                        <a:pt x="193" y="735"/>
                        <a:pt x="193" y="1647"/>
                      </a:cubicBezTo>
                      <a:lnTo>
                        <a:pt x="193" y="11238"/>
                      </a:lnTo>
                      <a:cubicBezTo>
                        <a:pt x="193" y="11797"/>
                        <a:pt x="451" y="12300"/>
                        <a:pt x="872" y="12626"/>
                      </a:cubicBezTo>
                      <a:cubicBezTo>
                        <a:pt x="356" y="12927"/>
                        <a:pt x="0" y="13498"/>
                        <a:pt x="0" y="14138"/>
                      </a:cubicBezTo>
                      <a:cubicBezTo>
                        <a:pt x="0" y="14422"/>
                        <a:pt x="69" y="14697"/>
                        <a:pt x="193" y="14942"/>
                      </a:cubicBezTo>
                      <a:lnTo>
                        <a:pt x="193" y="14968"/>
                      </a:lnTo>
                      <a:lnTo>
                        <a:pt x="193" y="20791"/>
                      </a:lnTo>
                      <a:cubicBezTo>
                        <a:pt x="193" y="21705"/>
                        <a:pt x="928" y="22440"/>
                        <a:pt x="1839" y="22440"/>
                      </a:cubicBezTo>
                      <a:cubicBezTo>
                        <a:pt x="2750" y="22440"/>
                        <a:pt x="3485" y="21705"/>
                        <a:pt x="3485" y="20791"/>
                      </a:cubicBezTo>
                      <a:lnTo>
                        <a:pt x="3485" y="20533"/>
                      </a:lnTo>
                      <a:cubicBezTo>
                        <a:pt x="3541" y="20546"/>
                        <a:pt x="3606" y="20546"/>
                        <a:pt x="3661" y="20546"/>
                      </a:cubicBezTo>
                      <a:cubicBezTo>
                        <a:pt x="3743" y="20546"/>
                        <a:pt x="3825" y="20533"/>
                        <a:pt x="3906" y="20533"/>
                      </a:cubicBezTo>
                      <a:cubicBezTo>
                        <a:pt x="3933" y="20520"/>
                        <a:pt x="3949" y="20520"/>
                        <a:pt x="3962" y="20520"/>
                      </a:cubicBezTo>
                      <a:cubicBezTo>
                        <a:pt x="5226" y="20438"/>
                        <a:pt x="6235" y="19390"/>
                        <a:pt x="6274" y="18113"/>
                      </a:cubicBezTo>
                      <a:cubicBezTo>
                        <a:pt x="7580" y="17607"/>
                        <a:pt x="8452" y="16369"/>
                        <a:pt x="8452" y="14955"/>
                      </a:cubicBezTo>
                      <a:cubicBezTo>
                        <a:pt x="8452" y="14791"/>
                        <a:pt x="8439" y="14628"/>
                        <a:pt x="8410" y="14465"/>
                      </a:cubicBezTo>
                      <a:cubicBezTo>
                        <a:pt x="8384" y="14151"/>
                        <a:pt x="8302" y="13851"/>
                        <a:pt x="8165" y="13593"/>
                      </a:cubicBezTo>
                      <a:cubicBezTo>
                        <a:pt x="8831" y="12953"/>
                        <a:pt x="9200" y="12084"/>
                        <a:pt x="9200" y="11157"/>
                      </a:cubicBezTo>
                      <a:cubicBezTo>
                        <a:pt x="9200" y="10846"/>
                        <a:pt x="9158" y="10546"/>
                        <a:pt x="9076" y="10259"/>
                      </a:cubicBezTo>
                      <a:cubicBezTo>
                        <a:pt x="9024" y="9961"/>
                        <a:pt x="8913" y="9687"/>
                        <a:pt x="8750" y="9458"/>
                      </a:cubicBezTo>
                      <a:cubicBezTo>
                        <a:pt x="8642" y="9279"/>
                        <a:pt x="8521" y="9116"/>
                        <a:pt x="8384" y="8952"/>
                      </a:cubicBezTo>
                      <a:cubicBezTo>
                        <a:pt x="8766" y="8342"/>
                        <a:pt x="8942" y="7633"/>
                        <a:pt x="8900" y="6911"/>
                      </a:cubicBezTo>
                      <a:cubicBezTo>
                        <a:pt x="8831" y="6111"/>
                        <a:pt x="8492" y="5334"/>
                        <a:pt x="7920" y="4762"/>
                      </a:cubicBezTo>
                      <a:cubicBezTo>
                        <a:pt x="7580" y="4423"/>
                        <a:pt x="7159" y="4165"/>
                        <a:pt x="6725" y="3988"/>
                      </a:cubicBezTo>
                      <a:cubicBezTo>
                        <a:pt x="6708" y="3782"/>
                        <a:pt x="6682" y="3580"/>
                        <a:pt x="6614" y="3374"/>
                      </a:cubicBezTo>
                      <a:cubicBezTo>
                        <a:pt x="6562" y="3142"/>
                        <a:pt x="6450" y="2910"/>
                        <a:pt x="6300" y="2708"/>
                      </a:cubicBezTo>
                      <a:cubicBezTo>
                        <a:pt x="6219" y="2571"/>
                        <a:pt x="6111" y="2437"/>
                        <a:pt x="5990" y="2326"/>
                      </a:cubicBezTo>
                      <a:cubicBezTo>
                        <a:pt x="5521" y="1847"/>
                        <a:pt x="4883" y="1600"/>
                        <a:pt x="4238" y="1600"/>
                      </a:cubicBezTo>
                      <a:cubicBezTo>
                        <a:pt x="3985" y="1600"/>
                        <a:pt x="3731" y="1638"/>
                        <a:pt x="3485" y="1715"/>
                      </a:cubicBezTo>
                      <a:lnTo>
                        <a:pt x="3485" y="1647"/>
                      </a:lnTo>
                      <a:cubicBezTo>
                        <a:pt x="3485" y="735"/>
                        <a:pt x="2750" y="1"/>
                        <a:pt x="183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" name="Google Shape;96;p16">
                <a:extLst>
                  <a:ext uri="{FF2B5EF4-FFF2-40B4-BE49-F238E27FC236}">
                    <a16:creationId xmlns:a16="http://schemas.microsoft.com/office/drawing/2014/main" id="{F0DAAF43-45AA-4739-D347-1B639D417316}"/>
                  </a:ext>
                </a:extLst>
              </p:cNvPr>
              <p:cNvSpPr/>
              <p:nvPr/>
            </p:nvSpPr>
            <p:spPr>
              <a:xfrm>
                <a:off x="5008901" y="2671843"/>
                <a:ext cx="703283" cy="681400"/>
              </a:xfrm>
              <a:custGeom>
                <a:avLst/>
                <a:gdLst/>
                <a:ahLst/>
                <a:cxnLst/>
                <a:rect l="l" t="t" r="r" b="b"/>
                <a:pathLst>
                  <a:path w="4818" h="4668" extrusionOk="0">
                    <a:moveTo>
                      <a:pt x="4478" y="1"/>
                    </a:moveTo>
                    <a:cubicBezTo>
                      <a:pt x="3009" y="1"/>
                      <a:pt x="1797" y="1144"/>
                      <a:pt x="1689" y="2601"/>
                    </a:cubicBezTo>
                    <a:cubicBezTo>
                      <a:pt x="1566" y="2583"/>
                      <a:pt x="1442" y="2575"/>
                      <a:pt x="1317" y="2575"/>
                    </a:cubicBezTo>
                    <a:cubicBezTo>
                      <a:pt x="944" y="2575"/>
                      <a:pt x="567" y="2651"/>
                      <a:pt x="220" y="2803"/>
                    </a:cubicBezTo>
                    <a:cubicBezTo>
                      <a:pt x="69" y="2872"/>
                      <a:pt x="1" y="3048"/>
                      <a:pt x="56" y="3198"/>
                    </a:cubicBezTo>
                    <a:cubicBezTo>
                      <a:pt x="107" y="3309"/>
                      <a:pt x="216" y="3375"/>
                      <a:pt x="329" y="3375"/>
                    </a:cubicBezTo>
                    <a:cubicBezTo>
                      <a:pt x="370" y="3375"/>
                      <a:pt x="412" y="3367"/>
                      <a:pt x="452" y="3348"/>
                    </a:cubicBezTo>
                    <a:cubicBezTo>
                      <a:pt x="736" y="3227"/>
                      <a:pt x="1035" y="3166"/>
                      <a:pt x="1333" y="3166"/>
                    </a:cubicBezTo>
                    <a:cubicBezTo>
                      <a:pt x="1606" y="3166"/>
                      <a:pt x="1879" y="3218"/>
                      <a:pt x="2140" y="3322"/>
                    </a:cubicBezTo>
                    <a:cubicBezTo>
                      <a:pt x="2682" y="3538"/>
                      <a:pt x="3120" y="3959"/>
                      <a:pt x="3348" y="4491"/>
                    </a:cubicBezTo>
                    <a:cubicBezTo>
                      <a:pt x="3404" y="4612"/>
                      <a:pt x="3512" y="4668"/>
                      <a:pt x="3623" y="4668"/>
                    </a:cubicBezTo>
                    <a:cubicBezTo>
                      <a:pt x="3662" y="4668"/>
                      <a:pt x="3704" y="4668"/>
                      <a:pt x="3743" y="4655"/>
                    </a:cubicBezTo>
                    <a:cubicBezTo>
                      <a:pt x="3894" y="4586"/>
                      <a:pt x="3962" y="4410"/>
                      <a:pt x="3894" y="4260"/>
                    </a:cubicBezTo>
                    <a:cubicBezTo>
                      <a:pt x="3593" y="3580"/>
                      <a:pt x="3051" y="3048"/>
                      <a:pt x="2355" y="2777"/>
                    </a:cubicBezTo>
                    <a:cubicBezTo>
                      <a:pt x="2329" y="2764"/>
                      <a:pt x="2303" y="2751"/>
                      <a:pt x="2274" y="2751"/>
                    </a:cubicBezTo>
                    <a:cubicBezTo>
                      <a:pt x="2303" y="1539"/>
                      <a:pt x="3283" y="586"/>
                      <a:pt x="4478" y="586"/>
                    </a:cubicBezTo>
                    <a:lnTo>
                      <a:pt x="4521" y="586"/>
                    </a:lnTo>
                    <a:cubicBezTo>
                      <a:pt x="4684" y="586"/>
                      <a:pt x="4818" y="448"/>
                      <a:pt x="4818" y="285"/>
                    </a:cubicBezTo>
                    <a:cubicBezTo>
                      <a:pt x="4818" y="138"/>
                      <a:pt x="4684" y="1"/>
                      <a:pt x="452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97;p16">
                <a:extLst>
                  <a:ext uri="{FF2B5EF4-FFF2-40B4-BE49-F238E27FC236}">
                    <a16:creationId xmlns:a16="http://schemas.microsoft.com/office/drawing/2014/main" id="{9DC973A4-8A21-7E2F-9EFB-32DF050369FD}"/>
                  </a:ext>
                </a:extLst>
              </p:cNvPr>
              <p:cNvSpPr/>
              <p:nvPr/>
            </p:nvSpPr>
            <p:spPr>
              <a:xfrm flipH="1">
                <a:off x="3520476" y="2671843"/>
                <a:ext cx="703283" cy="681400"/>
              </a:xfrm>
              <a:custGeom>
                <a:avLst/>
                <a:gdLst/>
                <a:ahLst/>
                <a:cxnLst/>
                <a:rect l="l" t="t" r="r" b="b"/>
                <a:pathLst>
                  <a:path w="4818" h="4668" extrusionOk="0">
                    <a:moveTo>
                      <a:pt x="4478" y="1"/>
                    </a:moveTo>
                    <a:cubicBezTo>
                      <a:pt x="3009" y="1"/>
                      <a:pt x="1797" y="1144"/>
                      <a:pt x="1689" y="2601"/>
                    </a:cubicBezTo>
                    <a:cubicBezTo>
                      <a:pt x="1566" y="2583"/>
                      <a:pt x="1442" y="2575"/>
                      <a:pt x="1317" y="2575"/>
                    </a:cubicBezTo>
                    <a:cubicBezTo>
                      <a:pt x="944" y="2575"/>
                      <a:pt x="567" y="2651"/>
                      <a:pt x="220" y="2803"/>
                    </a:cubicBezTo>
                    <a:cubicBezTo>
                      <a:pt x="69" y="2872"/>
                      <a:pt x="1" y="3048"/>
                      <a:pt x="56" y="3198"/>
                    </a:cubicBezTo>
                    <a:cubicBezTo>
                      <a:pt x="107" y="3309"/>
                      <a:pt x="216" y="3375"/>
                      <a:pt x="329" y="3375"/>
                    </a:cubicBezTo>
                    <a:cubicBezTo>
                      <a:pt x="370" y="3375"/>
                      <a:pt x="412" y="3367"/>
                      <a:pt x="452" y="3348"/>
                    </a:cubicBezTo>
                    <a:cubicBezTo>
                      <a:pt x="736" y="3227"/>
                      <a:pt x="1035" y="3166"/>
                      <a:pt x="1333" y="3166"/>
                    </a:cubicBezTo>
                    <a:cubicBezTo>
                      <a:pt x="1606" y="3166"/>
                      <a:pt x="1879" y="3218"/>
                      <a:pt x="2140" y="3322"/>
                    </a:cubicBezTo>
                    <a:cubicBezTo>
                      <a:pt x="2682" y="3538"/>
                      <a:pt x="3120" y="3959"/>
                      <a:pt x="3348" y="4491"/>
                    </a:cubicBezTo>
                    <a:cubicBezTo>
                      <a:pt x="3404" y="4612"/>
                      <a:pt x="3512" y="4668"/>
                      <a:pt x="3623" y="4668"/>
                    </a:cubicBezTo>
                    <a:cubicBezTo>
                      <a:pt x="3662" y="4668"/>
                      <a:pt x="3704" y="4668"/>
                      <a:pt x="3743" y="4655"/>
                    </a:cubicBezTo>
                    <a:cubicBezTo>
                      <a:pt x="3894" y="4586"/>
                      <a:pt x="3962" y="4410"/>
                      <a:pt x="3894" y="4260"/>
                    </a:cubicBezTo>
                    <a:cubicBezTo>
                      <a:pt x="3593" y="3580"/>
                      <a:pt x="3051" y="3048"/>
                      <a:pt x="2355" y="2777"/>
                    </a:cubicBezTo>
                    <a:cubicBezTo>
                      <a:pt x="2329" y="2764"/>
                      <a:pt x="2303" y="2751"/>
                      <a:pt x="2274" y="2751"/>
                    </a:cubicBezTo>
                    <a:cubicBezTo>
                      <a:pt x="2303" y="1539"/>
                      <a:pt x="3283" y="586"/>
                      <a:pt x="4478" y="586"/>
                    </a:cubicBezTo>
                    <a:lnTo>
                      <a:pt x="4521" y="586"/>
                    </a:lnTo>
                    <a:cubicBezTo>
                      <a:pt x="4684" y="586"/>
                      <a:pt x="4818" y="448"/>
                      <a:pt x="4818" y="285"/>
                    </a:cubicBezTo>
                    <a:cubicBezTo>
                      <a:pt x="4818" y="138"/>
                      <a:pt x="4684" y="1"/>
                      <a:pt x="452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" name="Google Shape;940;p40">
              <a:extLst>
                <a:ext uri="{FF2B5EF4-FFF2-40B4-BE49-F238E27FC236}">
                  <a16:creationId xmlns:a16="http://schemas.microsoft.com/office/drawing/2014/main" id="{868F970E-0B71-A6A7-9872-5D9EAB83CD2D}"/>
                </a:ext>
              </a:extLst>
            </p:cNvPr>
            <p:cNvSpPr/>
            <p:nvPr/>
          </p:nvSpPr>
          <p:spPr>
            <a:xfrm>
              <a:off x="569143" y="2313057"/>
              <a:ext cx="2214386" cy="1031036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74300" tIns="91425" rIns="274300" bIns="91425" anchor="ctr" anchorCtr="0">
              <a:noAutofit/>
            </a:bodyPr>
            <a:lstStyle/>
            <a:p>
              <a:pPr lvl="0" algn="ctr"/>
              <a:r>
                <a:rPr lang="it-IT" dirty="0">
                  <a:latin typeface="Fira Sans"/>
                  <a:ea typeface="Fira Sans"/>
                  <a:cs typeface="Fira Sans"/>
                  <a:sym typeface="Fira Sans"/>
                </a:rPr>
                <a:t>Mappatura in uno spazio 3D con coordinate univoche</a:t>
              </a:r>
            </a:p>
          </p:txBody>
        </p:sp>
        <p:sp>
          <p:nvSpPr>
            <p:cNvPr id="17" name="Google Shape;940;p40">
              <a:extLst>
                <a:ext uri="{FF2B5EF4-FFF2-40B4-BE49-F238E27FC236}">
                  <a16:creationId xmlns:a16="http://schemas.microsoft.com/office/drawing/2014/main" id="{86AE0314-B422-42DB-FFA4-1529351AAD44}"/>
                </a:ext>
              </a:extLst>
            </p:cNvPr>
            <p:cNvSpPr/>
            <p:nvPr/>
          </p:nvSpPr>
          <p:spPr>
            <a:xfrm>
              <a:off x="6360470" y="2313057"/>
              <a:ext cx="2214386" cy="1031036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274300" tIns="91425" rIns="274300" bIns="91425" anchor="ctr" anchorCtr="0">
              <a:noAutofit/>
            </a:bodyPr>
            <a:lstStyle/>
            <a:p>
              <a:pPr algn="ctr"/>
              <a:r>
                <a:rPr lang="en-US" dirty="0">
                  <a:latin typeface="Fira Sans" panose="020B0503050000020004" pitchFamily="34" charset="0"/>
                </a:rPr>
                <a:t>Correlazione </a:t>
              </a:r>
              <a:r>
                <a:rPr lang="en-US" dirty="0" err="1">
                  <a:latin typeface="Fira Sans" panose="020B0503050000020004" pitchFamily="34" charset="0"/>
                </a:rPr>
                <a:t>tra</a:t>
              </a:r>
              <a:r>
                <a:rPr lang="en-US" dirty="0">
                  <a:latin typeface="Fira Sans" panose="020B0503050000020004" pitchFamily="34" charset="0"/>
                </a:rPr>
                <a:t> spazio </a:t>
              </a:r>
              <a:r>
                <a:rPr lang="en-US" dirty="0" err="1">
                  <a:latin typeface="Fira Sans" panose="020B0503050000020004" pitchFamily="34" charset="0"/>
                </a:rPr>
                <a:t>virtuale</a:t>
              </a:r>
              <a:r>
                <a:rPr lang="en-US" dirty="0">
                  <a:latin typeface="Fira Sans" panose="020B0503050000020004" pitchFamily="34" charset="0"/>
                </a:rPr>
                <a:t> e spazio </a:t>
              </a:r>
              <a:r>
                <a:rPr lang="en-US" dirty="0" err="1">
                  <a:latin typeface="Fira Sans" panose="020B0503050000020004" pitchFamily="34" charset="0"/>
                </a:rPr>
                <a:t>reale</a:t>
              </a:r>
              <a:r>
                <a:rPr lang="en-US" dirty="0">
                  <a:latin typeface="Fira Sans" panose="020B0503050000020004" pitchFamily="34" charset="0"/>
                </a:rPr>
                <a:t> </a:t>
              </a:r>
              <a:endParaRPr lang="it-IT" dirty="0">
                <a:effectLst/>
                <a:latin typeface="Fira Sans" panose="020B0503050000020004" pitchFamily="34" charset="0"/>
              </a:endParaRPr>
            </a:p>
          </p:txBody>
        </p:sp>
        <p:cxnSp>
          <p:nvCxnSpPr>
            <p:cNvPr id="18" name="Google Shape;136;p18">
              <a:extLst>
                <a:ext uri="{FF2B5EF4-FFF2-40B4-BE49-F238E27FC236}">
                  <a16:creationId xmlns:a16="http://schemas.microsoft.com/office/drawing/2014/main" id="{0C0AE482-8F32-5469-7A18-77A9161A87E0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>
              <a:off x="2783529" y="2828575"/>
              <a:ext cx="813595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cxnSp>
          <p:nvCxnSpPr>
            <p:cNvPr id="23" name="Google Shape;136;p18">
              <a:extLst>
                <a:ext uri="{FF2B5EF4-FFF2-40B4-BE49-F238E27FC236}">
                  <a16:creationId xmlns:a16="http://schemas.microsoft.com/office/drawing/2014/main" id="{F02D1441-5507-5EA7-1EC0-CAB5EAA65587}"/>
                </a:ext>
              </a:extLst>
            </p:cNvPr>
            <p:cNvCxnSpPr>
              <a:cxnSpLocks/>
            </p:cNvCxnSpPr>
            <p:nvPr/>
          </p:nvCxnSpPr>
          <p:spPr>
            <a:xfrm>
              <a:off x="5546875" y="2789903"/>
              <a:ext cx="813595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oval" w="med" len="med"/>
              <a:tailEnd type="oval" w="med" len="med"/>
            </a:ln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2439ACFF-4B38-CF2B-7B1A-E1C3EB0C1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>
            <a:extLst>
              <a:ext uri="{FF2B5EF4-FFF2-40B4-BE49-F238E27FC236}">
                <a16:creationId xmlns:a16="http://schemas.microsoft.com/office/drawing/2014/main" id="{B6B3F059-BB79-960D-9076-509B23E843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Stereotassi Frame - Based</a:t>
            </a:r>
            <a:endParaRPr sz="2800" dirty="0"/>
          </a:p>
        </p:txBody>
      </p:sp>
      <p:pic>
        <p:nvPicPr>
          <p:cNvPr id="3" name="Immagine 2" descr="Immagine che contiene giallo, metallo, giocattolo&#10;&#10;Il contenuto generato dall'IA potrebbe non essere corretto.">
            <a:extLst>
              <a:ext uri="{FF2B5EF4-FFF2-40B4-BE49-F238E27FC236}">
                <a16:creationId xmlns:a16="http://schemas.microsoft.com/office/drawing/2014/main" id="{4414766B-F633-8045-A9A7-35F719962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457" y="1075713"/>
            <a:ext cx="1752742" cy="1586299"/>
          </a:xfrm>
          <a:prstGeom prst="rect">
            <a:avLst/>
          </a:prstGeom>
        </p:spPr>
      </p:pic>
      <p:pic>
        <p:nvPicPr>
          <p:cNvPr id="5" name="Immagine 4" descr="The image shows a complex, mechanical device with a transparent, circular structure, likely an optical or measuring instrument, being adjusted or manipulated, and includes a series of technical identifiers and model numbers.&#10;&#10;Il contenuto generato dall'IA potrebbe non essere corretto.">
            <a:extLst>
              <a:ext uri="{FF2B5EF4-FFF2-40B4-BE49-F238E27FC236}">
                <a16:creationId xmlns:a16="http://schemas.microsoft.com/office/drawing/2014/main" id="{E9E187C3-21D1-AD5C-C01A-21CE09D8DE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457" y="2857575"/>
            <a:ext cx="1752742" cy="1715316"/>
          </a:xfrm>
          <a:prstGeom prst="rect">
            <a:avLst/>
          </a:prstGeom>
        </p:spPr>
      </p:pic>
      <p:sp>
        <p:nvSpPr>
          <p:cNvPr id="2" name="Google Shape;113;p17">
            <a:extLst>
              <a:ext uri="{FF2B5EF4-FFF2-40B4-BE49-F238E27FC236}">
                <a16:creationId xmlns:a16="http://schemas.microsoft.com/office/drawing/2014/main" id="{DAEC4917-9F4C-B89A-2FAF-6E56F5B4D819}"/>
              </a:ext>
            </a:extLst>
          </p:cNvPr>
          <p:cNvSpPr txBox="1"/>
          <p:nvPr/>
        </p:nvSpPr>
        <p:spPr>
          <a:xfrm>
            <a:off x="3141656" y="763037"/>
            <a:ext cx="5321482" cy="1586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dirty="0">
                <a:latin typeface="Fira Sans"/>
                <a:ea typeface="Fira Sans"/>
                <a:cs typeface="Fira Sans"/>
                <a:sym typeface="Fira Sans"/>
              </a:rPr>
              <a:t>V</a:t>
            </a:r>
            <a:r>
              <a:rPr lang="en" sz="1200" dirty="0">
                <a:latin typeface="Fira Sans"/>
                <a:ea typeface="Fira Sans"/>
                <a:cs typeface="Fira Sans"/>
                <a:sym typeface="Fira Sans"/>
              </a:rPr>
              <a:t>iene utilizzato un </a:t>
            </a:r>
            <a:r>
              <a:rPr lang="en" sz="1200" b="1" dirty="0">
                <a:latin typeface="Fira Sans"/>
                <a:ea typeface="Fira Sans"/>
                <a:cs typeface="Fira Sans"/>
                <a:sym typeface="Fira Sans"/>
              </a:rPr>
              <a:t>casco stereotassico </a:t>
            </a:r>
            <a:r>
              <a:rPr lang="en" sz="1200" dirty="0">
                <a:latin typeface="Fira Sans"/>
                <a:ea typeface="Fira Sans"/>
                <a:cs typeface="Fira Sans"/>
                <a:sym typeface="Fira Sans"/>
              </a:rPr>
              <a:t>per stabilire una corrispondenza tra lo spazio virtuale (immagini diagnostiche) e lo spazio fisico reale.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200" dirty="0"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dirty="0">
                <a:latin typeface="Fira Sans"/>
                <a:ea typeface="Fira Sans"/>
                <a:cs typeface="Fira Sans"/>
                <a:sym typeface="Fira Sans"/>
              </a:rPr>
              <a:t>Il sistema si basa su 3 componenti:</a:t>
            </a: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E19D16AF-C6DD-6493-135C-251390670BAC}"/>
              </a:ext>
            </a:extLst>
          </p:cNvPr>
          <p:cNvGrpSpPr/>
          <p:nvPr/>
        </p:nvGrpSpPr>
        <p:grpSpPr>
          <a:xfrm>
            <a:off x="3025080" y="2161276"/>
            <a:ext cx="5720159" cy="2362459"/>
            <a:chOff x="4171948" y="2120025"/>
            <a:chExt cx="4291190" cy="2362459"/>
          </a:xfrm>
        </p:grpSpPr>
        <p:sp>
          <p:nvSpPr>
            <p:cNvPr id="4" name="Google Shape;109;p17">
              <a:extLst>
                <a:ext uri="{FF2B5EF4-FFF2-40B4-BE49-F238E27FC236}">
                  <a16:creationId xmlns:a16="http://schemas.microsoft.com/office/drawing/2014/main" id="{1A9CC5A2-5843-211D-3450-DABAAA34D07D}"/>
                </a:ext>
              </a:extLst>
            </p:cNvPr>
            <p:cNvSpPr/>
            <p:nvPr/>
          </p:nvSpPr>
          <p:spPr>
            <a:xfrm>
              <a:off x="4171949" y="2136382"/>
              <a:ext cx="967584" cy="48246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it-IT" dirty="0">
                  <a:solidFill>
                    <a:schemeClr val="lt1"/>
                  </a:solidFill>
                  <a:latin typeface="Fira Sans Extra Condensed" panose="020F0502020204030204" pitchFamily="34" charset="0"/>
                </a:rPr>
                <a:t>Anello di base</a:t>
              </a:r>
              <a:endParaRPr dirty="0">
                <a:solidFill>
                  <a:schemeClr val="lt1"/>
                </a:solidFill>
                <a:latin typeface="Fira Sans Extra Condensed" panose="020F0502020204030204" pitchFamily="34" charset="0"/>
              </a:endParaRPr>
            </a:p>
          </p:txBody>
        </p:sp>
        <p:sp>
          <p:nvSpPr>
            <p:cNvPr id="6" name="Google Shape;110;p17">
              <a:extLst>
                <a:ext uri="{FF2B5EF4-FFF2-40B4-BE49-F238E27FC236}">
                  <a16:creationId xmlns:a16="http://schemas.microsoft.com/office/drawing/2014/main" id="{68E3A253-1BF4-A27F-D5F5-DEC96508DB4A}"/>
                </a:ext>
              </a:extLst>
            </p:cNvPr>
            <p:cNvSpPr/>
            <p:nvPr/>
          </p:nvSpPr>
          <p:spPr>
            <a:xfrm>
              <a:off x="4171949" y="3922931"/>
              <a:ext cx="967583" cy="48244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dirty="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Arco stereotassico</a:t>
              </a:r>
              <a:endParaRPr dirty="0">
                <a:solidFill>
                  <a:schemeClr val="lt1"/>
                </a:solidFill>
              </a:endParaRPr>
            </a:p>
          </p:txBody>
        </p:sp>
        <p:sp>
          <p:nvSpPr>
            <p:cNvPr id="7" name="Google Shape;111;p17">
              <a:extLst>
                <a:ext uri="{FF2B5EF4-FFF2-40B4-BE49-F238E27FC236}">
                  <a16:creationId xmlns:a16="http://schemas.microsoft.com/office/drawing/2014/main" id="{7B89B894-D582-9DB6-7034-D3276495EBD4}"/>
                </a:ext>
              </a:extLst>
            </p:cNvPr>
            <p:cNvSpPr/>
            <p:nvPr/>
          </p:nvSpPr>
          <p:spPr>
            <a:xfrm>
              <a:off x="4171948" y="3029656"/>
              <a:ext cx="967583" cy="48245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dirty="0">
                  <a:solidFill>
                    <a:schemeClr val="lt1"/>
                  </a:solidFill>
                  <a:latin typeface="Fira Sans Extra Condensed Medium"/>
                  <a:sym typeface="Fira Sans Extra Condensed Medium"/>
                </a:rPr>
                <a:t>Localizzatore</a:t>
              </a:r>
              <a:endParaRPr sz="1200" dirty="0">
                <a:solidFill>
                  <a:schemeClr val="lt1"/>
                </a:solidFill>
              </a:endParaRPr>
            </a:p>
          </p:txBody>
        </p:sp>
        <p:sp>
          <p:nvSpPr>
            <p:cNvPr id="8" name="Google Shape;112;p17">
              <a:extLst>
                <a:ext uri="{FF2B5EF4-FFF2-40B4-BE49-F238E27FC236}">
                  <a16:creationId xmlns:a16="http://schemas.microsoft.com/office/drawing/2014/main" id="{8F7DF206-530B-BAAD-0036-59034B6D832D}"/>
                </a:ext>
              </a:extLst>
            </p:cNvPr>
            <p:cNvSpPr txBox="1"/>
            <p:nvPr/>
          </p:nvSpPr>
          <p:spPr>
            <a:xfrm>
              <a:off x="5602450" y="3906575"/>
              <a:ext cx="2860688" cy="5759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200" dirty="0">
                  <a:latin typeface="Fira Sans"/>
                  <a:ea typeface="Fira Sans"/>
                  <a:cs typeface="Fira Sans"/>
                  <a:sym typeface="Fira Sans"/>
                </a:rPr>
                <a:t>Dispositivo montato in sala operatoria che permette di portare uno strumento in un punto </a:t>
              </a:r>
              <a:r>
                <a:rPr lang="it-IT" sz="1100" dirty="0">
                  <a:latin typeface="Fira Sans"/>
                  <a:ea typeface="Fira Sans"/>
                  <a:cs typeface="Fira Sans"/>
                  <a:sym typeface="Fira Sans"/>
                </a:rPr>
                <a:t>(x, y, z) </a:t>
              </a:r>
              <a:r>
                <a:rPr lang="it-IT" sz="1200" dirty="0">
                  <a:latin typeface="Fira Sans"/>
                  <a:ea typeface="Fira Sans"/>
                  <a:cs typeface="Fira Sans"/>
                  <a:sym typeface="Fira Sans"/>
                </a:rPr>
                <a:t>specifico definito rispetto al centro dell’anello</a:t>
              </a:r>
              <a:endParaRPr sz="12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9" name="Google Shape;113;p17">
              <a:extLst>
                <a:ext uri="{FF2B5EF4-FFF2-40B4-BE49-F238E27FC236}">
                  <a16:creationId xmlns:a16="http://schemas.microsoft.com/office/drawing/2014/main" id="{E5B55672-81E7-1060-98ED-779A2A6A6C7D}"/>
                </a:ext>
              </a:extLst>
            </p:cNvPr>
            <p:cNvSpPr txBox="1"/>
            <p:nvPr/>
          </p:nvSpPr>
          <p:spPr>
            <a:xfrm>
              <a:off x="5602450" y="3013300"/>
              <a:ext cx="2860688" cy="582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Fira Sans"/>
                  <a:ea typeface="Fira Sans"/>
                  <a:cs typeface="Fira Sans"/>
                  <a:sym typeface="Fira Sans"/>
                </a:rPr>
                <a:t>Struttura contenente dei “fiduciali” (marcatori) visibili alle radiazioni o ai campi magnetici</a:t>
              </a:r>
              <a:endParaRPr sz="12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0" name="Google Shape;115;p17">
              <a:extLst>
                <a:ext uri="{FF2B5EF4-FFF2-40B4-BE49-F238E27FC236}">
                  <a16:creationId xmlns:a16="http://schemas.microsoft.com/office/drawing/2014/main" id="{C7D8E9A6-E060-2276-180A-80207D11BD2E}"/>
                </a:ext>
              </a:extLst>
            </p:cNvPr>
            <p:cNvSpPr txBox="1"/>
            <p:nvPr/>
          </p:nvSpPr>
          <p:spPr>
            <a:xfrm>
              <a:off x="5602448" y="2120025"/>
              <a:ext cx="2860689" cy="572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Fira Sans"/>
                  <a:ea typeface="Fira Sans"/>
                  <a:cs typeface="Fira Sans"/>
                  <a:sym typeface="Fira Sans"/>
                </a:rPr>
                <a:t>Viene fissato al cranio del paziente fornendo un sistema di riferimento stabile </a:t>
              </a:r>
              <a:endParaRPr sz="12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cxnSp>
          <p:nvCxnSpPr>
            <p:cNvPr id="11" name="Google Shape;117;p17">
              <a:extLst>
                <a:ext uri="{FF2B5EF4-FFF2-40B4-BE49-F238E27FC236}">
                  <a16:creationId xmlns:a16="http://schemas.microsoft.com/office/drawing/2014/main" id="{7FE72FB4-8971-7F91-0067-5F238C6A0E4A}"/>
                </a:ext>
              </a:extLst>
            </p:cNvPr>
            <p:cNvCxnSpPr>
              <a:cxnSpLocks/>
            </p:cNvCxnSpPr>
            <p:nvPr/>
          </p:nvCxnSpPr>
          <p:spPr>
            <a:xfrm>
              <a:off x="5103626" y="2390588"/>
              <a:ext cx="422138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118;p17">
              <a:extLst>
                <a:ext uri="{FF2B5EF4-FFF2-40B4-BE49-F238E27FC236}">
                  <a16:creationId xmlns:a16="http://schemas.microsoft.com/office/drawing/2014/main" id="{01AAEA33-9448-B278-E381-03E40A234CE5}"/>
                </a:ext>
              </a:extLst>
            </p:cNvPr>
            <p:cNvCxnSpPr>
              <a:cxnSpLocks/>
            </p:cNvCxnSpPr>
            <p:nvPr/>
          </p:nvCxnSpPr>
          <p:spPr>
            <a:xfrm>
              <a:off x="5103626" y="3300209"/>
              <a:ext cx="422138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19;p17">
              <a:extLst>
                <a:ext uri="{FF2B5EF4-FFF2-40B4-BE49-F238E27FC236}">
                  <a16:creationId xmlns:a16="http://schemas.microsoft.com/office/drawing/2014/main" id="{6C77FEF3-ADA4-5E36-AE54-A30F75E01A1A}"/>
                </a:ext>
              </a:extLst>
            </p:cNvPr>
            <p:cNvCxnSpPr>
              <a:cxnSpLocks/>
            </p:cNvCxnSpPr>
            <p:nvPr/>
          </p:nvCxnSpPr>
          <p:spPr>
            <a:xfrm>
              <a:off x="5103626" y="4163663"/>
              <a:ext cx="422138" cy="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216075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6D3E4371-4D95-7FA8-3476-4ED8A8DCC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>
            <a:extLst>
              <a:ext uri="{FF2B5EF4-FFF2-40B4-BE49-F238E27FC236}">
                <a16:creationId xmlns:a16="http://schemas.microsoft.com/office/drawing/2014/main" id="{E3C9EE51-39EA-80A9-317E-9C4CE33C35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Il Localizzatore</a:t>
            </a:r>
            <a:br>
              <a:rPr lang="en" sz="2800" dirty="0"/>
            </a:br>
            <a:r>
              <a:rPr lang="en" sz="1800" dirty="0"/>
              <a:t>N - Localizer</a:t>
            </a:r>
            <a:endParaRPr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13;p17">
                <a:extLst>
                  <a:ext uri="{FF2B5EF4-FFF2-40B4-BE49-F238E27FC236}">
                    <a16:creationId xmlns:a16="http://schemas.microsoft.com/office/drawing/2014/main" id="{C86262F8-26A9-38CD-DE0B-9E51D8F06A81}"/>
                  </a:ext>
                </a:extLst>
              </p:cNvPr>
              <p:cNvSpPr txBox="1"/>
              <p:nvPr/>
            </p:nvSpPr>
            <p:spPr>
              <a:xfrm>
                <a:off x="445168" y="850096"/>
                <a:ext cx="8253663" cy="1924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sz="1200" dirty="0">
                    <a:latin typeface="Fira Sans"/>
                    <a:ea typeface="Fira Sans"/>
                    <a:cs typeface="Fira Sans"/>
                    <a:sym typeface="Fira Sans"/>
                  </a:rPr>
                  <a:t>Quando viene acquisita una </a:t>
                </a:r>
                <a:r>
                  <a:rPr lang="it-IT" sz="1200" b="1" dirty="0">
                    <a:latin typeface="Fira Sans"/>
                    <a:ea typeface="Fira Sans"/>
                    <a:cs typeface="Fira Sans"/>
                    <a:sym typeface="Fira Sans"/>
                  </a:rPr>
                  <a:t>slice assiale</a:t>
                </a:r>
                <a:r>
                  <a:rPr lang="it-IT" sz="1200" dirty="0">
                    <a:latin typeface="Fira Sans"/>
                    <a:ea typeface="Fira Sans"/>
                    <a:cs typeface="Fira Sans"/>
                    <a:sym typeface="Fira Sans"/>
                  </a:rPr>
                  <a:t> della testa del paziente, la posizione del punto centrale (diagonale) rispetto ai due punti laterali (verticali) varia a seconda dell’altezza. 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-IT" sz="1200" dirty="0">
                    <a:latin typeface="Fira Sans"/>
                    <a:ea typeface="Fira Sans"/>
                    <a:cs typeface="Fira Sans"/>
                    <a:sym typeface="Fira Sans"/>
                  </a:rPr>
                  <a:t>Il </a:t>
                </a:r>
                <a:r>
                  <a:rPr lang="it-IT" sz="1200" b="1" dirty="0">
                    <a:latin typeface="Fira Sans"/>
                    <a:ea typeface="Fira Sans"/>
                    <a:cs typeface="Fira Sans"/>
                    <a:sym typeface="Fira Sans"/>
                  </a:rPr>
                  <a:t>rapporto tra le distanze </a:t>
                </a:r>
                <a:r>
                  <a:rPr lang="it-IT" sz="1200" dirty="0">
                    <a:latin typeface="Fira Sans"/>
                    <a:ea typeface="Fira Sans"/>
                    <a:cs typeface="Fira Sans"/>
                    <a:sym typeface="Fira Sans"/>
                  </a:rPr>
                  <a:t>delle barre verticali rispetto alla diagonale ci permette di calcolare la </a:t>
                </a:r>
                <a:r>
                  <a:rPr lang="it-IT" sz="1200" b="1" dirty="0">
                    <a:latin typeface="Fira Sans"/>
                    <a:ea typeface="Fira Sans"/>
                    <a:cs typeface="Fira Sans"/>
                    <a:sym typeface="Fira Sans"/>
                  </a:rPr>
                  <a:t>coordinata Z </a:t>
                </a:r>
                <a:r>
                  <a:rPr lang="it-IT" sz="1200" dirty="0">
                    <a:latin typeface="Fira Sans"/>
                    <a:ea typeface="Fira Sans"/>
                    <a:cs typeface="Fira Sans"/>
                    <a:sym typeface="Fira Sans"/>
                  </a:rPr>
                  <a:t>(altezza) di quella specifica slice.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it-IT" sz="1200" dirty="0">
                  <a:latin typeface="Fira Sans"/>
                  <a:ea typeface="Fira Sans"/>
                  <a:cs typeface="Fira Sans"/>
                  <a:sym typeface="Fira Sans"/>
                </a:endParaRPr>
              </a:p>
              <a:p>
                <a:pPr lvl="0"/>
                <a:r>
                  <a:rPr lang="it-IT" sz="1200" dirty="0">
                    <a:latin typeface="Fira Sans" panose="020B0503050000020004" pitchFamily="34" charset="0"/>
                  </a:rPr>
                  <a:t>Il problema matematico consiste quindi nel mappare un punto target </a:t>
                </a:r>
                <a14:m>
                  <m:oMath xmlns:m="http://schemas.openxmlformats.org/officeDocument/2006/math">
                    <m:r>
                      <a:rPr lang="it-IT" sz="1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it-IT" sz="1200" i="1" dirty="0" smtClean="0">
                        <a:latin typeface="Cambria Math" panose="02040503050406030204" pitchFamily="18" charset="0"/>
                      </a:rPr>
                      <m:t>image</m:t>
                    </m:r>
                    <m:r>
                      <a:rPr lang="it-IT" sz="1200" b="0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it-IT" sz="1200" b="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it-IT" sz="12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it-IT" sz="1200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it-IT" sz="12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it-IT" sz="1200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it-IT" sz="12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sz="1200" dirty="0">
                    <a:latin typeface="Fira Sans" panose="020B0503050000020004" pitchFamily="34" charset="0"/>
                  </a:rPr>
                  <a:t> (dove 𝑢, 𝑣 sono coordinate pixel e 𝑘 è il numero della slice) in un punto fisico </a:t>
                </a:r>
                <a14:m>
                  <m:oMath xmlns:m="http://schemas.openxmlformats.org/officeDocument/2006/math">
                    <m:r>
                      <a:rPr lang="it-IT" sz="1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it-IT" sz="1200" i="1" dirty="0" err="1" smtClean="0">
                        <a:latin typeface="Cambria Math" panose="02040503050406030204" pitchFamily="18" charset="0"/>
                      </a:rPr>
                      <m:t>real</m:t>
                    </m:r>
                    <m:r>
                      <a:rPr lang="it-IT" sz="1200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it-IT" sz="1200" dirty="0">
                    <a:latin typeface="Fira Sans" panose="020B0503050000020004" pitchFamily="34" charset="0"/>
                  </a:rPr>
                  <a:t>nello spazio stereotassico.</a:t>
                </a:r>
                <a:endParaRPr sz="1200" dirty="0">
                  <a:latin typeface="Fira Sans" panose="020B0503050000020004" pitchFamily="34" charset="0"/>
                  <a:ea typeface="Fira Sans"/>
                  <a:cs typeface="Fira Sans"/>
                  <a:sym typeface="Fira Sans"/>
                </a:endParaRPr>
              </a:p>
            </p:txBody>
          </p:sp>
        </mc:Choice>
        <mc:Fallback xmlns="">
          <p:sp>
            <p:nvSpPr>
              <p:cNvPr id="2" name="Google Shape;113;p17">
                <a:extLst>
                  <a:ext uri="{FF2B5EF4-FFF2-40B4-BE49-F238E27FC236}">
                    <a16:creationId xmlns:a16="http://schemas.microsoft.com/office/drawing/2014/main" id="{C86262F8-26A9-38CD-DE0B-9E51D8F06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68" y="850096"/>
                <a:ext cx="8253663" cy="1924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Immagine 15" descr="Immagine che contiene diagramma, schizzo, linea, Disegno tecnico&#10;&#10;Il contenuto generato dall'IA potrebbe non essere corretto.">
            <a:extLst>
              <a:ext uri="{FF2B5EF4-FFF2-40B4-BE49-F238E27FC236}">
                <a16:creationId xmlns:a16="http://schemas.microsoft.com/office/drawing/2014/main" id="{3132F621-EBD9-6019-C7EE-41A898BB4A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6535" y="2701371"/>
            <a:ext cx="2022099" cy="2134679"/>
          </a:xfrm>
          <a:prstGeom prst="rect">
            <a:avLst/>
          </a:prstGeom>
        </p:spPr>
      </p:pic>
      <p:pic>
        <p:nvPicPr>
          <p:cNvPr id="18" name="Immagine 17" descr="Immagine che contiene Carattere, testo, bianco, numero&#10;&#10;Il contenuto generato dall'IA potrebbe non essere corretto.">
            <a:extLst>
              <a:ext uri="{FF2B5EF4-FFF2-40B4-BE49-F238E27FC236}">
                <a16:creationId xmlns:a16="http://schemas.microsoft.com/office/drawing/2014/main" id="{C7351034-069F-B64A-0AEC-95D6A9E9BD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1886" y="3506262"/>
            <a:ext cx="2197976" cy="78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152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9703B62F-D401-5C0E-031F-10F3E1632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>
            <a:extLst>
              <a:ext uri="{FF2B5EF4-FFF2-40B4-BE49-F238E27FC236}">
                <a16:creationId xmlns:a16="http://schemas.microsoft.com/office/drawing/2014/main" id="{46BBEEAA-2F62-779B-A4E6-B70E314144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Il Localizzatore</a:t>
            </a:r>
            <a:br>
              <a:rPr lang="en" sz="2800" dirty="0"/>
            </a:br>
            <a:r>
              <a:rPr lang="en" sz="1800" dirty="0"/>
              <a:t>N - Localizer</a:t>
            </a:r>
            <a:endParaRPr sz="2800" dirty="0"/>
          </a:p>
        </p:txBody>
      </p:sp>
      <p:sp>
        <p:nvSpPr>
          <p:cNvPr id="3" name="Google Shape;113;p17">
            <a:extLst>
              <a:ext uri="{FF2B5EF4-FFF2-40B4-BE49-F238E27FC236}">
                <a16:creationId xmlns:a16="http://schemas.microsoft.com/office/drawing/2014/main" id="{D1476C7D-C18B-8C49-757D-B80EB1A969A5}"/>
              </a:ext>
            </a:extLst>
          </p:cNvPr>
          <p:cNvSpPr txBox="1"/>
          <p:nvPr/>
        </p:nvSpPr>
        <p:spPr>
          <a:xfrm>
            <a:off x="3288532" y="1190216"/>
            <a:ext cx="5675468" cy="809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dirty="0">
                <a:latin typeface="Fira Sans"/>
                <a:ea typeface="Fira Sans"/>
                <a:cs typeface="Fira Sans"/>
                <a:sym typeface="Fira Sans"/>
              </a:rPr>
              <a:t>I tre N-localizzatori determinano con precisione l’</a:t>
            </a:r>
            <a:r>
              <a:rPr lang="it-IT" sz="1200" b="1" dirty="0">
                <a:latin typeface="Fira Sans"/>
                <a:ea typeface="Fira Sans"/>
                <a:cs typeface="Fira Sans"/>
                <a:sym typeface="Fira Sans"/>
              </a:rPr>
              <a:t>orientamento del piano di scansione</a:t>
            </a:r>
            <a:r>
              <a:rPr lang="it-IT" sz="1200" dirty="0">
                <a:latin typeface="Fira Sans"/>
                <a:ea typeface="Fira Sans"/>
                <a:cs typeface="Fira Sans"/>
                <a:sym typeface="Fira Sans"/>
              </a:rPr>
              <a:t> (il rettangolo) </a:t>
            </a:r>
            <a:r>
              <a:rPr lang="it-IT" sz="1200" b="1" dirty="0">
                <a:latin typeface="Fira Sans"/>
                <a:ea typeface="Fira Sans"/>
                <a:cs typeface="Fira Sans"/>
                <a:sym typeface="Fira Sans"/>
              </a:rPr>
              <a:t>rispetto</a:t>
            </a:r>
            <a:r>
              <a:rPr lang="it-IT" sz="12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it-IT" sz="1200" b="1" dirty="0">
                <a:latin typeface="Fira Sans"/>
                <a:ea typeface="Fira Sans"/>
                <a:cs typeface="Fira Sans"/>
                <a:sym typeface="Fira Sans"/>
              </a:rPr>
              <a:t>alla base del telaio stereotassico </a:t>
            </a:r>
            <a:r>
              <a:rPr lang="it-IT" sz="1200" dirty="0">
                <a:latin typeface="Fira Sans"/>
                <a:ea typeface="Fira Sans"/>
                <a:cs typeface="Fira Sans"/>
                <a:sym typeface="Fira Sans"/>
              </a:rPr>
              <a:t>(ovale). </a:t>
            </a:r>
            <a:endParaRPr sz="1200" dirty="0">
              <a:latin typeface="Fira Sans" panose="020B0503050000020004" pitchFamily="34" charset="0"/>
              <a:ea typeface="Fira Sans"/>
              <a:cs typeface="Fira Sans"/>
              <a:sym typeface="Fira Sans"/>
            </a:endParaRPr>
          </a:p>
        </p:txBody>
      </p:sp>
      <p:pic>
        <p:nvPicPr>
          <p:cNvPr id="5" name="Immagine 4" descr="Immagine che contiene schizzo, disegno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9E96D721-E09C-2520-DEB1-D74185F51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421" y="1041008"/>
            <a:ext cx="2019352" cy="1917775"/>
          </a:xfrm>
          <a:prstGeom prst="rect">
            <a:avLst/>
          </a:prstGeom>
        </p:spPr>
      </p:pic>
      <p:grpSp>
        <p:nvGrpSpPr>
          <p:cNvPr id="12" name="Gruppo 11">
            <a:extLst>
              <a:ext uri="{FF2B5EF4-FFF2-40B4-BE49-F238E27FC236}">
                <a16:creationId xmlns:a16="http://schemas.microsoft.com/office/drawing/2014/main" id="{19E0B30F-FCAD-BF2C-92DC-EF66F4DD61AD}"/>
              </a:ext>
            </a:extLst>
          </p:cNvPr>
          <p:cNvGrpSpPr/>
          <p:nvPr/>
        </p:nvGrpSpPr>
        <p:grpSpPr>
          <a:xfrm>
            <a:off x="3288532" y="2045397"/>
            <a:ext cx="5675468" cy="1708455"/>
            <a:chOff x="3288532" y="2045397"/>
            <a:chExt cx="5675468" cy="1708455"/>
          </a:xfrm>
        </p:grpSpPr>
        <p:sp>
          <p:nvSpPr>
            <p:cNvPr id="6" name="Google Shape;113;p17">
              <a:extLst>
                <a:ext uri="{FF2B5EF4-FFF2-40B4-BE49-F238E27FC236}">
                  <a16:creationId xmlns:a16="http://schemas.microsoft.com/office/drawing/2014/main" id="{632364A7-5F63-FD77-5D33-9FE616A361AE}"/>
                </a:ext>
              </a:extLst>
            </p:cNvPr>
            <p:cNvSpPr txBox="1"/>
            <p:nvPr/>
          </p:nvSpPr>
          <p:spPr>
            <a:xfrm>
              <a:off x="3288532" y="2045397"/>
              <a:ext cx="5675468" cy="12674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200" dirty="0">
                  <a:latin typeface="Fira Sans"/>
                  <a:ea typeface="Fira Sans"/>
                  <a:cs typeface="Fira Sans"/>
                  <a:sym typeface="Fira Sans"/>
                </a:rPr>
                <a:t>I 3 punti fiduciali vengono identificati sia nel sistema dell’immagine sia nel sistema del frame stereotassico e, confrontandoli, possiamo determinare: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200" dirty="0">
                  <a:latin typeface="Fira Sans"/>
                  <a:ea typeface="Fira Sans"/>
                  <a:cs typeface="Fira Sans"/>
                  <a:sym typeface="Fira Sans"/>
                </a:rPr>
                <a:t> </a:t>
              </a:r>
            </a:p>
            <a:p>
              <a:pPr marL="171450" lvl="0" indent="-1714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it-IT" sz="1200" b="1" dirty="0">
                  <a:latin typeface="Fira Sans" panose="020B0503050000020004" pitchFamily="34" charset="0"/>
                  <a:ea typeface="Fira Sans"/>
                  <a:cs typeface="Fira Sans"/>
                  <a:sym typeface="Fira Sans"/>
                </a:rPr>
                <a:t>Matrice di Rotazione </a:t>
              </a:r>
              <a:r>
                <a:rPr lang="it-IT" sz="1200" dirty="0">
                  <a:latin typeface="Fira Sans" panose="020B0503050000020004" pitchFamily="34" charset="0"/>
                  <a:ea typeface="Fira Sans"/>
                  <a:cs typeface="Fira Sans"/>
                  <a:sym typeface="Fira Sans"/>
                </a:rPr>
                <a:t>[R] </a:t>
              </a:r>
            </a:p>
            <a:p>
              <a:pPr lvl="0" algn="l" rtl="0">
                <a:spcBef>
                  <a:spcPts val="0"/>
                </a:spcBef>
                <a:spcAft>
                  <a:spcPts val="0"/>
                </a:spcAft>
              </a:pPr>
              <a:endParaRPr lang="it-IT" sz="1200" dirty="0">
                <a:latin typeface="Fira Sans" panose="020B0503050000020004" pitchFamily="34" charset="0"/>
                <a:ea typeface="Fira Sans"/>
                <a:cs typeface="Fira Sans"/>
                <a:sym typeface="Fira Sans"/>
              </a:endParaRPr>
            </a:p>
            <a:p>
              <a:pPr marL="171450" lvl="0" indent="-1714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endParaRPr lang="it-IT" sz="1200" dirty="0">
                <a:latin typeface="Fira Sans" panose="020B0503050000020004" pitchFamily="34" charset="0"/>
                <a:ea typeface="Fira Sans"/>
                <a:cs typeface="Fira Sans"/>
                <a:sym typeface="Fira Sans"/>
              </a:endParaRPr>
            </a:p>
            <a:p>
              <a:pPr lvl="0" algn="l" rtl="0">
                <a:spcBef>
                  <a:spcPts val="0"/>
                </a:spcBef>
                <a:spcAft>
                  <a:spcPts val="0"/>
                </a:spcAft>
              </a:pPr>
              <a:endParaRPr lang="it-IT" sz="1200" dirty="0">
                <a:latin typeface="Fira Sans" panose="020B0503050000020004" pitchFamily="34" charset="0"/>
                <a:ea typeface="Fira Sans"/>
                <a:cs typeface="Fira Sans"/>
                <a:sym typeface="Fira Sans"/>
              </a:endParaRPr>
            </a:p>
            <a:p>
              <a:pPr marL="171450" lvl="0" indent="-171450" algn="l" rtl="0"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Char char="•"/>
              </a:pPr>
              <a:r>
                <a:rPr lang="it-IT" sz="1200" b="1" dirty="0">
                  <a:latin typeface="Fira Sans" panose="020B0503050000020004" pitchFamily="34" charset="0"/>
                  <a:ea typeface="Fira Sans"/>
                  <a:cs typeface="Fira Sans"/>
                  <a:sym typeface="Fira Sans"/>
                </a:rPr>
                <a:t>Vettore di Traslazione </a:t>
              </a:r>
              <a:r>
                <a:rPr lang="it-IT" sz="1200" dirty="0">
                  <a:latin typeface="Fira Sans" panose="020B0503050000020004" pitchFamily="34" charset="0"/>
                  <a:ea typeface="Fira Sans"/>
                  <a:cs typeface="Fira Sans"/>
                  <a:sym typeface="Fira Sans"/>
                </a:rPr>
                <a:t>[T] </a:t>
              </a:r>
            </a:p>
          </p:txBody>
        </p:sp>
        <p:cxnSp>
          <p:nvCxnSpPr>
            <p:cNvPr id="8" name="Connettore 2 7">
              <a:extLst>
                <a:ext uri="{FF2B5EF4-FFF2-40B4-BE49-F238E27FC236}">
                  <a16:creationId xmlns:a16="http://schemas.microsoft.com/office/drawing/2014/main" id="{3D9DA434-B897-7293-F521-410D3FF461D0}"/>
                </a:ext>
              </a:extLst>
            </p:cNvPr>
            <p:cNvCxnSpPr/>
            <p:nvPr/>
          </p:nvCxnSpPr>
          <p:spPr>
            <a:xfrm>
              <a:off x="5328271" y="2633626"/>
              <a:ext cx="2887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Google Shape;113;p17">
              <a:extLst>
                <a:ext uri="{FF2B5EF4-FFF2-40B4-BE49-F238E27FC236}">
                  <a16:creationId xmlns:a16="http://schemas.microsoft.com/office/drawing/2014/main" id="{407583ED-C65E-9FC9-8F54-65ED01BCB773}"/>
                </a:ext>
              </a:extLst>
            </p:cNvPr>
            <p:cNvSpPr txBox="1"/>
            <p:nvPr/>
          </p:nvSpPr>
          <p:spPr>
            <a:xfrm>
              <a:off x="5896806" y="2436225"/>
              <a:ext cx="2787416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200" dirty="0">
                  <a:latin typeface="Fira Sans"/>
                  <a:ea typeface="Fira Sans"/>
                  <a:cs typeface="Fira Sans"/>
                  <a:sym typeface="Fira Sans"/>
                </a:rPr>
                <a:t>ruota i punti dell’immagine in modo da farli corrispondere alla realtà</a:t>
              </a:r>
              <a:endParaRPr lang="it-IT" sz="1200" dirty="0">
                <a:latin typeface="Fira Sans" panose="020B0503050000020004" pitchFamily="34" charset="0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0" name="Google Shape;113;p17">
              <a:extLst>
                <a:ext uri="{FF2B5EF4-FFF2-40B4-BE49-F238E27FC236}">
                  <a16:creationId xmlns:a16="http://schemas.microsoft.com/office/drawing/2014/main" id="{E8194779-B317-A068-668A-81194386B06C}"/>
                </a:ext>
              </a:extLst>
            </p:cNvPr>
            <p:cNvSpPr txBox="1"/>
            <p:nvPr/>
          </p:nvSpPr>
          <p:spPr>
            <a:xfrm>
              <a:off x="5876180" y="3026509"/>
              <a:ext cx="2787416" cy="7273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200" dirty="0">
                  <a:latin typeface="Fira Sans"/>
                  <a:ea typeface="Fira Sans"/>
                  <a:cs typeface="Fira Sans"/>
                  <a:sym typeface="Fira Sans"/>
                </a:rPr>
                <a:t>trasla tutto il volume di un valore costante per far corrispondere l’origine dell’immagine con quello del localizzatore</a:t>
              </a:r>
              <a:endParaRPr lang="it-IT" sz="1200" dirty="0">
                <a:latin typeface="Fira Sans" panose="020B0503050000020004" pitchFamily="34" charset="0"/>
                <a:ea typeface="Fira Sans"/>
                <a:cs typeface="Fira Sans"/>
                <a:sym typeface="Fira Sans"/>
              </a:endParaRPr>
            </a:p>
          </p:txBody>
        </p:sp>
        <p:cxnSp>
          <p:nvCxnSpPr>
            <p:cNvPr id="11" name="Connettore 2 10">
              <a:extLst>
                <a:ext uri="{FF2B5EF4-FFF2-40B4-BE49-F238E27FC236}">
                  <a16:creationId xmlns:a16="http://schemas.microsoft.com/office/drawing/2014/main" id="{7CA828F1-7E95-C768-0023-770C04021959}"/>
                </a:ext>
              </a:extLst>
            </p:cNvPr>
            <p:cNvCxnSpPr/>
            <p:nvPr/>
          </p:nvCxnSpPr>
          <p:spPr>
            <a:xfrm>
              <a:off x="5328271" y="3312859"/>
              <a:ext cx="2887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Google Shape;113;p17">
            <a:extLst>
              <a:ext uri="{FF2B5EF4-FFF2-40B4-BE49-F238E27FC236}">
                <a16:creationId xmlns:a16="http://schemas.microsoft.com/office/drawing/2014/main" id="{6F793E80-126D-6AE1-22F5-70BF228D7442}"/>
              </a:ext>
            </a:extLst>
          </p:cNvPr>
          <p:cNvSpPr txBox="1"/>
          <p:nvPr/>
        </p:nvSpPr>
        <p:spPr>
          <a:xfrm>
            <a:off x="4005459" y="3889131"/>
            <a:ext cx="4145362" cy="809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dirty="0">
                <a:latin typeface="Fira Sans"/>
                <a:ea typeface="Fira Sans"/>
                <a:cs typeface="Fira Sans"/>
                <a:sym typeface="Fira Sans"/>
              </a:rPr>
              <a:t>Si ottiene così un’</a:t>
            </a:r>
            <a:r>
              <a:rPr lang="it-IT" sz="1200" b="1" dirty="0">
                <a:latin typeface="Fira Sans"/>
                <a:ea typeface="Fira Sans"/>
                <a:cs typeface="Fira Sans"/>
                <a:sym typeface="Fira Sans"/>
              </a:rPr>
              <a:t>equazione fondamentale </a:t>
            </a:r>
            <a:r>
              <a:rPr lang="it-IT" sz="1200" dirty="0">
                <a:latin typeface="Fira Sans"/>
                <a:ea typeface="Fira Sans"/>
                <a:cs typeface="Fira Sans"/>
                <a:sym typeface="Fira Sans"/>
              </a:rPr>
              <a:t>che può essere applicata a qualsiasi punto dell’immagine per ottenere la sua posizione reale nello spazio stereotassico</a:t>
            </a:r>
            <a:endParaRPr sz="1200" dirty="0">
              <a:latin typeface="Fira Sans" panose="020B0503050000020004" pitchFamily="34" charset="0"/>
              <a:ea typeface="Fira Sans"/>
              <a:cs typeface="Fira Sans"/>
              <a:sym typeface="Fira Sans"/>
            </a:endParaRP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8941AF6F-BB73-0FAC-655A-98FEE115C3F0}"/>
              </a:ext>
            </a:extLst>
          </p:cNvPr>
          <p:cNvSpPr/>
          <p:nvPr/>
        </p:nvSpPr>
        <p:spPr>
          <a:xfrm>
            <a:off x="770022" y="3953284"/>
            <a:ext cx="2752267" cy="559379"/>
          </a:xfrm>
          <a:prstGeom prst="round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8084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>
          <a:extLst>
            <a:ext uri="{FF2B5EF4-FFF2-40B4-BE49-F238E27FC236}">
              <a16:creationId xmlns:a16="http://schemas.microsoft.com/office/drawing/2014/main" id="{C562430D-D7CD-3607-45EC-9ECA8D8D4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>
            <a:extLst>
              <a:ext uri="{FF2B5EF4-FFF2-40B4-BE49-F238E27FC236}">
                <a16:creationId xmlns:a16="http://schemas.microsoft.com/office/drawing/2014/main" id="{6D0D9DD0-9DB1-DE57-451B-F1926371BD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Stereotassi Frame - Based</a:t>
            </a:r>
            <a:endParaRPr sz="2800" dirty="0"/>
          </a:p>
        </p:txBody>
      </p:sp>
      <p:sp>
        <p:nvSpPr>
          <p:cNvPr id="2" name="Google Shape;113;p17">
            <a:extLst>
              <a:ext uri="{FF2B5EF4-FFF2-40B4-BE49-F238E27FC236}">
                <a16:creationId xmlns:a16="http://schemas.microsoft.com/office/drawing/2014/main" id="{AB333E6D-9F49-E91E-736D-4BD5AA0C0851}"/>
              </a:ext>
            </a:extLst>
          </p:cNvPr>
          <p:cNvSpPr txBox="1"/>
          <p:nvPr/>
        </p:nvSpPr>
        <p:spPr>
          <a:xfrm>
            <a:off x="567269" y="794382"/>
            <a:ext cx="5003501" cy="1128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dirty="0">
                <a:latin typeface="Fira Sans"/>
                <a:ea typeface="Fira Sans"/>
                <a:cs typeface="Fira Sans"/>
                <a:sym typeface="Fira Sans"/>
              </a:rPr>
              <a:t>Durante l’intervento, il frame fissato al cranio funge da </a:t>
            </a:r>
            <a:r>
              <a:rPr lang="it-IT" sz="1200" b="1" dirty="0">
                <a:latin typeface="Fira Sans"/>
                <a:ea typeface="Fira Sans"/>
                <a:cs typeface="Fira Sans"/>
                <a:sym typeface="Fira Sans"/>
              </a:rPr>
              <a:t>riferimento</a:t>
            </a:r>
            <a:r>
              <a:rPr lang="it-IT" sz="1200" dirty="0">
                <a:latin typeface="Fira Sans"/>
                <a:ea typeface="Fira Sans"/>
                <a:cs typeface="Fira Sans"/>
                <a:sym typeface="Fira Sans"/>
              </a:rPr>
              <a:t> nello spazio reale: vengono impostate manualmente sull’arco stereotassico l’</a:t>
            </a:r>
            <a:r>
              <a:rPr lang="it-IT" sz="1200" b="1" dirty="0">
                <a:latin typeface="Fira Sans"/>
                <a:ea typeface="Fira Sans"/>
                <a:cs typeface="Fira Sans"/>
                <a:sym typeface="Fira Sans"/>
              </a:rPr>
              <a:t>angolo</a:t>
            </a:r>
            <a:r>
              <a:rPr lang="it-IT" sz="1200" dirty="0">
                <a:latin typeface="Fira Sans"/>
                <a:ea typeface="Fira Sans"/>
                <a:cs typeface="Fira Sans"/>
                <a:sym typeface="Fira Sans"/>
              </a:rPr>
              <a:t> e la </a:t>
            </a:r>
            <a:r>
              <a:rPr lang="it-IT" sz="1200" b="1" dirty="0">
                <a:latin typeface="Fira Sans"/>
                <a:ea typeface="Fira Sans"/>
                <a:cs typeface="Fira Sans"/>
                <a:sym typeface="Fira Sans"/>
              </a:rPr>
              <a:t>profondità</a:t>
            </a:r>
            <a:r>
              <a:rPr lang="it-IT" sz="1200" dirty="0">
                <a:latin typeface="Fira Sans"/>
                <a:ea typeface="Fira Sans"/>
                <a:cs typeface="Fira Sans"/>
                <a:sym typeface="Fira Sans"/>
              </a:rPr>
              <a:t> calcolati dal software, consentendo allo strumento di seguire la traiettoria calcolata. </a:t>
            </a: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16" name="Immagine 15" descr="The diagram illustrates the process of preparing and using a head ring for brain scanning, including attachment of localizing rods, data calculation, verification, and a simulated surgical biopsy.&#10;&#10;Il contenuto generato dall'IA potrebbe non essere corretto.">
            <a:extLst>
              <a:ext uri="{FF2B5EF4-FFF2-40B4-BE49-F238E27FC236}">
                <a16:creationId xmlns:a16="http://schemas.microsoft.com/office/drawing/2014/main" id="{5D5E828B-9D0B-1F62-759F-EF51361C9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0737" y="831107"/>
            <a:ext cx="2760246" cy="3989021"/>
          </a:xfrm>
          <a:prstGeom prst="rect">
            <a:avLst/>
          </a:prstGeom>
        </p:spPr>
      </p:pic>
      <p:grpSp>
        <p:nvGrpSpPr>
          <p:cNvPr id="32" name="Gruppo 31">
            <a:extLst>
              <a:ext uri="{FF2B5EF4-FFF2-40B4-BE49-F238E27FC236}">
                <a16:creationId xmlns:a16="http://schemas.microsoft.com/office/drawing/2014/main" id="{F7060AF8-C7FD-7DA2-D9A5-1C8681A6F7D1}"/>
              </a:ext>
            </a:extLst>
          </p:cNvPr>
          <p:cNvGrpSpPr/>
          <p:nvPr/>
        </p:nvGrpSpPr>
        <p:grpSpPr>
          <a:xfrm>
            <a:off x="567269" y="1786487"/>
            <a:ext cx="4219833" cy="2720279"/>
            <a:chOff x="567269" y="1786487"/>
            <a:chExt cx="4219833" cy="2720279"/>
          </a:xfrm>
        </p:grpSpPr>
        <p:sp>
          <p:nvSpPr>
            <p:cNvPr id="17" name="Google Shape;115;p17">
              <a:extLst>
                <a:ext uri="{FF2B5EF4-FFF2-40B4-BE49-F238E27FC236}">
                  <a16:creationId xmlns:a16="http://schemas.microsoft.com/office/drawing/2014/main" id="{C55F9691-DEC7-E632-D79E-E3393B017441}"/>
                </a:ext>
              </a:extLst>
            </p:cNvPr>
            <p:cNvSpPr txBox="1"/>
            <p:nvPr/>
          </p:nvSpPr>
          <p:spPr>
            <a:xfrm>
              <a:off x="567269" y="1786487"/>
              <a:ext cx="3813300" cy="5726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dirty="0">
                  <a:latin typeface="Fira Sans"/>
                  <a:ea typeface="Fira Sans"/>
                  <a:cs typeface="Fira Sans"/>
                  <a:sym typeface="Fira Sans"/>
                </a:rPr>
                <a:t>Limiti</a:t>
              </a:r>
              <a:r>
                <a:rPr lang="en" sz="1200" dirty="0">
                  <a:latin typeface="Fira Sans"/>
                  <a:ea typeface="Fira Sans"/>
                  <a:cs typeface="Fira Sans"/>
                  <a:sym typeface="Fira Sans"/>
                </a:rPr>
                <a:t> della tecnica: </a:t>
              </a:r>
              <a:endParaRPr sz="12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8" name="Google Shape;166;p20">
              <a:extLst>
                <a:ext uri="{FF2B5EF4-FFF2-40B4-BE49-F238E27FC236}">
                  <a16:creationId xmlns:a16="http://schemas.microsoft.com/office/drawing/2014/main" id="{0F255E8C-CFD7-66FE-FDA9-9A2A1757A893}"/>
                </a:ext>
              </a:extLst>
            </p:cNvPr>
            <p:cNvSpPr/>
            <p:nvPr/>
          </p:nvSpPr>
          <p:spPr>
            <a:xfrm>
              <a:off x="790377" y="2316303"/>
              <a:ext cx="605286" cy="572700"/>
            </a:xfrm>
            <a:custGeom>
              <a:avLst/>
              <a:gdLst/>
              <a:ahLst/>
              <a:cxnLst/>
              <a:rect l="l" t="t" r="r" b="b"/>
              <a:pathLst>
                <a:path w="17297" h="14947" extrusionOk="0">
                  <a:moveTo>
                    <a:pt x="10412" y="0"/>
                  </a:moveTo>
                  <a:cubicBezTo>
                    <a:pt x="9523" y="0"/>
                    <a:pt x="8727" y="233"/>
                    <a:pt x="8192" y="633"/>
                  </a:cubicBezTo>
                  <a:cubicBezTo>
                    <a:pt x="7863" y="454"/>
                    <a:pt x="7486" y="355"/>
                    <a:pt x="7094" y="355"/>
                  </a:cubicBezTo>
                  <a:cubicBezTo>
                    <a:pt x="6855" y="355"/>
                    <a:pt x="6611" y="392"/>
                    <a:pt x="6369" y="469"/>
                  </a:cubicBezTo>
                  <a:cubicBezTo>
                    <a:pt x="5866" y="633"/>
                    <a:pt x="5458" y="943"/>
                    <a:pt x="5184" y="1351"/>
                  </a:cubicBezTo>
                  <a:cubicBezTo>
                    <a:pt x="5017" y="1316"/>
                    <a:pt x="4843" y="1299"/>
                    <a:pt x="4665" y="1299"/>
                  </a:cubicBezTo>
                  <a:cubicBezTo>
                    <a:pt x="4005" y="1299"/>
                    <a:pt x="3292" y="1540"/>
                    <a:pt x="2682" y="2034"/>
                  </a:cubicBezTo>
                  <a:cubicBezTo>
                    <a:pt x="1960" y="2605"/>
                    <a:pt x="1539" y="3392"/>
                    <a:pt x="1458" y="4156"/>
                  </a:cubicBezTo>
                  <a:cubicBezTo>
                    <a:pt x="736" y="4346"/>
                    <a:pt x="164" y="4944"/>
                    <a:pt x="53" y="5721"/>
                  </a:cubicBezTo>
                  <a:cubicBezTo>
                    <a:pt x="1" y="6237"/>
                    <a:pt x="151" y="6727"/>
                    <a:pt x="448" y="7096"/>
                  </a:cubicBezTo>
                  <a:cubicBezTo>
                    <a:pt x="259" y="7693"/>
                    <a:pt x="259" y="8347"/>
                    <a:pt x="517" y="8944"/>
                  </a:cubicBezTo>
                  <a:cubicBezTo>
                    <a:pt x="955" y="9974"/>
                    <a:pt x="1994" y="10584"/>
                    <a:pt x="3113" y="10584"/>
                  </a:cubicBezTo>
                  <a:cubicBezTo>
                    <a:pt x="3520" y="10584"/>
                    <a:pt x="3938" y="10503"/>
                    <a:pt x="4341" y="10332"/>
                  </a:cubicBezTo>
                  <a:cubicBezTo>
                    <a:pt x="4449" y="10280"/>
                    <a:pt x="4573" y="10224"/>
                    <a:pt x="4681" y="10156"/>
                  </a:cubicBezTo>
                  <a:cubicBezTo>
                    <a:pt x="4694" y="10224"/>
                    <a:pt x="4723" y="10293"/>
                    <a:pt x="4749" y="10348"/>
                  </a:cubicBezTo>
                  <a:cubicBezTo>
                    <a:pt x="5188" y="11377"/>
                    <a:pt x="6228" y="11986"/>
                    <a:pt x="7343" y="11986"/>
                  </a:cubicBezTo>
                  <a:cubicBezTo>
                    <a:pt x="7747" y="11986"/>
                    <a:pt x="8162" y="11906"/>
                    <a:pt x="8561" y="11736"/>
                  </a:cubicBezTo>
                  <a:cubicBezTo>
                    <a:pt x="8613" y="11707"/>
                    <a:pt x="8668" y="11681"/>
                    <a:pt x="8724" y="11668"/>
                  </a:cubicBezTo>
                  <a:cubicBezTo>
                    <a:pt x="9023" y="11995"/>
                    <a:pt x="9467" y="12178"/>
                    <a:pt x="9934" y="12178"/>
                  </a:cubicBezTo>
                  <a:cubicBezTo>
                    <a:pt x="10105" y="12178"/>
                    <a:pt x="10280" y="12153"/>
                    <a:pt x="10452" y="12102"/>
                  </a:cubicBezTo>
                  <a:cubicBezTo>
                    <a:pt x="10520" y="12347"/>
                    <a:pt x="10628" y="12592"/>
                    <a:pt x="10749" y="12837"/>
                  </a:cubicBezTo>
                  <a:cubicBezTo>
                    <a:pt x="11389" y="14049"/>
                    <a:pt x="12493" y="14810"/>
                    <a:pt x="13606" y="14947"/>
                  </a:cubicBezTo>
                  <a:lnTo>
                    <a:pt x="14113" y="14496"/>
                  </a:lnTo>
                  <a:cubicBezTo>
                    <a:pt x="14096" y="14483"/>
                    <a:pt x="14096" y="14483"/>
                    <a:pt x="14083" y="14470"/>
                  </a:cubicBezTo>
                  <a:cubicBezTo>
                    <a:pt x="13077" y="14156"/>
                    <a:pt x="12329" y="13219"/>
                    <a:pt x="12329" y="12089"/>
                  </a:cubicBezTo>
                  <a:lnTo>
                    <a:pt x="12329" y="11994"/>
                  </a:lnTo>
                  <a:cubicBezTo>
                    <a:pt x="12768" y="12248"/>
                    <a:pt x="13281" y="12388"/>
                    <a:pt x="13814" y="12388"/>
                  </a:cubicBezTo>
                  <a:cubicBezTo>
                    <a:pt x="14223" y="12388"/>
                    <a:pt x="14643" y="12305"/>
                    <a:pt x="15050" y="12128"/>
                  </a:cubicBezTo>
                  <a:cubicBezTo>
                    <a:pt x="16562" y="11491"/>
                    <a:pt x="17297" y="9829"/>
                    <a:pt x="16696" y="8428"/>
                  </a:cubicBezTo>
                  <a:cubicBezTo>
                    <a:pt x="16601" y="8196"/>
                    <a:pt x="16464" y="7981"/>
                    <a:pt x="16317" y="7788"/>
                  </a:cubicBezTo>
                  <a:cubicBezTo>
                    <a:pt x="16983" y="7096"/>
                    <a:pt x="17173" y="5897"/>
                    <a:pt x="16709" y="4797"/>
                  </a:cubicBezTo>
                  <a:cubicBezTo>
                    <a:pt x="16288" y="3801"/>
                    <a:pt x="15432" y="3134"/>
                    <a:pt x="14560" y="3027"/>
                  </a:cubicBezTo>
                  <a:cubicBezTo>
                    <a:pt x="14736" y="1789"/>
                    <a:pt x="13391" y="509"/>
                    <a:pt x="11500" y="113"/>
                  </a:cubicBezTo>
                  <a:cubicBezTo>
                    <a:pt x="11130" y="37"/>
                    <a:pt x="10763" y="0"/>
                    <a:pt x="10412" y="0"/>
                  </a:cubicBezTo>
                  <a:close/>
                </a:path>
              </a:pathLst>
            </a:custGeom>
            <a:solidFill>
              <a:schemeClr val="accent1"/>
            </a:solidFill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" name="Google Shape;135;p18">
              <a:extLst>
                <a:ext uri="{FF2B5EF4-FFF2-40B4-BE49-F238E27FC236}">
                  <a16:creationId xmlns:a16="http://schemas.microsoft.com/office/drawing/2014/main" id="{7B8D7703-B9AA-BE4D-5220-04857B5B5A97}"/>
                </a:ext>
              </a:extLst>
            </p:cNvPr>
            <p:cNvCxnSpPr>
              <a:cxnSpLocks/>
            </p:cNvCxnSpPr>
            <p:nvPr/>
          </p:nvCxnSpPr>
          <p:spPr>
            <a:xfrm>
              <a:off x="1511300" y="2564273"/>
              <a:ext cx="663631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sp>
          <p:nvSpPr>
            <p:cNvPr id="25" name="Google Shape;192;p21">
              <a:extLst>
                <a:ext uri="{FF2B5EF4-FFF2-40B4-BE49-F238E27FC236}">
                  <a16:creationId xmlns:a16="http://schemas.microsoft.com/office/drawing/2014/main" id="{5C05E40A-290D-3CF6-E4CD-875B21F6FC34}"/>
                </a:ext>
              </a:extLst>
            </p:cNvPr>
            <p:cNvSpPr/>
            <p:nvPr/>
          </p:nvSpPr>
          <p:spPr>
            <a:xfrm>
              <a:off x="2290568" y="2317881"/>
              <a:ext cx="2496534" cy="507737"/>
            </a:xfrm>
            <a:custGeom>
              <a:avLst/>
              <a:gdLst/>
              <a:ahLst/>
              <a:cxnLst/>
              <a:rect l="l" t="t" r="r" b="b"/>
              <a:pathLst>
                <a:path w="12016" h="3388" extrusionOk="0">
                  <a:moveTo>
                    <a:pt x="1702" y="1"/>
                  </a:moveTo>
                  <a:cubicBezTo>
                    <a:pt x="761" y="1"/>
                    <a:pt x="0" y="761"/>
                    <a:pt x="0" y="1689"/>
                  </a:cubicBezTo>
                  <a:cubicBezTo>
                    <a:pt x="0" y="2626"/>
                    <a:pt x="761" y="3387"/>
                    <a:pt x="1702" y="3387"/>
                  </a:cubicBezTo>
                  <a:lnTo>
                    <a:pt x="10327" y="3387"/>
                  </a:lnTo>
                  <a:cubicBezTo>
                    <a:pt x="11267" y="3387"/>
                    <a:pt x="12015" y="2626"/>
                    <a:pt x="12015" y="1689"/>
                  </a:cubicBezTo>
                  <a:cubicBezTo>
                    <a:pt x="12015" y="761"/>
                    <a:pt x="11267" y="1"/>
                    <a:pt x="1032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100" dirty="0">
                  <a:latin typeface="Fira Sans" panose="020B0503050000020004" pitchFamily="34" charset="0"/>
                </a:rPr>
                <a:t>Disagio per il paziente</a:t>
              </a:r>
              <a:endParaRPr sz="1100" dirty="0">
                <a:latin typeface="Fira Sans" panose="020B0503050000020004" pitchFamily="34" charset="0"/>
              </a:endParaRPr>
            </a:p>
          </p:txBody>
        </p:sp>
        <p:sp>
          <p:nvSpPr>
            <p:cNvPr id="26" name="Google Shape;168;p20">
              <a:extLst>
                <a:ext uri="{FF2B5EF4-FFF2-40B4-BE49-F238E27FC236}">
                  <a16:creationId xmlns:a16="http://schemas.microsoft.com/office/drawing/2014/main" id="{D10EE90D-642F-70A1-60C9-E566AE66A4A6}"/>
                </a:ext>
              </a:extLst>
            </p:cNvPr>
            <p:cNvSpPr/>
            <p:nvPr/>
          </p:nvSpPr>
          <p:spPr>
            <a:xfrm>
              <a:off x="790377" y="3125185"/>
              <a:ext cx="605286" cy="572699"/>
            </a:xfrm>
            <a:custGeom>
              <a:avLst/>
              <a:gdLst/>
              <a:ahLst/>
              <a:cxnLst/>
              <a:rect l="l" t="t" r="r" b="b"/>
              <a:pathLst>
                <a:path w="17297" h="14947" extrusionOk="0">
                  <a:moveTo>
                    <a:pt x="10412" y="0"/>
                  </a:moveTo>
                  <a:cubicBezTo>
                    <a:pt x="9523" y="0"/>
                    <a:pt x="8727" y="233"/>
                    <a:pt x="8192" y="633"/>
                  </a:cubicBezTo>
                  <a:cubicBezTo>
                    <a:pt x="7863" y="454"/>
                    <a:pt x="7486" y="355"/>
                    <a:pt x="7094" y="355"/>
                  </a:cubicBezTo>
                  <a:cubicBezTo>
                    <a:pt x="6855" y="355"/>
                    <a:pt x="6611" y="392"/>
                    <a:pt x="6369" y="469"/>
                  </a:cubicBezTo>
                  <a:cubicBezTo>
                    <a:pt x="5866" y="633"/>
                    <a:pt x="5458" y="943"/>
                    <a:pt x="5184" y="1351"/>
                  </a:cubicBezTo>
                  <a:cubicBezTo>
                    <a:pt x="5017" y="1316"/>
                    <a:pt x="4843" y="1299"/>
                    <a:pt x="4665" y="1299"/>
                  </a:cubicBezTo>
                  <a:cubicBezTo>
                    <a:pt x="4005" y="1299"/>
                    <a:pt x="3292" y="1540"/>
                    <a:pt x="2682" y="2034"/>
                  </a:cubicBezTo>
                  <a:cubicBezTo>
                    <a:pt x="1960" y="2605"/>
                    <a:pt x="1539" y="3392"/>
                    <a:pt x="1458" y="4156"/>
                  </a:cubicBezTo>
                  <a:cubicBezTo>
                    <a:pt x="736" y="4346"/>
                    <a:pt x="164" y="4944"/>
                    <a:pt x="53" y="5721"/>
                  </a:cubicBezTo>
                  <a:cubicBezTo>
                    <a:pt x="1" y="6237"/>
                    <a:pt x="151" y="6727"/>
                    <a:pt x="448" y="7096"/>
                  </a:cubicBezTo>
                  <a:cubicBezTo>
                    <a:pt x="259" y="7693"/>
                    <a:pt x="259" y="8347"/>
                    <a:pt x="517" y="8944"/>
                  </a:cubicBezTo>
                  <a:cubicBezTo>
                    <a:pt x="955" y="9974"/>
                    <a:pt x="1994" y="10584"/>
                    <a:pt x="3113" y="10584"/>
                  </a:cubicBezTo>
                  <a:cubicBezTo>
                    <a:pt x="3520" y="10584"/>
                    <a:pt x="3938" y="10503"/>
                    <a:pt x="4341" y="10332"/>
                  </a:cubicBezTo>
                  <a:cubicBezTo>
                    <a:pt x="4449" y="10280"/>
                    <a:pt x="4573" y="10224"/>
                    <a:pt x="4681" y="10156"/>
                  </a:cubicBezTo>
                  <a:cubicBezTo>
                    <a:pt x="4694" y="10224"/>
                    <a:pt x="4723" y="10293"/>
                    <a:pt x="4749" y="10348"/>
                  </a:cubicBezTo>
                  <a:cubicBezTo>
                    <a:pt x="5188" y="11377"/>
                    <a:pt x="6228" y="11986"/>
                    <a:pt x="7343" y="11986"/>
                  </a:cubicBezTo>
                  <a:cubicBezTo>
                    <a:pt x="7747" y="11986"/>
                    <a:pt x="8162" y="11906"/>
                    <a:pt x="8561" y="11736"/>
                  </a:cubicBezTo>
                  <a:cubicBezTo>
                    <a:pt x="8613" y="11707"/>
                    <a:pt x="8668" y="11681"/>
                    <a:pt x="8724" y="11668"/>
                  </a:cubicBezTo>
                  <a:cubicBezTo>
                    <a:pt x="9023" y="11995"/>
                    <a:pt x="9467" y="12178"/>
                    <a:pt x="9934" y="12178"/>
                  </a:cubicBezTo>
                  <a:cubicBezTo>
                    <a:pt x="10105" y="12178"/>
                    <a:pt x="10280" y="12153"/>
                    <a:pt x="10452" y="12102"/>
                  </a:cubicBezTo>
                  <a:cubicBezTo>
                    <a:pt x="10520" y="12347"/>
                    <a:pt x="10628" y="12592"/>
                    <a:pt x="10749" y="12837"/>
                  </a:cubicBezTo>
                  <a:cubicBezTo>
                    <a:pt x="11389" y="14049"/>
                    <a:pt x="12493" y="14810"/>
                    <a:pt x="13606" y="14947"/>
                  </a:cubicBezTo>
                  <a:lnTo>
                    <a:pt x="14113" y="14496"/>
                  </a:lnTo>
                  <a:cubicBezTo>
                    <a:pt x="14096" y="14483"/>
                    <a:pt x="14096" y="14483"/>
                    <a:pt x="14083" y="14470"/>
                  </a:cubicBezTo>
                  <a:cubicBezTo>
                    <a:pt x="13077" y="14156"/>
                    <a:pt x="12329" y="13219"/>
                    <a:pt x="12329" y="12089"/>
                  </a:cubicBezTo>
                  <a:lnTo>
                    <a:pt x="12329" y="11994"/>
                  </a:lnTo>
                  <a:cubicBezTo>
                    <a:pt x="12768" y="12248"/>
                    <a:pt x="13281" y="12388"/>
                    <a:pt x="13814" y="12388"/>
                  </a:cubicBezTo>
                  <a:cubicBezTo>
                    <a:pt x="14223" y="12388"/>
                    <a:pt x="14643" y="12305"/>
                    <a:pt x="15050" y="12128"/>
                  </a:cubicBezTo>
                  <a:cubicBezTo>
                    <a:pt x="16562" y="11491"/>
                    <a:pt x="17297" y="9829"/>
                    <a:pt x="16696" y="8428"/>
                  </a:cubicBezTo>
                  <a:cubicBezTo>
                    <a:pt x="16601" y="8196"/>
                    <a:pt x="16464" y="7981"/>
                    <a:pt x="16317" y="7788"/>
                  </a:cubicBezTo>
                  <a:cubicBezTo>
                    <a:pt x="16983" y="7096"/>
                    <a:pt x="17173" y="5897"/>
                    <a:pt x="16709" y="4797"/>
                  </a:cubicBezTo>
                  <a:cubicBezTo>
                    <a:pt x="16288" y="3801"/>
                    <a:pt x="15432" y="3134"/>
                    <a:pt x="14560" y="3027"/>
                  </a:cubicBezTo>
                  <a:cubicBezTo>
                    <a:pt x="14736" y="1789"/>
                    <a:pt x="13391" y="509"/>
                    <a:pt x="11500" y="113"/>
                  </a:cubicBezTo>
                  <a:cubicBezTo>
                    <a:pt x="11130" y="37"/>
                    <a:pt x="10763" y="0"/>
                    <a:pt x="10412" y="0"/>
                  </a:cubicBezTo>
                  <a:close/>
                </a:path>
              </a:pathLst>
            </a:custGeom>
            <a:solidFill>
              <a:schemeClr val="accent3"/>
            </a:solidFill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67;p20">
              <a:extLst>
                <a:ext uri="{FF2B5EF4-FFF2-40B4-BE49-F238E27FC236}">
                  <a16:creationId xmlns:a16="http://schemas.microsoft.com/office/drawing/2014/main" id="{C2E227AC-8FF8-0EFA-5EC1-FEDFD045CFCF}"/>
                </a:ext>
              </a:extLst>
            </p:cNvPr>
            <p:cNvSpPr/>
            <p:nvPr/>
          </p:nvSpPr>
          <p:spPr>
            <a:xfrm>
              <a:off x="790377" y="3934066"/>
              <a:ext cx="605286" cy="572700"/>
            </a:xfrm>
            <a:custGeom>
              <a:avLst/>
              <a:gdLst/>
              <a:ahLst/>
              <a:cxnLst/>
              <a:rect l="l" t="t" r="r" b="b"/>
              <a:pathLst>
                <a:path w="17297" h="14947" extrusionOk="0">
                  <a:moveTo>
                    <a:pt x="10412" y="0"/>
                  </a:moveTo>
                  <a:cubicBezTo>
                    <a:pt x="9523" y="0"/>
                    <a:pt x="8727" y="233"/>
                    <a:pt x="8192" y="633"/>
                  </a:cubicBezTo>
                  <a:cubicBezTo>
                    <a:pt x="7863" y="454"/>
                    <a:pt x="7486" y="355"/>
                    <a:pt x="7094" y="355"/>
                  </a:cubicBezTo>
                  <a:cubicBezTo>
                    <a:pt x="6855" y="355"/>
                    <a:pt x="6611" y="392"/>
                    <a:pt x="6369" y="469"/>
                  </a:cubicBezTo>
                  <a:cubicBezTo>
                    <a:pt x="5866" y="633"/>
                    <a:pt x="5458" y="943"/>
                    <a:pt x="5184" y="1351"/>
                  </a:cubicBezTo>
                  <a:cubicBezTo>
                    <a:pt x="5017" y="1316"/>
                    <a:pt x="4843" y="1299"/>
                    <a:pt x="4665" y="1299"/>
                  </a:cubicBezTo>
                  <a:cubicBezTo>
                    <a:pt x="4005" y="1299"/>
                    <a:pt x="3292" y="1540"/>
                    <a:pt x="2682" y="2034"/>
                  </a:cubicBezTo>
                  <a:cubicBezTo>
                    <a:pt x="1960" y="2605"/>
                    <a:pt x="1539" y="3392"/>
                    <a:pt x="1458" y="4156"/>
                  </a:cubicBezTo>
                  <a:cubicBezTo>
                    <a:pt x="736" y="4346"/>
                    <a:pt x="164" y="4944"/>
                    <a:pt x="53" y="5721"/>
                  </a:cubicBezTo>
                  <a:cubicBezTo>
                    <a:pt x="1" y="6237"/>
                    <a:pt x="151" y="6727"/>
                    <a:pt x="448" y="7096"/>
                  </a:cubicBezTo>
                  <a:cubicBezTo>
                    <a:pt x="259" y="7693"/>
                    <a:pt x="259" y="8347"/>
                    <a:pt x="517" y="8944"/>
                  </a:cubicBezTo>
                  <a:cubicBezTo>
                    <a:pt x="955" y="9974"/>
                    <a:pt x="1994" y="10584"/>
                    <a:pt x="3113" y="10584"/>
                  </a:cubicBezTo>
                  <a:cubicBezTo>
                    <a:pt x="3520" y="10584"/>
                    <a:pt x="3938" y="10503"/>
                    <a:pt x="4341" y="10332"/>
                  </a:cubicBezTo>
                  <a:cubicBezTo>
                    <a:pt x="4449" y="10280"/>
                    <a:pt x="4573" y="10224"/>
                    <a:pt x="4681" y="10156"/>
                  </a:cubicBezTo>
                  <a:cubicBezTo>
                    <a:pt x="4694" y="10224"/>
                    <a:pt x="4723" y="10293"/>
                    <a:pt x="4749" y="10348"/>
                  </a:cubicBezTo>
                  <a:cubicBezTo>
                    <a:pt x="5188" y="11377"/>
                    <a:pt x="6228" y="11986"/>
                    <a:pt x="7343" y="11986"/>
                  </a:cubicBezTo>
                  <a:cubicBezTo>
                    <a:pt x="7747" y="11986"/>
                    <a:pt x="8162" y="11906"/>
                    <a:pt x="8561" y="11736"/>
                  </a:cubicBezTo>
                  <a:cubicBezTo>
                    <a:pt x="8613" y="11707"/>
                    <a:pt x="8668" y="11681"/>
                    <a:pt x="8724" y="11668"/>
                  </a:cubicBezTo>
                  <a:cubicBezTo>
                    <a:pt x="9023" y="11995"/>
                    <a:pt x="9467" y="12178"/>
                    <a:pt x="9934" y="12178"/>
                  </a:cubicBezTo>
                  <a:cubicBezTo>
                    <a:pt x="10105" y="12178"/>
                    <a:pt x="10280" y="12153"/>
                    <a:pt x="10452" y="12102"/>
                  </a:cubicBezTo>
                  <a:cubicBezTo>
                    <a:pt x="10520" y="12347"/>
                    <a:pt x="10628" y="12592"/>
                    <a:pt x="10749" y="12837"/>
                  </a:cubicBezTo>
                  <a:cubicBezTo>
                    <a:pt x="11389" y="14049"/>
                    <a:pt x="12493" y="14810"/>
                    <a:pt x="13606" y="14947"/>
                  </a:cubicBezTo>
                  <a:lnTo>
                    <a:pt x="14113" y="14496"/>
                  </a:lnTo>
                  <a:cubicBezTo>
                    <a:pt x="14096" y="14483"/>
                    <a:pt x="14096" y="14483"/>
                    <a:pt x="14083" y="14470"/>
                  </a:cubicBezTo>
                  <a:cubicBezTo>
                    <a:pt x="13077" y="14156"/>
                    <a:pt x="12329" y="13219"/>
                    <a:pt x="12329" y="12089"/>
                  </a:cubicBezTo>
                  <a:lnTo>
                    <a:pt x="12329" y="11994"/>
                  </a:lnTo>
                  <a:cubicBezTo>
                    <a:pt x="12768" y="12248"/>
                    <a:pt x="13281" y="12388"/>
                    <a:pt x="13814" y="12388"/>
                  </a:cubicBezTo>
                  <a:cubicBezTo>
                    <a:pt x="14223" y="12388"/>
                    <a:pt x="14643" y="12305"/>
                    <a:pt x="15050" y="12128"/>
                  </a:cubicBezTo>
                  <a:cubicBezTo>
                    <a:pt x="16562" y="11491"/>
                    <a:pt x="17297" y="9829"/>
                    <a:pt x="16696" y="8428"/>
                  </a:cubicBezTo>
                  <a:cubicBezTo>
                    <a:pt x="16601" y="8196"/>
                    <a:pt x="16464" y="7981"/>
                    <a:pt x="16317" y="7788"/>
                  </a:cubicBezTo>
                  <a:cubicBezTo>
                    <a:pt x="16983" y="7096"/>
                    <a:pt x="17173" y="5897"/>
                    <a:pt x="16709" y="4797"/>
                  </a:cubicBezTo>
                  <a:cubicBezTo>
                    <a:pt x="16288" y="3801"/>
                    <a:pt x="15432" y="3134"/>
                    <a:pt x="14560" y="3027"/>
                  </a:cubicBezTo>
                  <a:cubicBezTo>
                    <a:pt x="14736" y="1789"/>
                    <a:pt x="13391" y="509"/>
                    <a:pt x="11500" y="113"/>
                  </a:cubicBezTo>
                  <a:cubicBezTo>
                    <a:pt x="11130" y="37"/>
                    <a:pt x="10763" y="0"/>
                    <a:pt x="10412" y="0"/>
                  </a:cubicBezTo>
                  <a:close/>
                </a:path>
              </a:pathLst>
            </a:custGeom>
            <a:solidFill>
              <a:schemeClr val="accent4"/>
            </a:solidFill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8" name="Google Shape;135;p18">
              <a:extLst>
                <a:ext uri="{FF2B5EF4-FFF2-40B4-BE49-F238E27FC236}">
                  <a16:creationId xmlns:a16="http://schemas.microsoft.com/office/drawing/2014/main" id="{08057DC6-6449-689F-A6D8-C5F4AC7CF92F}"/>
                </a:ext>
              </a:extLst>
            </p:cNvPr>
            <p:cNvCxnSpPr>
              <a:cxnSpLocks/>
            </p:cNvCxnSpPr>
            <p:nvPr/>
          </p:nvCxnSpPr>
          <p:spPr>
            <a:xfrm>
              <a:off x="1511300" y="3396123"/>
              <a:ext cx="663631" cy="0"/>
            </a:xfrm>
            <a:prstGeom prst="straightConnector1">
              <a:avLst/>
            </a:prstGeom>
            <a:ln>
              <a:headEnd type="oval" w="med" len="med"/>
              <a:tailEnd type="oval" w="med" len="med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9" name="Google Shape;192;p21">
              <a:extLst>
                <a:ext uri="{FF2B5EF4-FFF2-40B4-BE49-F238E27FC236}">
                  <a16:creationId xmlns:a16="http://schemas.microsoft.com/office/drawing/2014/main" id="{27016C0D-6A9D-39E4-84BE-9B7EBD1FF4C2}"/>
                </a:ext>
              </a:extLst>
            </p:cNvPr>
            <p:cNvSpPr/>
            <p:nvPr/>
          </p:nvSpPr>
          <p:spPr>
            <a:xfrm>
              <a:off x="2290568" y="3157665"/>
              <a:ext cx="2496534" cy="507737"/>
            </a:xfrm>
            <a:custGeom>
              <a:avLst/>
              <a:gdLst/>
              <a:ahLst/>
              <a:cxnLst/>
              <a:rect l="l" t="t" r="r" b="b"/>
              <a:pathLst>
                <a:path w="12016" h="3388" extrusionOk="0">
                  <a:moveTo>
                    <a:pt x="1702" y="1"/>
                  </a:moveTo>
                  <a:cubicBezTo>
                    <a:pt x="761" y="1"/>
                    <a:pt x="0" y="761"/>
                    <a:pt x="0" y="1689"/>
                  </a:cubicBezTo>
                  <a:cubicBezTo>
                    <a:pt x="0" y="2626"/>
                    <a:pt x="761" y="3387"/>
                    <a:pt x="1702" y="3387"/>
                  </a:cubicBezTo>
                  <a:lnTo>
                    <a:pt x="10327" y="3387"/>
                  </a:lnTo>
                  <a:cubicBezTo>
                    <a:pt x="11267" y="3387"/>
                    <a:pt x="12015" y="2626"/>
                    <a:pt x="12015" y="1689"/>
                  </a:cubicBezTo>
                  <a:cubicBezTo>
                    <a:pt x="12015" y="761"/>
                    <a:pt x="11267" y="1"/>
                    <a:pt x="1032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100" dirty="0">
                  <a:latin typeface="Fira Sans" panose="020B0503050000020004" pitchFamily="34" charset="0"/>
                </a:rPr>
                <a:t>Limitata flessibilità nella pianificazione</a:t>
              </a:r>
              <a:endParaRPr sz="1100" dirty="0">
                <a:latin typeface="Fira Sans" panose="020B0503050000020004" pitchFamily="34" charset="0"/>
              </a:endParaRPr>
            </a:p>
          </p:txBody>
        </p:sp>
        <p:sp>
          <p:nvSpPr>
            <p:cNvPr id="30" name="Google Shape;192;p21">
              <a:extLst>
                <a:ext uri="{FF2B5EF4-FFF2-40B4-BE49-F238E27FC236}">
                  <a16:creationId xmlns:a16="http://schemas.microsoft.com/office/drawing/2014/main" id="{39117F7A-D308-090B-093C-4D7FC70FED6E}"/>
                </a:ext>
              </a:extLst>
            </p:cNvPr>
            <p:cNvSpPr/>
            <p:nvPr/>
          </p:nvSpPr>
          <p:spPr>
            <a:xfrm>
              <a:off x="2290568" y="3966547"/>
              <a:ext cx="2496534" cy="507737"/>
            </a:xfrm>
            <a:custGeom>
              <a:avLst/>
              <a:gdLst/>
              <a:ahLst/>
              <a:cxnLst/>
              <a:rect l="l" t="t" r="r" b="b"/>
              <a:pathLst>
                <a:path w="12016" h="3388" extrusionOk="0">
                  <a:moveTo>
                    <a:pt x="1702" y="1"/>
                  </a:moveTo>
                  <a:cubicBezTo>
                    <a:pt x="761" y="1"/>
                    <a:pt x="0" y="761"/>
                    <a:pt x="0" y="1689"/>
                  </a:cubicBezTo>
                  <a:cubicBezTo>
                    <a:pt x="0" y="2626"/>
                    <a:pt x="761" y="3387"/>
                    <a:pt x="1702" y="3387"/>
                  </a:cubicBezTo>
                  <a:lnTo>
                    <a:pt x="10327" y="3387"/>
                  </a:lnTo>
                  <a:cubicBezTo>
                    <a:pt x="11267" y="3387"/>
                    <a:pt x="12015" y="2626"/>
                    <a:pt x="12015" y="1689"/>
                  </a:cubicBezTo>
                  <a:cubicBezTo>
                    <a:pt x="12015" y="761"/>
                    <a:pt x="11267" y="1"/>
                    <a:pt x="1032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100" dirty="0">
                  <a:latin typeface="Fira Sans" panose="020B0503050000020004" pitchFamily="34" charset="0"/>
                </a:rPr>
                <a:t>Mancanza aggiornamenti intraoperatori</a:t>
              </a:r>
              <a:endParaRPr sz="1100" dirty="0">
                <a:latin typeface="Fira Sans" panose="020B0503050000020004" pitchFamily="34" charset="0"/>
              </a:endParaRPr>
            </a:p>
          </p:txBody>
        </p:sp>
        <p:cxnSp>
          <p:nvCxnSpPr>
            <p:cNvPr id="31" name="Google Shape;135;p18">
              <a:extLst>
                <a:ext uri="{FF2B5EF4-FFF2-40B4-BE49-F238E27FC236}">
                  <a16:creationId xmlns:a16="http://schemas.microsoft.com/office/drawing/2014/main" id="{39A0E3D6-2E71-F597-DC59-7ED1D7772785}"/>
                </a:ext>
              </a:extLst>
            </p:cNvPr>
            <p:cNvCxnSpPr>
              <a:cxnSpLocks/>
            </p:cNvCxnSpPr>
            <p:nvPr/>
          </p:nvCxnSpPr>
          <p:spPr>
            <a:xfrm>
              <a:off x="1511300" y="4220415"/>
              <a:ext cx="663631" cy="0"/>
            </a:xfrm>
            <a:prstGeom prst="straightConnector1">
              <a:avLst/>
            </a:prstGeom>
            <a:ln>
              <a:headEnd type="oval" w="med" len="med"/>
              <a:tailEnd type="oval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18219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Stereotassi Frameless</a:t>
            </a:r>
            <a:endParaRPr sz="2800" dirty="0"/>
          </a:p>
        </p:txBody>
      </p:sp>
      <p:grpSp>
        <p:nvGrpSpPr>
          <p:cNvPr id="125" name="Google Shape;125;p18"/>
          <p:cNvGrpSpPr/>
          <p:nvPr/>
        </p:nvGrpSpPr>
        <p:grpSpPr>
          <a:xfrm flipH="1">
            <a:off x="6235980" y="1902731"/>
            <a:ext cx="2330170" cy="2258784"/>
            <a:chOff x="400500" y="1028698"/>
            <a:chExt cx="3070900" cy="3297399"/>
          </a:xfrm>
        </p:grpSpPr>
        <p:sp>
          <p:nvSpPr>
            <p:cNvPr id="126" name="Google Shape;126;p18"/>
            <p:cNvSpPr/>
            <p:nvPr/>
          </p:nvSpPr>
          <p:spPr>
            <a:xfrm flipH="1">
              <a:off x="400500" y="1028698"/>
              <a:ext cx="3070900" cy="3297399"/>
            </a:xfrm>
            <a:custGeom>
              <a:avLst/>
              <a:gdLst/>
              <a:ahLst/>
              <a:cxnLst/>
              <a:rect l="l" t="t" r="r" b="b"/>
              <a:pathLst>
                <a:path w="25801" h="27704" extrusionOk="0">
                  <a:moveTo>
                    <a:pt x="13762" y="493"/>
                  </a:moveTo>
                  <a:cubicBezTo>
                    <a:pt x="13992" y="493"/>
                    <a:pt x="14222" y="500"/>
                    <a:pt x="14452" y="515"/>
                  </a:cubicBezTo>
                  <a:cubicBezTo>
                    <a:pt x="15977" y="626"/>
                    <a:pt x="17446" y="1074"/>
                    <a:pt x="18710" y="1822"/>
                  </a:cubicBezTo>
                  <a:cubicBezTo>
                    <a:pt x="20059" y="2599"/>
                    <a:pt x="21133" y="3686"/>
                    <a:pt x="21924" y="5019"/>
                  </a:cubicBezTo>
                  <a:cubicBezTo>
                    <a:pt x="25229" y="10695"/>
                    <a:pt x="22221" y="15878"/>
                    <a:pt x="20235" y="19307"/>
                  </a:cubicBezTo>
                  <a:cubicBezTo>
                    <a:pt x="19664" y="20286"/>
                    <a:pt x="19174" y="21145"/>
                    <a:pt x="18929" y="21838"/>
                  </a:cubicBezTo>
                  <a:lnTo>
                    <a:pt x="18903" y="21893"/>
                  </a:lnTo>
                  <a:lnTo>
                    <a:pt x="19474" y="27213"/>
                  </a:lnTo>
                  <a:lnTo>
                    <a:pt x="9595" y="27213"/>
                  </a:lnTo>
                  <a:lnTo>
                    <a:pt x="9226" y="25365"/>
                  </a:lnTo>
                  <a:lnTo>
                    <a:pt x="8981" y="25430"/>
                  </a:lnTo>
                  <a:cubicBezTo>
                    <a:pt x="8950" y="25430"/>
                    <a:pt x="6753" y="25968"/>
                    <a:pt x="5178" y="25968"/>
                  </a:cubicBezTo>
                  <a:cubicBezTo>
                    <a:pt x="4747" y="25968"/>
                    <a:pt x="4363" y="25928"/>
                    <a:pt x="4083" y="25825"/>
                  </a:cubicBezTo>
                  <a:cubicBezTo>
                    <a:pt x="3485" y="25610"/>
                    <a:pt x="3309" y="24832"/>
                    <a:pt x="3253" y="24235"/>
                  </a:cubicBezTo>
                  <a:cubicBezTo>
                    <a:pt x="3197" y="23513"/>
                    <a:pt x="3309" y="22847"/>
                    <a:pt x="3309" y="22847"/>
                  </a:cubicBezTo>
                  <a:lnTo>
                    <a:pt x="3322" y="22736"/>
                  </a:lnTo>
                  <a:lnTo>
                    <a:pt x="2776" y="22070"/>
                  </a:lnTo>
                  <a:cubicBezTo>
                    <a:pt x="2737" y="22001"/>
                    <a:pt x="2708" y="21919"/>
                    <a:pt x="2737" y="21838"/>
                  </a:cubicBezTo>
                  <a:cubicBezTo>
                    <a:pt x="2763" y="21756"/>
                    <a:pt x="2819" y="21704"/>
                    <a:pt x="2900" y="21674"/>
                  </a:cubicBezTo>
                  <a:lnTo>
                    <a:pt x="3606" y="21446"/>
                  </a:lnTo>
                  <a:lnTo>
                    <a:pt x="2355" y="20874"/>
                  </a:lnTo>
                  <a:cubicBezTo>
                    <a:pt x="2179" y="20776"/>
                    <a:pt x="2110" y="20574"/>
                    <a:pt x="2192" y="20398"/>
                  </a:cubicBezTo>
                  <a:cubicBezTo>
                    <a:pt x="2355" y="20028"/>
                    <a:pt x="2544" y="19457"/>
                    <a:pt x="2544" y="18833"/>
                  </a:cubicBezTo>
                  <a:lnTo>
                    <a:pt x="2544" y="18627"/>
                  </a:lnTo>
                  <a:lnTo>
                    <a:pt x="804" y="18245"/>
                  </a:lnTo>
                  <a:cubicBezTo>
                    <a:pt x="696" y="18219"/>
                    <a:pt x="614" y="18138"/>
                    <a:pt x="559" y="18043"/>
                  </a:cubicBezTo>
                  <a:cubicBezTo>
                    <a:pt x="520" y="17935"/>
                    <a:pt x="520" y="17824"/>
                    <a:pt x="572" y="17729"/>
                  </a:cubicBezTo>
                  <a:lnTo>
                    <a:pt x="2789" y="13853"/>
                  </a:lnTo>
                  <a:cubicBezTo>
                    <a:pt x="3103" y="13294"/>
                    <a:pt x="3158" y="12641"/>
                    <a:pt x="2926" y="12040"/>
                  </a:cubicBezTo>
                  <a:cubicBezTo>
                    <a:pt x="2845" y="11795"/>
                    <a:pt x="2737" y="11511"/>
                    <a:pt x="2626" y="11211"/>
                  </a:cubicBezTo>
                  <a:cubicBezTo>
                    <a:pt x="2205" y="9999"/>
                    <a:pt x="3390" y="7060"/>
                    <a:pt x="5281" y="4666"/>
                  </a:cubicBezTo>
                  <a:cubicBezTo>
                    <a:pt x="6437" y="3196"/>
                    <a:pt x="7868" y="2096"/>
                    <a:pt x="9540" y="1374"/>
                  </a:cubicBezTo>
                  <a:cubicBezTo>
                    <a:pt x="10878" y="785"/>
                    <a:pt x="12318" y="493"/>
                    <a:pt x="13762" y="493"/>
                  </a:cubicBezTo>
                  <a:close/>
                  <a:moveTo>
                    <a:pt x="13747" y="0"/>
                  </a:moveTo>
                  <a:cubicBezTo>
                    <a:pt x="12245" y="0"/>
                    <a:pt x="10741" y="317"/>
                    <a:pt x="9337" y="923"/>
                  </a:cubicBezTo>
                  <a:cubicBezTo>
                    <a:pt x="7593" y="1671"/>
                    <a:pt x="6098" y="2831"/>
                    <a:pt x="4899" y="4366"/>
                  </a:cubicBezTo>
                  <a:cubicBezTo>
                    <a:pt x="3132" y="6613"/>
                    <a:pt x="1633" y="9836"/>
                    <a:pt x="2165" y="11374"/>
                  </a:cubicBezTo>
                  <a:cubicBezTo>
                    <a:pt x="2273" y="11675"/>
                    <a:pt x="2381" y="11959"/>
                    <a:pt x="2479" y="12204"/>
                  </a:cubicBezTo>
                  <a:cubicBezTo>
                    <a:pt x="2642" y="12667"/>
                    <a:pt x="2600" y="13183"/>
                    <a:pt x="2355" y="13608"/>
                  </a:cubicBezTo>
                  <a:lnTo>
                    <a:pt x="150" y="17484"/>
                  </a:lnTo>
                  <a:cubicBezTo>
                    <a:pt x="13" y="17716"/>
                    <a:pt x="0" y="17987"/>
                    <a:pt x="111" y="18232"/>
                  </a:cubicBezTo>
                  <a:cubicBezTo>
                    <a:pt x="219" y="18490"/>
                    <a:pt x="438" y="18670"/>
                    <a:pt x="696" y="18722"/>
                  </a:cubicBezTo>
                  <a:lnTo>
                    <a:pt x="2054" y="19023"/>
                  </a:lnTo>
                  <a:cubicBezTo>
                    <a:pt x="2015" y="19486"/>
                    <a:pt x="1865" y="19908"/>
                    <a:pt x="1744" y="20192"/>
                  </a:cubicBezTo>
                  <a:cubicBezTo>
                    <a:pt x="1552" y="20613"/>
                    <a:pt x="1728" y="21119"/>
                    <a:pt x="2152" y="21309"/>
                  </a:cubicBezTo>
                  <a:lnTo>
                    <a:pt x="2410" y="21430"/>
                  </a:lnTo>
                  <a:cubicBezTo>
                    <a:pt x="2355" y="21511"/>
                    <a:pt x="2299" y="21593"/>
                    <a:pt x="2273" y="21704"/>
                  </a:cubicBezTo>
                  <a:cubicBezTo>
                    <a:pt x="2205" y="21936"/>
                    <a:pt x="2247" y="22194"/>
                    <a:pt x="2410" y="22370"/>
                  </a:cubicBezTo>
                  <a:lnTo>
                    <a:pt x="2806" y="22873"/>
                  </a:lnTo>
                  <a:cubicBezTo>
                    <a:pt x="2737" y="23418"/>
                    <a:pt x="2505" y="25773"/>
                    <a:pt x="3906" y="26289"/>
                  </a:cubicBezTo>
                  <a:cubicBezTo>
                    <a:pt x="4238" y="26408"/>
                    <a:pt x="4682" y="26454"/>
                    <a:pt x="5170" y="26454"/>
                  </a:cubicBezTo>
                  <a:cubicBezTo>
                    <a:pt x="6522" y="26454"/>
                    <a:pt x="8217" y="26102"/>
                    <a:pt x="8847" y="25962"/>
                  </a:cubicBezTo>
                  <a:lnTo>
                    <a:pt x="9200" y="27703"/>
                  </a:lnTo>
                  <a:lnTo>
                    <a:pt x="20016" y="27703"/>
                  </a:lnTo>
                  <a:lnTo>
                    <a:pt x="19406" y="21949"/>
                  </a:lnTo>
                  <a:cubicBezTo>
                    <a:pt x="19638" y="21309"/>
                    <a:pt x="20114" y="20492"/>
                    <a:pt x="20657" y="19552"/>
                  </a:cubicBezTo>
                  <a:cubicBezTo>
                    <a:pt x="22711" y="16028"/>
                    <a:pt x="25800" y="10695"/>
                    <a:pt x="22345" y="4774"/>
                  </a:cubicBezTo>
                  <a:cubicBezTo>
                    <a:pt x="21516" y="3360"/>
                    <a:pt x="20386" y="2230"/>
                    <a:pt x="18971" y="1400"/>
                  </a:cubicBezTo>
                  <a:cubicBezTo>
                    <a:pt x="17636" y="610"/>
                    <a:pt x="16084" y="136"/>
                    <a:pt x="14481" y="25"/>
                  </a:cubicBezTo>
                  <a:cubicBezTo>
                    <a:pt x="14237" y="8"/>
                    <a:pt x="13992" y="0"/>
                    <a:pt x="137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8"/>
            <p:cNvSpPr/>
            <p:nvPr/>
          </p:nvSpPr>
          <p:spPr>
            <a:xfrm flipH="1">
              <a:off x="927587" y="1279893"/>
              <a:ext cx="1929036" cy="1666954"/>
            </a:xfrm>
            <a:custGeom>
              <a:avLst/>
              <a:gdLst/>
              <a:ahLst/>
              <a:cxnLst/>
              <a:rect l="l" t="t" r="r" b="b"/>
              <a:pathLst>
                <a:path w="17297" h="14947" extrusionOk="0">
                  <a:moveTo>
                    <a:pt x="10412" y="0"/>
                  </a:moveTo>
                  <a:cubicBezTo>
                    <a:pt x="9523" y="0"/>
                    <a:pt x="8727" y="233"/>
                    <a:pt x="8192" y="633"/>
                  </a:cubicBezTo>
                  <a:cubicBezTo>
                    <a:pt x="7863" y="454"/>
                    <a:pt x="7486" y="355"/>
                    <a:pt x="7094" y="355"/>
                  </a:cubicBezTo>
                  <a:cubicBezTo>
                    <a:pt x="6855" y="355"/>
                    <a:pt x="6611" y="392"/>
                    <a:pt x="6369" y="469"/>
                  </a:cubicBezTo>
                  <a:cubicBezTo>
                    <a:pt x="5866" y="633"/>
                    <a:pt x="5458" y="943"/>
                    <a:pt x="5184" y="1351"/>
                  </a:cubicBezTo>
                  <a:cubicBezTo>
                    <a:pt x="5017" y="1316"/>
                    <a:pt x="4843" y="1299"/>
                    <a:pt x="4665" y="1299"/>
                  </a:cubicBezTo>
                  <a:cubicBezTo>
                    <a:pt x="4005" y="1299"/>
                    <a:pt x="3292" y="1540"/>
                    <a:pt x="2682" y="2034"/>
                  </a:cubicBezTo>
                  <a:cubicBezTo>
                    <a:pt x="1960" y="2605"/>
                    <a:pt x="1539" y="3392"/>
                    <a:pt x="1458" y="4156"/>
                  </a:cubicBezTo>
                  <a:cubicBezTo>
                    <a:pt x="736" y="4346"/>
                    <a:pt x="164" y="4944"/>
                    <a:pt x="53" y="5721"/>
                  </a:cubicBezTo>
                  <a:cubicBezTo>
                    <a:pt x="1" y="6237"/>
                    <a:pt x="151" y="6727"/>
                    <a:pt x="448" y="7096"/>
                  </a:cubicBezTo>
                  <a:cubicBezTo>
                    <a:pt x="259" y="7693"/>
                    <a:pt x="259" y="8347"/>
                    <a:pt x="517" y="8944"/>
                  </a:cubicBezTo>
                  <a:cubicBezTo>
                    <a:pt x="955" y="9974"/>
                    <a:pt x="1994" y="10584"/>
                    <a:pt x="3113" y="10584"/>
                  </a:cubicBezTo>
                  <a:cubicBezTo>
                    <a:pt x="3520" y="10584"/>
                    <a:pt x="3938" y="10503"/>
                    <a:pt x="4341" y="10332"/>
                  </a:cubicBezTo>
                  <a:cubicBezTo>
                    <a:pt x="4449" y="10280"/>
                    <a:pt x="4573" y="10224"/>
                    <a:pt x="4681" y="10156"/>
                  </a:cubicBezTo>
                  <a:cubicBezTo>
                    <a:pt x="4694" y="10224"/>
                    <a:pt x="4723" y="10293"/>
                    <a:pt x="4749" y="10348"/>
                  </a:cubicBezTo>
                  <a:cubicBezTo>
                    <a:pt x="5188" y="11377"/>
                    <a:pt x="6228" y="11986"/>
                    <a:pt x="7343" y="11986"/>
                  </a:cubicBezTo>
                  <a:cubicBezTo>
                    <a:pt x="7747" y="11986"/>
                    <a:pt x="8162" y="11906"/>
                    <a:pt x="8561" y="11736"/>
                  </a:cubicBezTo>
                  <a:cubicBezTo>
                    <a:pt x="8613" y="11707"/>
                    <a:pt x="8668" y="11681"/>
                    <a:pt x="8724" y="11668"/>
                  </a:cubicBezTo>
                  <a:cubicBezTo>
                    <a:pt x="9023" y="11995"/>
                    <a:pt x="9467" y="12178"/>
                    <a:pt x="9934" y="12178"/>
                  </a:cubicBezTo>
                  <a:cubicBezTo>
                    <a:pt x="10105" y="12178"/>
                    <a:pt x="10280" y="12153"/>
                    <a:pt x="10452" y="12102"/>
                  </a:cubicBezTo>
                  <a:cubicBezTo>
                    <a:pt x="10520" y="12347"/>
                    <a:pt x="10628" y="12592"/>
                    <a:pt x="10749" y="12837"/>
                  </a:cubicBezTo>
                  <a:cubicBezTo>
                    <a:pt x="11389" y="14049"/>
                    <a:pt x="12493" y="14810"/>
                    <a:pt x="13606" y="14947"/>
                  </a:cubicBezTo>
                  <a:lnTo>
                    <a:pt x="14113" y="14496"/>
                  </a:lnTo>
                  <a:cubicBezTo>
                    <a:pt x="14096" y="14483"/>
                    <a:pt x="14096" y="14483"/>
                    <a:pt x="14083" y="14470"/>
                  </a:cubicBezTo>
                  <a:cubicBezTo>
                    <a:pt x="13077" y="14156"/>
                    <a:pt x="12329" y="13219"/>
                    <a:pt x="12329" y="12089"/>
                  </a:cubicBezTo>
                  <a:lnTo>
                    <a:pt x="12329" y="11994"/>
                  </a:lnTo>
                  <a:cubicBezTo>
                    <a:pt x="12768" y="12248"/>
                    <a:pt x="13281" y="12388"/>
                    <a:pt x="13814" y="12388"/>
                  </a:cubicBezTo>
                  <a:cubicBezTo>
                    <a:pt x="14223" y="12388"/>
                    <a:pt x="14643" y="12305"/>
                    <a:pt x="15050" y="12128"/>
                  </a:cubicBezTo>
                  <a:cubicBezTo>
                    <a:pt x="16562" y="11491"/>
                    <a:pt x="17297" y="9829"/>
                    <a:pt x="16696" y="8428"/>
                  </a:cubicBezTo>
                  <a:cubicBezTo>
                    <a:pt x="16601" y="8196"/>
                    <a:pt x="16464" y="7981"/>
                    <a:pt x="16317" y="7788"/>
                  </a:cubicBezTo>
                  <a:cubicBezTo>
                    <a:pt x="16983" y="7096"/>
                    <a:pt x="17173" y="5897"/>
                    <a:pt x="16709" y="4797"/>
                  </a:cubicBezTo>
                  <a:cubicBezTo>
                    <a:pt x="16288" y="3801"/>
                    <a:pt x="15432" y="3134"/>
                    <a:pt x="14560" y="3027"/>
                  </a:cubicBezTo>
                  <a:cubicBezTo>
                    <a:pt x="14736" y="1789"/>
                    <a:pt x="13391" y="509"/>
                    <a:pt x="11500" y="113"/>
                  </a:cubicBezTo>
                  <a:cubicBezTo>
                    <a:pt x="11130" y="37"/>
                    <a:pt x="10763" y="0"/>
                    <a:pt x="10412" y="0"/>
                  </a:cubicBezTo>
                  <a:close/>
                </a:path>
              </a:pathLst>
            </a:custGeom>
            <a:solidFill>
              <a:srgbClr val="ACEAD9">
                <a:alpha val="48660"/>
              </a:srgbClr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8"/>
            <p:cNvSpPr/>
            <p:nvPr/>
          </p:nvSpPr>
          <p:spPr>
            <a:xfrm flipH="1">
              <a:off x="1423975" y="2353232"/>
              <a:ext cx="112" cy="11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0096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8"/>
            <p:cNvSpPr/>
            <p:nvPr/>
          </p:nvSpPr>
          <p:spPr>
            <a:xfrm flipH="1">
              <a:off x="927585" y="1884939"/>
              <a:ext cx="1545058" cy="1063161"/>
            </a:xfrm>
            <a:custGeom>
              <a:avLst/>
              <a:gdLst/>
              <a:ahLst/>
              <a:cxnLst/>
              <a:rect l="l" t="t" r="r" b="b"/>
              <a:pathLst>
                <a:path w="13854" h="9533" extrusionOk="0">
                  <a:moveTo>
                    <a:pt x="10365" y="0"/>
                  </a:moveTo>
                  <a:cubicBezTo>
                    <a:pt x="9396" y="0"/>
                    <a:pt x="8509" y="338"/>
                    <a:pt x="7894" y="1028"/>
                  </a:cubicBezTo>
                  <a:cubicBezTo>
                    <a:pt x="7374" y="1600"/>
                    <a:pt x="7129" y="2335"/>
                    <a:pt x="7129" y="3122"/>
                  </a:cubicBezTo>
                  <a:cubicBezTo>
                    <a:pt x="7035" y="3095"/>
                    <a:pt x="6953" y="3069"/>
                    <a:pt x="6871" y="3056"/>
                  </a:cubicBezTo>
                  <a:cubicBezTo>
                    <a:pt x="6220" y="2898"/>
                    <a:pt x="5573" y="2823"/>
                    <a:pt x="4949" y="2823"/>
                  </a:cubicBezTo>
                  <a:cubicBezTo>
                    <a:pt x="2821" y="2823"/>
                    <a:pt x="947" y="3695"/>
                    <a:pt x="0" y="5137"/>
                  </a:cubicBezTo>
                  <a:cubicBezTo>
                    <a:pt x="301" y="5110"/>
                    <a:pt x="598" y="5029"/>
                    <a:pt x="898" y="4905"/>
                  </a:cubicBezTo>
                  <a:cubicBezTo>
                    <a:pt x="1006" y="4852"/>
                    <a:pt x="1130" y="4797"/>
                    <a:pt x="1238" y="4728"/>
                  </a:cubicBezTo>
                  <a:cubicBezTo>
                    <a:pt x="1251" y="4797"/>
                    <a:pt x="1280" y="4866"/>
                    <a:pt x="1306" y="4934"/>
                  </a:cubicBezTo>
                  <a:cubicBezTo>
                    <a:pt x="1743" y="5958"/>
                    <a:pt x="2776" y="6560"/>
                    <a:pt x="3886" y="6560"/>
                  </a:cubicBezTo>
                  <a:cubicBezTo>
                    <a:pt x="4295" y="6560"/>
                    <a:pt x="4714" y="6478"/>
                    <a:pt x="5118" y="6306"/>
                  </a:cubicBezTo>
                  <a:cubicBezTo>
                    <a:pt x="5170" y="6293"/>
                    <a:pt x="5225" y="6267"/>
                    <a:pt x="5281" y="6240"/>
                  </a:cubicBezTo>
                  <a:cubicBezTo>
                    <a:pt x="5579" y="6567"/>
                    <a:pt x="6020" y="6756"/>
                    <a:pt x="6486" y="6756"/>
                  </a:cubicBezTo>
                  <a:cubicBezTo>
                    <a:pt x="6659" y="6756"/>
                    <a:pt x="6835" y="6730"/>
                    <a:pt x="7009" y="6675"/>
                  </a:cubicBezTo>
                  <a:cubicBezTo>
                    <a:pt x="7077" y="6920"/>
                    <a:pt x="7185" y="7165"/>
                    <a:pt x="7306" y="7410"/>
                  </a:cubicBezTo>
                  <a:cubicBezTo>
                    <a:pt x="7946" y="8621"/>
                    <a:pt x="9050" y="9382"/>
                    <a:pt x="10163" y="9532"/>
                  </a:cubicBezTo>
                  <a:lnTo>
                    <a:pt x="10670" y="9069"/>
                  </a:lnTo>
                  <a:cubicBezTo>
                    <a:pt x="10653" y="9069"/>
                    <a:pt x="10653" y="9056"/>
                    <a:pt x="10640" y="9056"/>
                  </a:cubicBezTo>
                  <a:cubicBezTo>
                    <a:pt x="9634" y="8742"/>
                    <a:pt x="8886" y="7792"/>
                    <a:pt x="8886" y="6675"/>
                  </a:cubicBezTo>
                  <a:lnTo>
                    <a:pt x="8886" y="6567"/>
                  </a:lnTo>
                  <a:cubicBezTo>
                    <a:pt x="9325" y="6828"/>
                    <a:pt x="9839" y="6967"/>
                    <a:pt x="10372" y="6967"/>
                  </a:cubicBezTo>
                  <a:cubicBezTo>
                    <a:pt x="10780" y="6967"/>
                    <a:pt x="11200" y="6885"/>
                    <a:pt x="11607" y="6714"/>
                  </a:cubicBezTo>
                  <a:cubicBezTo>
                    <a:pt x="13119" y="6077"/>
                    <a:pt x="13854" y="4415"/>
                    <a:pt x="13253" y="3001"/>
                  </a:cubicBezTo>
                  <a:cubicBezTo>
                    <a:pt x="13158" y="2769"/>
                    <a:pt x="13021" y="2550"/>
                    <a:pt x="12874" y="2374"/>
                  </a:cubicBezTo>
                  <a:cubicBezTo>
                    <a:pt x="13184" y="2034"/>
                    <a:pt x="13403" y="1600"/>
                    <a:pt x="13485" y="1110"/>
                  </a:cubicBezTo>
                  <a:cubicBezTo>
                    <a:pt x="12501" y="376"/>
                    <a:pt x="11387" y="0"/>
                    <a:pt x="10365" y="0"/>
                  </a:cubicBezTo>
                  <a:close/>
                </a:path>
              </a:pathLst>
            </a:custGeom>
            <a:solidFill>
              <a:schemeClr val="accent4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8"/>
            <p:cNvSpPr/>
            <p:nvPr/>
          </p:nvSpPr>
          <p:spPr>
            <a:xfrm flipH="1">
              <a:off x="941413" y="1279848"/>
              <a:ext cx="1141228" cy="1161860"/>
            </a:xfrm>
            <a:custGeom>
              <a:avLst/>
              <a:gdLst/>
              <a:ahLst/>
              <a:cxnLst/>
              <a:rect l="l" t="t" r="r" b="b"/>
              <a:pathLst>
                <a:path w="10233" h="10418" extrusionOk="0">
                  <a:moveTo>
                    <a:pt x="3470" y="1"/>
                  </a:moveTo>
                  <a:cubicBezTo>
                    <a:pt x="2582" y="1"/>
                    <a:pt x="1787" y="232"/>
                    <a:pt x="1252" y="630"/>
                  </a:cubicBezTo>
                  <a:cubicBezTo>
                    <a:pt x="1239" y="630"/>
                    <a:pt x="625" y="1352"/>
                    <a:pt x="491" y="1829"/>
                  </a:cubicBezTo>
                  <a:cubicBezTo>
                    <a:pt x="1" y="3556"/>
                    <a:pt x="1196" y="5408"/>
                    <a:pt x="3172" y="5966"/>
                  </a:cubicBezTo>
                  <a:cubicBezTo>
                    <a:pt x="3554" y="6071"/>
                    <a:pt x="3936" y="6119"/>
                    <a:pt x="4307" y="6119"/>
                  </a:cubicBezTo>
                  <a:cubicBezTo>
                    <a:pt x="4517" y="6119"/>
                    <a:pt x="4724" y="6104"/>
                    <a:pt x="4926" y="6074"/>
                  </a:cubicBezTo>
                  <a:lnTo>
                    <a:pt x="4926" y="6074"/>
                  </a:lnTo>
                  <a:cubicBezTo>
                    <a:pt x="4818" y="6851"/>
                    <a:pt x="5007" y="7612"/>
                    <a:pt x="5510" y="8184"/>
                  </a:cubicBezTo>
                  <a:cubicBezTo>
                    <a:pt x="5824" y="8537"/>
                    <a:pt x="6219" y="8781"/>
                    <a:pt x="6640" y="8919"/>
                  </a:cubicBezTo>
                  <a:cubicBezTo>
                    <a:pt x="6533" y="9774"/>
                    <a:pt x="7130" y="10375"/>
                    <a:pt x="8015" y="10414"/>
                  </a:cubicBezTo>
                  <a:cubicBezTo>
                    <a:pt x="8056" y="10416"/>
                    <a:pt x="8096" y="10417"/>
                    <a:pt x="8135" y="10417"/>
                  </a:cubicBezTo>
                  <a:cubicBezTo>
                    <a:pt x="9572" y="10417"/>
                    <a:pt x="9920" y="9219"/>
                    <a:pt x="9962" y="9203"/>
                  </a:cubicBezTo>
                  <a:cubicBezTo>
                    <a:pt x="9932" y="8945"/>
                    <a:pt x="9867" y="8687"/>
                    <a:pt x="9756" y="8429"/>
                  </a:cubicBezTo>
                  <a:cubicBezTo>
                    <a:pt x="9661" y="8197"/>
                    <a:pt x="9524" y="7978"/>
                    <a:pt x="9377" y="7802"/>
                  </a:cubicBezTo>
                  <a:cubicBezTo>
                    <a:pt x="10043" y="7096"/>
                    <a:pt x="10233" y="5911"/>
                    <a:pt x="9769" y="4794"/>
                  </a:cubicBezTo>
                  <a:cubicBezTo>
                    <a:pt x="9348" y="3801"/>
                    <a:pt x="8492" y="3148"/>
                    <a:pt x="7620" y="3027"/>
                  </a:cubicBezTo>
                  <a:cubicBezTo>
                    <a:pt x="7796" y="1802"/>
                    <a:pt x="6451" y="509"/>
                    <a:pt x="4560" y="114"/>
                  </a:cubicBezTo>
                  <a:cubicBezTo>
                    <a:pt x="4189" y="37"/>
                    <a:pt x="3823" y="1"/>
                    <a:pt x="3470" y="1"/>
                  </a:cubicBezTo>
                  <a:close/>
                </a:path>
              </a:pathLst>
            </a:custGeom>
            <a:solidFill>
              <a:schemeClr val="accent3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8"/>
            <p:cNvSpPr/>
            <p:nvPr/>
          </p:nvSpPr>
          <p:spPr>
            <a:xfrm flipH="1">
              <a:off x="2228184" y="1736946"/>
              <a:ext cx="628440" cy="723347"/>
            </a:xfrm>
            <a:custGeom>
              <a:avLst/>
              <a:gdLst/>
              <a:ahLst/>
              <a:cxnLst/>
              <a:rect l="l" t="t" r="r" b="b"/>
              <a:pathLst>
                <a:path w="5635" h="6486" extrusionOk="0">
                  <a:moveTo>
                    <a:pt x="1797" y="1"/>
                  </a:moveTo>
                  <a:cubicBezTo>
                    <a:pt x="1686" y="1"/>
                    <a:pt x="1458" y="40"/>
                    <a:pt x="1458" y="56"/>
                  </a:cubicBezTo>
                  <a:cubicBezTo>
                    <a:pt x="736" y="245"/>
                    <a:pt x="164" y="843"/>
                    <a:pt x="53" y="1620"/>
                  </a:cubicBezTo>
                  <a:cubicBezTo>
                    <a:pt x="1" y="2136"/>
                    <a:pt x="151" y="2626"/>
                    <a:pt x="448" y="3008"/>
                  </a:cubicBezTo>
                  <a:cubicBezTo>
                    <a:pt x="259" y="3606"/>
                    <a:pt x="259" y="4246"/>
                    <a:pt x="517" y="4844"/>
                  </a:cubicBezTo>
                  <a:cubicBezTo>
                    <a:pt x="954" y="5880"/>
                    <a:pt x="1988" y="6485"/>
                    <a:pt x="3104" y="6485"/>
                  </a:cubicBezTo>
                  <a:cubicBezTo>
                    <a:pt x="3514" y="6485"/>
                    <a:pt x="3935" y="6404"/>
                    <a:pt x="4341" y="6232"/>
                  </a:cubicBezTo>
                  <a:cubicBezTo>
                    <a:pt x="4449" y="6179"/>
                    <a:pt x="4573" y="6124"/>
                    <a:pt x="4681" y="6055"/>
                  </a:cubicBezTo>
                  <a:cubicBezTo>
                    <a:pt x="4681" y="6055"/>
                    <a:pt x="4681" y="6056"/>
                    <a:pt x="4681" y="6056"/>
                  </a:cubicBezTo>
                  <a:cubicBezTo>
                    <a:pt x="4695" y="6056"/>
                    <a:pt x="5497" y="5311"/>
                    <a:pt x="5416" y="4178"/>
                  </a:cubicBezTo>
                  <a:cubicBezTo>
                    <a:pt x="5390" y="3730"/>
                    <a:pt x="5308" y="3292"/>
                    <a:pt x="5132" y="2914"/>
                  </a:cubicBezTo>
                  <a:cubicBezTo>
                    <a:pt x="5635" y="2368"/>
                    <a:pt x="5621" y="1496"/>
                    <a:pt x="5089" y="954"/>
                  </a:cubicBezTo>
                  <a:cubicBezTo>
                    <a:pt x="4799" y="656"/>
                    <a:pt x="4419" y="507"/>
                    <a:pt x="4039" y="507"/>
                  </a:cubicBezTo>
                  <a:cubicBezTo>
                    <a:pt x="3812" y="507"/>
                    <a:pt x="3584" y="560"/>
                    <a:pt x="3375" y="667"/>
                  </a:cubicBezTo>
                  <a:cubicBezTo>
                    <a:pt x="2966" y="259"/>
                    <a:pt x="2408" y="1"/>
                    <a:pt x="1797" y="1"/>
                  </a:cubicBezTo>
                  <a:close/>
                </a:path>
              </a:pathLst>
            </a:custGeom>
            <a:solidFill>
              <a:schemeClr val="accent1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" name="Google Shape;132;p18"/>
          <p:cNvSpPr/>
          <p:nvPr/>
        </p:nvSpPr>
        <p:spPr>
          <a:xfrm>
            <a:off x="520701" y="1778525"/>
            <a:ext cx="3758912" cy="47267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274300" tIns="91425" rIns="2743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 b="1" dirty="0">
                <a:latin typeface="Fira Sans"/>
                <a:ea typeface="Fira Sans"/>
                <a:cs typeface="Fira Sans"/>
                <a:sym typeface="Fira Sans"/>
              </a:rPr>
              <a:t>Sistema di Tracking</a:t>
            </a:r>
            <a:r>
              <a:rPr lang="en" sz="1200" dirty="0">
                <a:latin typeface="Fira Sans"/>
                <a:ea typeface="Fira Sans"/>
                <a:cs typeface="Fira Sans"/>
                <a:sym typeface="Fira Sans"/>
              </a:rPr>
              <a:t>: ottico o elettromagnetico</a:t>
            </a: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596901" y="2593041"/>
            <a:ext cx="3682712" cy="47267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274300" tIns="91425" rIns="2743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 b="1" dirty="0">
                <a:latin typeface="Fira Sans"/>
                <a:ea typeface="Fira Sans"/>
                <a:cs typeface="Fira Sans"/>
                <a:sym typeface="Fira Sans"/>
              </a:rPr>
              <a:t>Marcatori</a:t>
            </a:r>
            <a:r>
              <a:rPr lang="en" sz="1200" dirty="0">
                <a:latin typeface="Fira Sans"/>
                <a:ea typeface="Fira Sans"/>
                <a:cs typeface="Fira Sans"/>
                <a:sym typeface="Fira Sans"/>
              </a:rPr>
              <a:t> fiduciali / </a:t>
            </a:r>
            <a:r>
              <a:rPr lang="en" sz="1200" b="1" dirty="0">
                <a:latin typeface="Fira Sans"/>
                <a:ea typeface="Fira Sans"/>
                <a:cs typeface="Fira Sans"/>
                <a:sym typeface="Fira Sans"/>
              </a:rPr>
              <a:t>Sensori</a:t>
            </a:r>
            <a:r>
              <a:rPr lang="en" sz="12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596901" y="3407558"/>
            <a:ext cx="3682711" cy="47266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274300" tIns="91425" rIns="2743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 b="1" dirty="0">
                <a:latin typeface="Fira Sans"/>
                <a:ea typeface="Fira Sans"/>
                <a:cs typeface="Fira Sans"/>
                <a:sym typeface="Fira Sans"/>
              </a:rPr>
              <a:t>Strumenti</a:t>
            </a:r>
            <a:r>
              <a:rPr lang="en" sz="1200" dirty="0">
                <a:latin typeface="Fira Sans"/>
                <a:ea typeface="Fira Sans"/>
                <a:cs typeface="Fira Sans"/>
                <a:sym typeface="Fira Sans"/>
              </a:rPr>
              <a:t> chirurgici </a:t>
            </a:r>
            <a:r>
              <a:rPr lang="en" sz="1200" b="1" dirty="0">
                <a:latin typeface="Fira Sans"/>
                <a:ea typeface="Fira Sans"/>
                <a:cs typeface="Fira Sans"/>
                <a:sym typeface="Fira Sans"/>
              </a:rPr>
              <a:t>tracciati</a:t>
            </a:r>
            <a:r>
              <a:rPr lang="en" sz="1200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35" name="Google Shape;135;p18"/>
          <p:cNvCxnSpPr/>
          <p:nvPr/>
        </p:nvCxnSpPr>
        <p:spPr>
          <a:xfrm>
            <a:off x="4279609" y="1981270"/>
            <a:ext cx="1324516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36" name="Google Shape;136;p18"/>
          <p:cNvCxnSpPr/>
          <p:nvPr/>
        </p:nvCxnSpPr>
        <p:spPr>
          <a:xfrm>
            <a:off x="4279609" y="2795785"/>
            <a:ext cx="1324516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37" name="Google Shape;137;p18"/>
          <p:cNvCxnSpPr/>
          <p:nvPr/>
        </p:nvCxnSpPr>
        <p:spPr>
          <a:xfrm>
            <a:off x="4279609" y="3610300"/>
            <a:ext cx="1324516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" name="Google Shape;115;p17">
            <a:extLst>
              <a:ext uri="{FF2B5EF4-FFF2-40B4-BE49-F238E27FC236}">
                <a16:creationId xmlns:a16="http://schemas.microsoft.com/office/drawing/2014/main" id="{FBB1928F-BD5A-B3F8-7CB0-6F45F394F79D}"/>
              </a:ext>
            </a:extLst>
          </p:cNvPr>
          <p:cNvSpPr txBox="1"/>
          <p:nvPr/>
        </p:nvSpPr>
        <p:spPr>
          <a:xfrm>
            <a:off x="415107" y="836261"/>
            <a:ext cx="8151043" cy="803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Fira Sans"/>
                <a:ea typeface="Fira Sans"/>
                <a:cs typeface="Fira Sans"/>
                <a:sym typeface="Fira Sans"/>
              </a:rPr>
              <a:t>Si tratta di una </a:t>
            </a:r>
            <a:r>
              <a:rPr lang="en" sz="1200" b="1" dirty="0">
                <a:latin typeface="Fira Sans"/>
                <a:ea typeface="Fira Sans"/>
                <a:cs typeface="Fira Sans"/>
                <a:sym typeface="Fira Sans"/>
              </a:rPr>
              <a:t>evoluzione moderna </a:t>
            </a:r>
            <a:r>
              <a:rPr lang="en" sz="1200" dirty="0">
                <a:latin typeface="Fira Sans"/>
                <a:ea typeface="Fira Sans"/>
                <a:cs typeface="Fira Sans"/>
                <a:sym typeface="Fira Sans"/>
              </a:rPr>
              <a:t>della neuronavigazione in cui la localizzazione del target e il tracking degli strumenti vengono effettuati in uno </a:t>
            </a:r>
            <a:r>
              <a:rPr lang="en" sz="1200" b="1" dirty="0">
                <a:latin typeface="Fira Sans"/>
                <a:ea typeface="Fira Sans"/>
                <a:cs typeface="Fira Sans"/>
                <a:sym typeface="Fira Sans"/>
              </a:rPr>
              <a:t>spazio tridimensionale virtuale </a:t>
            </a:r>
            <a:r>
              <a:rPr lang="en" sz="1200" dirty="0">
                <a:latin typeface="Fira Sans"/>
                <a:ea typeface="Fira Sans"/>
                <a:cs typeface="Fira Sans"/>
                <a:sym typeface="Fira Sans"/>
              </a:rPr>
              <a:t>e </a:t>
            </a:r>
            <a:r>
              <a:rPr lang="en" sz="1200" b="1" dirty="0">
                <a:latin typeface="Fira Sans"/>
                <a:ea typeface="Fira Sans"/>
                <a:cs typeface="Fira Sans"/>
                <a:sym typeface="Fira Sans"/>
              </a:rPr>
              <a:t>aggiornato in tempo reale</a:t>
            </a:r>
            <a:r>
              <a:rPr lang="en" sz="1200" dirty="0">
                <a:latin typeface="Fira Sans"/>
                <a:ea typeface="Fira Sans"/>
                <a:cs typeface="Fira Sans"/>
                <a:sym typeface="Fira Sans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200" dirty="0"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dirty="0">
                <a:latin typeface="Fira Sans"/>
                <a:ea typeface="Fira Sans"/>
                <a:cs typeface="Fira Sans"/>
                <a:sym typeface="Fira Sans"/>
              </a:rPr>
              <a:t>Si compone di </a:t>
            </a:r>
            <a:r>
              <a:rPr lang="it-IT" sz="1200" b="1" dirty="0">
                <a:latin typeface="Fira Sans"/>
                <a:ea typeface="Fira Sans"/>
                <a:cs typeface="Fira Sans"/>
                <a:sym typeface="Fira Sans"/>
              </a:rPr>
              <a:t>diversi elementi </a:t>
            </a:r>
            <a:r>
              <a:rPr lang="it-IT" sz="1200" dirty="0">
                <a:latin typeface="Fira Sans"/>
                <a:ea typeface="Fira Sans"/>
                <a:cs typeface="Fira Sans"/>
                <a:sym typeface="Fira Sans"/>
              </a:rPr>
              <a:t>che interagiscono tra loro:</a:t>
            </a: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" name="Google Shape;134;p18">
            <a:extLst>
              <a:ext uri="{FF2B5EF4-FFF2-40B4-BE49-F238E27FC236}">
                <a16:creationId xmlns:a16="http://schemas.microsoft.com/office/drawing/2014/main" id="{65AAE96E-7DE9-D629-4864-4213C592140D}"/>
              </a:ext>
            </a:extLst>
          </p:cNvPr>
          <p:cNvSpPr/>
          <p:nvPr/>
        </p:nvSpPr>
        <p:spPr>
          <a:xfrm>
            <a:off x="596898" y="4222072"/>
            <a:ext cx="3682711" cy="5277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274300" tIns="91425" rIns="2743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 b="1" dirty="0">
                <a:latin typeface="Fira Sans"/>
                <a:ea typeface="Fira Sans"/>
                <a:cs typeface="Fira Sans"/>
                <a:sym typeface="Fira Sans"/>
              </a:rPr>
              <a:t>Interfaccia utente</a:t>
            </a:r>
            <a:r>
              <a:rPr lang="en" sz="1200" dirty="0">
                <a:latin typeface="Fira Sans"/>
                <a:ea typeface="Fira Sans"/>
                <a:cs typeface="Fira Sans"/>
                <a:sym typeface="Fira Sans"/>
              </a:rPr>
              <a:t>: screen based o microscope based </a:t>
            </a: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5" name="Google Shape;137;p18">
            <a:extLst>
              <a:ext uri="{FF2B5EF4-FFF2-40B4-BE49-F238E27FC236}">
                <a16:creationId xmlns:a16="http://schemas.microsoft.com/office/drawing/2014/main" id="{D39399DF-A67D-2DBC-8F49-F466875784D9}"/>
              </a:ext>
            </a:extLst>
          </p:cNvPr>
          <p:cNvCxnSpPr/>
          <p:nvPr/>
        </p:nvCxnSpPr>
        <p:spPr>
          <a:xfrm>
            <a:off x="4279606" y="4424814"/>
            <a:ext cx="1324516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>
          <a:extLst>
            <a:ext uri="{FF2B5EF4-FFF2-40B4-BE49-F238E27FC236}">
              <a16:creationId xmlns:a16="http://schemas.microsoft.com/office/drawing/2014/main" id="{B693EA21-0DC1-7050-9B15-9CACBF1DD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o 4">
            <a:extLst>
              <a:ext uri="{FF2B5EF4-FFF2-40B4-BE49-F238E27FC236}">
                <a16:creationId xmlns:a16="http://schemas.microsoft.com/office/drawing/2014/main" id="{D33FC64E-4DCB-6EEF-BC23-A5658BEE81FC}"/>
              </a:ext>
            </a:extLst>
          </p:cNvPr>
          <p:cNvGrpSpPr/>
          <p:nvPr/>
        </p:nvGrpSpPr>
        <p:grpSpPr>
          <a:xfrm>
            <a:off x="324380" y="969930"/>
            <a:ext cx="4247620" cy="883760"/>
            <a:chOff x="1386694" y="1140650"/>
            <a:chExt cx="5712278" cy="1134473"/>
          </a:xfrm>
        </p:grpSpPr>
        <p:sp>
          <p:nvSpPr>
            <p:cNvPr id="563" name="Google Shape;563;p31">
              <a:extLst>
                <a:ext uri="{FF2B5EF4-FFF2-40B4-BE49-F238E27FC236}">
                  <a16:creationId xmlns:a16="http://schemas.microsoft.com/office/drawing/2014/main" id="{F07B754C-9326-B934-0536-82B9D2E0369C}"/>
                </a:ext>
              </a:extLst>
            </p:cNvPr>
            <p:cNvSpPr/>
            <p:nvPr/>
          </p:nvSpPr>
          <p:spPr>
            <a:xfrm>
              <a:off x="2650896" y="1140650"/>
              <a:ext cx="617371" cy="1134473"/>
            </a:xfrm>
            <a:custGeom>
              <a:avLst/>
              <a:gdLst/>
              <a:ahLst/>
              <a:cxnLst/>
              <a:rect l="l" t="t" r="r" b="b"/>
              <a:pathLst>
                <a:path w="1389" h="2249" extrusionOk="0">
                  <a:moveTo>
                    <a:pt x="237" y="0"/>
                  </a:moveTo>
                  <a:cubicBezTo>
                    <a:pt x="190" y="0"/>
                    <a:pt x="143" y="21"/>
                    <a:pt x="108" y="62"/>
                  </a:cubicBezTo>
                  <a:lnTo>
                    <a:pt x="1" y="156"/>
                  </a:lnTo>
                  <a:lnTo>
                    <a:pt x="843" y="986"/>
                  </a:lnTo>
                  <a:cubicBezTo>
                    <a:pt x="912" y="1067"/>
                    <a:pt x="912" y="1192"/>
                    <a:pt x="843" y="1260"/>
                  </a:cubicBezTo>
                  <a:lnTo>
                    <a:pt x="1" y="2103"/>
                  </a:lnTo>
                  <a:lnTo>
                    <a:pt x="108" y="2197"/>
                  </a:lnTo>
                  <a:cubicBezTo>
                    <a:pt x="143" y="2232"/>
                    <a:pt x="190" y="2249"/>
                    <a:pt x="237" y="2249"/>
                  </a:cubicBezTo>
                  <a:cubicBezTo>
                    <a:pt x="285" y="2249"/>
                    <a:pt x="332" y="2232"/>
                    <a:pt x="366" y="2197"/>
                  </a:cubicBezTo>
                  <a:lnTo>
                    <a:pt x="1307" y="1260"/>
                  </a:lnTo>
                  <a:cubicBezTo>
                    <a:pt x="1389" y="1192"/>
                    <a:pt x="1389" y="1067"/>
                    <a:pt x="1307" y="986"/>
                  </a:cubicBezTo>
                  <a:lnTo>
                    <a:pt x="366" y="62"/>
                  </a:lnTo>
                  <a:cubicBezTo>
                    <a:pt x="332" y="21"/>
                    <a:pt x="285" y="0"/>
                    <a:pt x="2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1">
              <a:extLst>
                <a:ext uri="{FF2B5EF4-FFF2-40B4-BE49-F238E27FC236}">
                  <a16:creationId xmlns:a16="http://schemas.microsoft.com/office/drawing/2014/main" id="{969AFD5F-804C-BCEE-328A-9D2FFB5BCEAE}"/>
                </a:ext>
              </a:extLst>
            </p:cNvPr>
            <p:cNvSpPr/>
            <p:nvPr/>
          </p:nvSpPr>
          <p:spPr>
            <a:xfrm>
              <a:off x="2577921" y="1421897"/>
              <a:ext cx="323910" cy="534899"/>
            </a:xfrm>
            <a:custGeom>
              <a:avLst/>
              <a:gdLst/>
              <a:ahLst/>
              <a:cxnLst/>
              <a:rect l="l" t="t" r="r" b="b"/>
              <a:pathLst>
                <a:path w="423" h="730" extrusionOk="0">
                  <a:moveTo>
                    <a:pt x="96" y="0"/>
                  </a:moveTo>
                  <a:cubicBezTo>
                    <a:pt x="46" y="0"/>
                    <a:pt x="1" y="38"/>
                    <a:pt x="1" y="94"/>
                  </a:cubicBezTo>
                  <a:lnTo>
                    <a:pt x="1" y="636"/>
                  </a:lnTo>
                  <a:cubicBezTo>
                    <a:pt x="1" y="692"/>
                    <a:pt x="46" y="730"/>
                    <a:pt x="96" y="730"/>
                  </a:cubicBezTo>
                  <a:cubicBezTo>
                    <a:pt x="119" y="730"/>
                    <a:pt x="143" y="722"/>
                    <a:pt x="164" y="705"/>
                  </a:cubicBezTo>
                  <a:lnTo>
                    <a:pt x="327" y="528"/>
                  </a:lnTo>
                  <a:cubicBezTo>
                    <a:pt x="422" y="447"/>
                    <a:pt x="422" y="296"/>
                    <a:pt x="327" y="202"/>
                  </a:cubicBezTo>
                  <a:lnTo>
                    <a:pt x="164" y="25"/>
                  </a:lnTo>
                  <a:cubicBezTo>
                    <a:pt x="143" y="8"/>
                    <a:pt x="119" y="0"/>
                    <a:pt x="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1">
              <a:extLst>
                <a:ext uri="{FF2B5EF4-FFF2-40B4-BE49-F238E27FC236}">
                  <a16:creationId xmlns:a16="http://schemas.microsoft.com/office/drawing/2014/main" id="{2806C7AB-4890-0350-210A-1E1512232A3A}"/>
                </a:ext>
              </a:extLst>
            </p:cNvPr>
            <p:cNvSpPr/>
            <p:nvPr/>
          </p:nvSpPr>
          <p:spPr>
            <a:xfrm>
              <a:off x="2842351" y="1218940"/>
              <a:ext cx="4256621" cy="976247"/>
            </a:xfrm>
            <a:custGeom>
              <a:avLst/>
              <a:gdLst/>
              <a:ahLst/>
              <a:cxnLst/>
              <a:rect l="l" t="t" r="r" b="b"/>
              <a:pathLst>
                <a:path w="6967" h="1837" extrusionOk="0">
                  <a:moveTo>
                    <a:pt x="1" y="1"/>
                  </a:moveTo>
                  <a:lnTo>
                    <a:pt x="791" y="775"/>
                  </a:lnTo>
                  <a:cubicBezTo>
                    <a:pt x="830" y="817"/>
                    <a:pt x="843" y="870"/>
                    <a:pt x="843" y="912"/>
                  </a:cubicBezTo>
                  <a:cubicBezTo>
                    <a:pt x="843" y="968"/>
                    <a:pt x="830" y="1007"/>
                    <a:pt x="791" y="1049"/>
                  </a:cubicBezTo>
                  <a:lnTo>
                    <a:pt x="1" y="1836"/>
                  </a:lnTo>
                  <a:lnTo>
                    <a:pt x="6069" y="1836"/>
                  </a:lnTo>
                  <a:lnTo>
                    <a:pt x="6967" y="912"/>
                  </a:lnTo>
                  <a:lnTo>
                    <a:pt x="606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1">
              <a:extLst>
                <a:ext uri="{FF2B5EF4-FFF2-40B4-BE49-F238E27FC236}">
                  <a16:creationId xmlns:a16="http://schemas.microsoft.com/office/drawing/2014/main" id="{B8615796-DA21-C35F-4328-772C5E359DF5}"/>
                </a:ext>
              </a:extLst>
            </p:cNvPr>
            <p:cNvSpPr/>
            <p:nvPr/>
          </p:nvSpPr>
          <p:spPr>
            <a:xfrm>
              <a:off x="1386694" y="1255539"/>
              <a:ext cx="1078409" cy="903046"/>
            </a:xfrm>
            <a:custGeom>
              <a:avLst/>
              <a:gdLst/>
              <a:ahLst/>
              <a:cxnLst/>
              <a:rect l="l" t="t" r="r" b="b"/>
              <a:pathLst>
                <a:path w="17297" h="14947" extrusionOk="0">
                  <a:moveTo>
                    <a:pt x="10412" y="0"/>
                  </a:moveTo>
                  <a:cubicBezTo>
                    <a:pt x="9523" y="0"/>
                    <a:pt x="8727" y="233"/>
                    <a:pt x="8192" y="633"/>
                  </a:cubicBezTo>
                  <a:cubicBezTo>
                    <a:pt x="7863" y="454"/>
                    <a:pt x="7486" y="355"/>
                    <a:pt x="7094" y="355"/>
                  </a:cubicBezTo>
                  <a:cubicBezTo>
                    <a:pt x="6855" y="355"/>
                    <a:pt x="6611" y="392"/>
                    <a:pt x="6369" y="469"/>
                  </a:cubicBezTo>
                  <a:cubicBezTo>
                    <a:pt x="5866" y="633"/>
                    <a:pt x="5458" y="943"/>
                    <a:pt x="5184" y="1351"/>
                  </a:cubicBezTo>
                  <a:cubicBezTo>
                    <a:pt x="5017" y="1316"/>
                    <a:pt x="4843" y="1299"/>
                    <a:pt x="4665" y="1299"/>
                  </a:cubicBezTo>
                  <a:cubicBezTo>
                    <a:pt x="4005" y="1299"/>
                    <a:pt x="3292" y="1540"/>
                    <a:pt x="2682" y="2034"/>
                  </a:cubicBezTo>
                  <a:cubicBezTo>
                    <a:pt x="1960" y="2605"/>
                    <a:pt x="1539" y="3392"/>
                    <a:pt x="1458" y="4156"/>
                  </a:cubicBezTo>
                  <a:cubicBezTo>
                    <a:pt x="736" y="4346"/>
                    <a:pt x="164" y="4944"/>
                    <a:pt x="53" y="5721"/>
                  </a:cubicBezTo>
                  <a:cubicBezTo>
                    <a:pt x="1" y="6237"/>
                    <a:pt x="151" y="6727"/>
                    <a:pt x="448" y="7096"/>
                  </a:cubicBezTo>
                  <a:cubicBezTo>
                    <a:pt x="259" y="7693"/>
                    <a:pt x="259" y="8347"/>
                    <a:pt x="517" y="8944"/>
                  </a:cubicBezTo>
                  <a:cubicBezTo>
                    <a:pt x="955" y="9974"/>
                    <a:pt x="1994" y="10584"/>
                    <a:pt x="3113" y="10584"/>
                  </a:cubicBezTo>
                  <a:cubicBezTo>
                    <a:pt x="3520" y="10584"/>
                    <a:pt x="3938" y="10503"/>
                    <a:pt x="4341" y="10332"/>
                  </a:cubicBezTo>
                  <a:cubicBezTo>
                    <a:pt x="4449" y="10280"/>
                    <a:pt x="4573" y="10224"/>
                    <a:pt x="4681" y="10156"/>
                  </a:cubicBezTo>
                  <a:cubicBezTo>
                    <a:pt x="4694" y="10224"/>
                    <a:pt x="4723" y="10293"/>
                    <a:pt x="4749" y="10348"/>
                  </a:cubicBezTo>
                  <a:cubicBezTo>
                    <a:pt x="5188" y="11377"/>
                    <a:pt x="6228" y="11986"/>
                    <a:pt x="7343" y="11986"/>
                  </a:cubicBezTo>
                  <a:cubicBezTo>
                    <a:pt x="7747" y="11986"/>
                    <a:pt x="8162" y="11906"/>
                    <a:pt x="8561" y="11736"/>
                  </a:cubicBezTo>
                  <a:cubicBezTo>
                    <a:pt x="8613" y="11707"/>
                    <a:pt x="8668" y="11681"/>
                    <a:pt x="8724" y="11668"/>
                  </a:cubicBezTo>
                  <a:cubicBezTo>
                    <a:pt x="9023" y="11995"/>
                    <a:pt x="9467" y="12178"/>
                    <a:pt x="9934" y="12178"/>
                  </a:cubicBezTo>
                  <a:cubicBezTo>
                    <a:pt x="10105" y="12178"/>
                    <a:pt x="10280" y="12153"/>
                    <a:pt x="10452" y="12102"/>
                  </a:cubicBezTo>
                  <a:cubicBezTo>
                    <a:pt x="10520" y="12347"/>
                    <a:pt x="10628" y="12592"/>
                    <a:pt x="10749" y="12837"/>
                  </a:cubicBezTo>
                  <a:cubicBezTo>
                    <a:pt x="11389" y="14049"/>
                    <a:pt x="12493" y="14810"/>
                    <a:pt x="13606" y="14947"/>
                  </a:cubicBezTo>
                  <a:lnTo>
                    <a:pt x="14113" y="14496"/>
                  </a:lnTo>
                  <a:cubicBezTo>
                    <a:pt x="14096" y="14483"/>
                    <a:pt x="14096" y="14483"/>
                    <a:pt x="14083" y="14470"/>
                  </a:cubicBezTo>
                  <a:cubicBezTo>
                    <a:pt x="13077" y="14156"/>
                    <a:pt x="12329" y="13219"/>
                    <a:pt x="12329" y="12089"/>
                  </a:cubicBezTo>
                  <a:lnTo>
                    <a:pt x="12329" y="11994"/>
                  </a:lnTo>
                  <a:cubicBezTo>
                    <a:pt x="12768" y="12248"/>
                    <a:pt x="13281" y="12388"/>
                    <a:pt x="13814" y="12388"/>
                  </a:cubicBezTo>
                  <a:cubicBezTo>
                    <a:pt x="14223" y="12388"/>
                    <a:pt x="14643" y="12305"/>
                    <a:pt x="15050" y="12128"/>
                  </a:cubicBezTo>
                  <a:cubicBezTo>
                    <a:pt x="16562" y="11491"/>
                    <a:pt x="17297" y="9829"/>
                    <a:pt x="16696" y="8428"/>
                  </a:cubicBezTo>
                  <a:cubicBezTo>
                    <a:pt x="16601" y="8196"/>
                    <a:pt x="16464" y="7981"/>
                    <a:pt x="16317" y="7788"/>
                  </a:cubicBezTo>
                  <a:cubicBezTo>
                    <a:pt x="16983" y="7096"/>
                    <a:pt x="17173" y="5897"/>
                    <a:pt x="16709" y="4797"/>
                  </a:cubicBezTo>
                  <a:cubicBezTo>
                    <a:pt x="16288" y="3801"/>
                    <a:pt x="15432" y="3134"/>
                    <a:pt x="14560" y="3027"/>
                  </a:cubicBezTo>
                  <a:cubicBezTo>
                    <a:pt x="14736" y="1789"/>
                    <a:pt x="13391" y="509"/>
                    <a:pt x="11500" y="113"/>
                  </a:cubicBezTo>
                  <a:cubicBezTo>
                    <a:pt x="11130" y="37"/>
                    <a:pt x="10763" y="0"/>
                    <a:pt x="104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1">
              <a:extLst>
                <a:ext uri="{FF2B5EF4-FFF2-40B4-BE49-F238E27FC236}">
                  <a16:creationId xmlns:a16="http://schemas.microsoft.com/office/drawing/2014/main" id="{C57EF2D2-E272-0D13-87B7-53727F13F1B2}"/>
                </a:ext>
              </a:extLst>
            </p:cNvPr>
            <p:cNvSpPr txBox="1"/>
            <p:nvPr/>
          </p:nvSpPr>
          <p:spPr>
            <a:xfrm>
              <a:off x="3341242" y="1262932"/>
              <a:ext cx="3129011" cy="8661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Fira Sans"/>
                  <a:ea typeface="Fira Sans"/>
                  <a:cs typeface="Fira Sans"/>
                  <a:sym typeface="Fira Sans"/>
                </a:rPr>
                <a:t>Identificazione dei punti fiduciali sulle immagini diagnostiche </a:t>
              </a:r>
              <a:endParaRPr sz="11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2" name="Google Shape;124;p18">
            <a:extLst>
              <a:ext uri="{FF2B5EF4-FFF2-40B4-BE49-F238E27FC236}">
                <a16:creationId xmlns:a16="http://schemas.microsoft.com/office/drawing/2014/main" id="{A589435A-2E59-8AB9-F26D-4AE0578A15FD}"/>
              </a:ext>
            </a:extLst>
          </p:cNvPr>
          <p:cNvSpPr txBox="1">
            <a:spLocks/>
          </p:cNvSpPr>
          <p:nvPr/>
        </p:nvSpPr>
        <p:spPr>
          <a:xfrm>
            <a:off x="241876" y="138724"/>
            <a:ext cx="878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None/>
              <a:defRPr sz="24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sz="2800" dirty="0"/>
              <a:t>Stereotassi Frameless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1D87364E-79F7-BA33-30BF-226DE00E1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000" y="567550"/>
            <a:ext cx="8784000" cy="572700"/>
          </a:xfrm>
        </p:spPr>
        <p:txBody>
          <a:bodyPr/>
          <a:lstStyle/>
          <a:p>
            <a:r>
              <a:rPr lang="it-IT" sz="1800" dirty="0"/>
              <a:t>Fase di registrazione</a:t>
            </a:r>
          </a:p>
        </p:txBody>
      </p:sp>
      <p:pic>
        <p:nvPicPr>
          <p:cNvPr id="7" name="Immagine 6" descr="Immagine che contiene vestiti, testo, cartone animato, diagramma&#10;&#10;Il contenuto generato dall'IA potrebbe non essere corretto.">
            <a:extLst>
              <a:ext uri="{FF2B5EF4-FFF2-40B4-BE49-F238E27FC236}">
                <a16:creationId xmlns:a16="http://schemas.microsoft.com/office/drawing/2014/main" id="{B219659C-1AA0-63CD-A139-29BC88A71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1605" y="1571317"/>
            <a:ext cx="3493399" cy="2373944"/>
          </a:xfrm>
          <a:prstGeom prst="rect">
            <a:avLst/>
          </a:prstGeom>
        </p:spPr>
      </p:pic>
      <p:grpSp>
        <p:nvGrpSpPr>
          <p:cNvPr id="3" name="Gruppo 2">
            <a:extLst>
              <a:ext uri="{FF2B5EF4-FFF2-40B4-BE49-F238E27FC236}">
                <a16:creationId xmlns:a16="http://schemas.microsoft.com/office/drawing/2014/main" id="{DB653D5D-B417-3F87-EAD2-DCC92442A264}"/>
              </a:ext>
            </a:extLst>
          </p:cNvPr>
          <p:cNvGrpSpPr/>
          <p:nvPr/>
        </p:nvGrpSpPr>
        <p:grpSpPr>
          <a:xfrm>
            <a:off x="324380" y="1936800"/>
            <a:ext cx="4247620" cy="883760"/>
            <a:chOff x="1386694" y="1140650"/>
            <a:chExt cx="5712278" cy="1134473"/>
          </a:xfrm>
        </p:grpSpPr>
        <p:sp>
          <p:nvSpPr>
            <p:cNvPr id="20" name="Google Shape;563;p31">
              <a:extLst>
                <a:ext uri="{FF2B5EF4-FFF2-40B4-BE49-F238E27FC236}">
                  <a16:creationId xmlns:a16="http://schemas.microsoft.com/office/drawing/2014/main" id="{EB1D8149-39CD-94BF-32C3-EEC4E9681DE4}"/>
                </a:ext>
              </a:extLst>
            </p:cNvPr>
            <p:cNvSpPr/>
            <p:nvPr/>
          </p:nvSpPr>
          <p:spPr>
            <a:xfrm>
              <a:off x="2650896" y="1140650"/>
              <a:ext cx="617371" cy="1134473"/>
            </a:xfrm>
            <a:custGeom>
              <a:avLst/>
              <a:gdLst/>
              <a:ahLst/>
              <a:cxnLst/>
              <a:rect l="l" t="t" r="r" b="b"/>
              <a:pathLst>
                <a:path w="1389" h="2249" extrusionOk="0">
                  <a:moveTo>
                    <a:pt x="237" y="0"/>
                  </a:moveTo>
                  <a:cubicBezTo>
                    <a:pt x="190" y="0"/>
                    <a:pt x="143" y="21"/>
                    <a:pt x="108" y="62"/>
                  </a:cubicBezTo>
                  <a:lnTo>
                    <a:pt x="1" y="156"/>
                  </a:lnTo>
                  <a:lnTo>
                    <a:pt x="843" y="986"/>
                  </a:lnTo>
                  <a:cubicBezTo>
                    <a:pt x="912" y="1067"/>
                    <a:pt x="912" y="1192"/>
                    <a:pt x="843" y="1260"/>
                  </a:cubicBezTo>
                  <a:lnTo>
                    <a:pt x="1" y="2103"/>
                  </a:lnTo>
                  <a:lnTo>
                    <a:pt x="108" y="2197"/>
                  </a:lnTo>
                  <a:cubicBezTo>
                    <a:pt x="143" y="2232"/>
                    <a:pt x="190" y="2249"/>
                    <a:pt x="237" y="2249"/>
                  </a:cubicBezTo>
                  <a:cubicBezTo>
                    <a:pt x="285" y="2249"/>
                    <a:pt x="332" y="2232"/>
                    <a:pt x="366" y="2197"/>
                  </a:cubicBezTo>
                  <a:lnTo>
                    <a:pt x="1307" y="1260"/>
                  </a:lnTo>
                  <a:cubicBezTo>
                    <a:pt x="1389" y="1192"/>
                    <a:pt x="1389" y="1067"/>
                    <a:pt x="1307" y="986"/>
                  </a:cubicBezTo>
                  <a:lnTo>
                    <a:pt x="366" y="62"/>
                  </a:lnTo>
                  <a:cubicBezTo>
                    <a:pt x="332" y="21"/>
                    <a:pt x="285" y="0"/>
                    <a:pt x="237" y="0"/>
                  </a:cubicBezTo>
                  <a:close/>
                </a:path>
              </a:pathLst>
            </a:custGeom>
            <a:solidFill>
              <a:srgbClr val="64DE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64;p31">
              <a:extLst>
                <a:ext uri="{FF2B5EF4-FFF2-40B4-BE49-F238E27FC236}">
                  <a16:creationId xmlns:a16="http://schemas.microsoft.com/office/drawing/2014/main" id="{FBAB43E0-67C9-C364-3371-E7E6940CCFC1}"/>
                </a:ext>
              </a:extLst>
            </p:cNvPr>
            <p:cNvSpPr/>
            <p:nvPr/>
          </p:nvSpPr>
          <p:spPr>
            <a:xfrm>
              <a:off x="2577921" y="1421897"/>
              <a:ext cx="323910" cy="534899"/>
            </a:xfrm>
            <a:custGeom>
              <a:avLst/>
              <a:gdLst/>
              <a:ahLst/>
              <a:cxnLst/>
              <a:rect l="l" t="t" r="r" b="b"/>
              <a:pathLst>
                <a:path w="423" h="730" extrusionOk="0">
                  <a:moveTo>
                    <a:pt x="96" y="0"/>
                  </a:moveTo>
                  <a:cubicBezTo>
                    <a:pt x="46" y="0"/>
                    <a:pt x="1" y="38"/>
                    <a:pt x="1" y="94"/>
                  </a:cubicBezTo>
                  <a:lnTo>
                    <a:pt x="1" y="636"/>
                  </a:lnTo>
                  <a:cubicBezTo>
                    <a:pt x="1" y="692"/>
                    <a:pt x="46" y="730"/>
                    <a:pt x="96" y="730"/>
                  </a:cubicBezTo>
                  <a:cubicBezTo>
                    <a:pt x="119" y="730"/>
                    <a:pt x="143" y="722"/>
                    <a:pt x="164" y="705"/>
                  </a:cubicBezTo>
                  <a:lnTo>
                    <a:pt x="327" y="528"/>
                  </a:lnTo>
                  <a:cubicBezTo>
                    <a:pt x="422" y="447"/>
                    <a:pt x="422" y="296"/>
                    <a:pt x="327" y="202"/>
                  </a:cubicBezTo>
                  <a:lnTo>
                    <a:pt x="164" y="25"/>
                  </a:lnTo>
                  <a:cubicBezTo>
                    <a:pt x="143" y="8"/>
                    <a:pt x="119" y="0"/>
                    <a:pt x="96" y="0"/>
                  </a:cubicBezTo>
                  <a:close/>
                </a:path>
              </a:pathLst>
            </a:custGeom>
            <a:solidFill>
              <a:srgbClr val="64DE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65;p31">
              <a:extLst>
                <a:ext uri="{FF2B5EF4-FFF2-40B4-BE49-F238E27FC236}">
                  <a16:creationId xmlns:a16="http://schemas.microsoft.com/office/drawing/2014/main" id="{1DD51E60-79DB-1CED-49C2-CC55CFD52012}"/>
                </a:ext>
              </a:extLst>
            </p:cNvPr>
            <p:cNvSpPr/>
            <p:nvPr/>
          </p:nvSpPr>
          <p:spPr>
            <a:xfrm>
              <a:off x="2842351" y="1218940"/>
              <a:ext cx="4256621" cy="976247"/>
            </a:xfrm>
            <a:custGeom>
              <a:avLst/>
              <a:gdLst/>
              <a:ahLst/>
              <a:cxnLst/>
              <a:rect l="l" t="t" r="r" b="b"/>
              <a:pathLst>
                <a:path w="6967" h="1837" extrusionOk="0">
                  <a:moveTo>
                    <a:pt x="1" y="1"/>
                  </a:moveTo>
                  <a:lnTo>
                    <a:pt x="791" y="775"/>
                  </a:lnTo>
                  <a:cubicBezTo>
                    <a:pt x="830" y="817"/>
                    <a:pt x="843" y="870"/>
                    <a:pt x="843" y="912"/>
                  </a:cubicBezTo>
                  <a:cubicBezTo>
                    <a:pt x="843" y="968"/>
                    <a:pt x="830" y="1007"/>
                    <a:pt x="791" y="1049"/>
                  </a:cubicBezTo>
                  <a:lnTo>
                    <a:pt x="1" y="1836"/>
                  </a:lnTo>
                  <a:lnTo>
                    <a:pt x="6069" y="1836"/>
                  </a:lnTo>
                  <a:lnTo>
                    <a:pt x="6967" y="912"/>
                  </a:lnTo>
                  <a:lnTo>
                    <a:pt x="606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75;p31">
              <a:extLst>
                <a:ext uri="{FF2B5EF4-FFF2-40B4-BE49-F238E27FC236}">
                  <a16:creationId xmlns:a16="http://schemas.microsoft.com/office/drawing/2014/main" id="{044FA300-FBB9-D648-4E1D-96B6C2C42495}"/>
                </a:ext>
              </a:extLst>
            </p:cNvPr>
            <p:cNvSpPr/>
            <p:nvPr/>
          </p:nvSpPr>
          <p:spPr>
            <a:xfrm>
              <a:off x="1386694" y="1255539"/>
              <a:ext cx="1078409" cy="903046"/>
            </a:xfrm>
            <a:custGeom>
              <a:avLst/>
              <a:gdLst/>
              <a:ahLst/>
              <a:cxnLst/>
              <a:rect l="l" t="t" r="r" b="b"/>
              <a:pathLst>
                <a:path w="17297" h="14947" extrusionOk="0">
                  <a:moveTo>
                    <a:pt x="10412" y="0"/>
                  </a:moveTo>
                  <a:cubicBezTo>
                    <a:pt x="9523" y="0"/>
                    <a:pt x="8727" y="233"/>
                    <a:pt x="8192" y="633"/>
                  </a:cubicBezTo>
                  <a:cubicBezTo>
                    <a:pt x="7863" y="454"/>
                    <a:pt x="7486" y="355"/>
                    <a:pt x="7094" y="355"/>
                  </a:cubicBezTo>
                  <a:cubicBezTo>
                    <a:pt x="6855" y="355"/>
                    <a:pt x="6611" y="392"/>
                    <a:pt x="6369" y="469"/>
                  </a:cubicBezTo>
                  <a:cubicBezTo>
                    <a:pt x="5866" y="633"/>
                    <a:pt x="5458" y="943"/>
                    <a:pt x="5184" y="1351"/>
                  </a:cubicBezTo>
                  <a:cubicBezTo>
                    <a:pt x="5017" y="1316"/>
                    <a:pt x="4843" y="1299"/>
                    <a:pt x="4665" y="1299"/>
                  </a:cubicBezTo>
                  <a:cubicBezTo>
                    <a:pt x="4005" y="1299"/>
                    <a:pt x="3292" y="1540"/>
                    <a:pt x="2682" y="2034"/>
                  </a:cubicBezTo>
                  <a:cubicBezTo>
                    <a:pt x="1960" y="2605"/>
                    <a:pt x="1539" y="3392"/>
                    <a:pt x="1458" y="4156"/>
                  </a:cubicBezTo>
                  <a:cubicBezTo>
                    <a:pt x="736" y="4346"/>
                    <a:pt x="164" y="4944"/>
                    <a:pt x="53" y="5721"/>
                  </a:cubicBezTo>
                  <a:cubicBezTo>
                    <a:pt x="1" y="6237"/>
                    <a:pt x="151" y="6727"/>
                    <a:pt x="448" y="7096"/>
                  </a:cubicBezTo>
                  <a:cubicBezTo>
                    <a:pt x="259" y="7693"/>
                    <a:pt x="259" y="8347"/>
                    <a:pt x="517" y="8944"/>
                  </a:cubicBezTo>
                  <a:cubicBezTo>
                    <a:pt x="955" y="9974"/>
                    <a:pt x="1994" y="10584"/>
                    <a:pt x="3113" y="10584"/>
                  </a:cubicBezTo>
                  <a:cubicBezTo>
                    <a:pt x="3520" y="10584"/>
                    <a:pt x="3938" y="10503"/>
                    <a:pt x="4341" y="10332"/>
                  </a:cubicBezTo>
                  <a:cubicBezTo>
                    <a:pt x="4449" y="10280"/>
                    <a:pt x="4573" y="10224"/>
                    <a:pt x="4681" y="10156"/>
                  </a:cubicBezTo>
                  <a:cubicBezTo>
                    <a:pt x="4694" y="10224"/>
                    <a:pt x="4723" y="10293"/>
                    <a:pt x="4749" y="10348"/>
                  </a:cubicBezTo>
                  <a:cubicBezTo>
                    <a:pt x="5188" y="11377"/>
                    <a:pt x="6228" y="11986"/>
                    <a:pt x="7343" y="11986"/>
                  </a:cubicBezTo>
                  <a:cubicBezTo>
                    <a:pt x="7747" y="11986"/>
                    <a:pt x="8162" y="11906"/>
                    <a:pt x="8561" y="11736"/>
                  </a:cubicBezTo>
                  <a:cubicBezTo>
                    <a:pt x="8613" y="11707"/>
                    <a:pt x="8668" y="11681"/>
                    <a:pt x="8724" y="11668"/>
                  </a:cubicBezTo>
                  <a:cubicBezTo>
                    <a:pt x="9023" y="11995"/>
                    <a:pt x="9467" y="12178"/>
                    <a:pt x="9934" y="12178"/>
                  </a:cubicBezTo>
                  <a:cubicBezTo>
                    <a:pt x="10105" y="12178"/>
                    <a:pt x="10280" y="12153"/>
                    <a:pt x="10452" y="12102"/>
                  </a:cubicBezTo>
                  <a:cubicBezTo>
                    <a:pt x="10520" y="12347"/>
                    <a:pt x="10628" y="12592"/>
                    <a:pt x="10749" y="12837"/>
                  </a:cubicBezTo>
                  <a:cubicBezTo>
                    <a:pt x="11389" y="14049"/>
                    <a:pt x="12493" y="14810"/>
                    <a:pt x="13606" y="14947"/>
                  </a:cubicBezTo>
                  <a:lnTo>
                    <a:pt x="14113" y="14496"/>
                  </a:lnTo>
                  <a:cubicBezTo>
                    <a:pt x="14096" y="14483"/>
                    <a:pt x="14096" y="14483"/>
                    <a:pt x="14083" y="14470"/>
                  </a:cubicBezTo>
                  <a:cubicBezTo>
                    <a:pt x="13077" y="14156"/>
                    <a:pt x="12329" y="13219"/>
                    <a:pt x="12329" y="12089"/>
                  </a:cubicBezTo>
                  <a:lnTo>
                    <a:pt x="12329" y="11994"/>
                  </a:lnTo>
                  <a:cubicBezTo>
                    <a:pt x="12768" y="12248"/>
                    <a:pt x="13281" y="12388"/>
                    <a:pt x="13814" y="12388"/>
                  </a:cubicBezTo>
                  <a:cubicBezTo>
                    <a:pt x="14223" y="12388"/>
                    <a:pt x="14643" y="12305"/>
                    <a:pt x="15050" y="12128"/>
                  </a:cubicBezTo>
                  <a:cubicBezTo>
                    <a:pt x="16562" y="11491"/>
                    <a:pt x="17297" y="9829"/>
                    <a:pt x="16696" y="8428"/>
                  </a:cubicBezTo>
                  <a:cubicBezTo>
                    <a:pt x="16601" y="8196"/>
                    <a:pt x="16464" y="7981"/>
                    <a:pt x="16317" y="7788"/>
                  </a:cubicBezTo>
                  <a:cubicBezTo>
                    <a:pt x="16983" y="7096"/>
                    <a:pt x="17173" y="5897"/>
                    <a:pt x="16709" y="4797"/>
                  </a:cubicBezTo>
                  <a:cubicBezTo>
                    <a:pt x="16288" y="3801"/>
                    <a:pt x="15432" y="3134"/>
                    <a:pt x="14560" y="3027"/>
                  </a:cubicBezTo>
                  <a:cubicBezTo>
                    <a:pt x="14736" y="1789"/>
                    <a:pt x="13391" y="509"/>
                    <a:pt x="11500" y="113"/>
                  </a:cubicBezTo>
                  <a:cubicBezTo>
                    <a:pt x="11130" y="37"/>
                    <a:pt x="10763" y="0"/>
                    <a:pt x="10412" y="0"/>
                  </a:cubicBezTo>
                  <a:close/>
                </a:path>
              </a:pathLst>
            </a:custGeom>
            <a:solidFill>
              <a:srgbClr val="64DEA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84;p31">
              <a:extLst>
                <a:ext uri="{FF2B5EF4-FFF2-40B4-BE49-F238E27FC236}">
                  <a16:creationId xmlns:a16="http://schemas.microsoft.com/office/drawing/2014/main" id="{BE994670-C9F1-0C2C-E9D5-C5539ECB30A2}"/>
                </a:ext>
              </a:extLst>
            </p:cNvPr>
            <p:cNvSpPr txBox="1"/>
            <p:nvPr/>
          </p:nvSpPr>
          <p:spPr>
            <a:xfrm>
              <a:off x="3341242" y="1262932"/>
              <a:ext cx="3129011" cy="8661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Fira Sans"/>
                  <a:ea typeface="Fira Sans"/>
                  <a:cs typeface="Fira Sans"/>
                  <a:sym typeface="Fira Sans"/>
                </a:rPr>
                <a:t>Successiva localizzazione sul paziente mediante uno strumento tracciato</a:t>
              </a:r>
              <a:endParaRPr sz="11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5" name="Gruppo 24">
            <a:extLst>
              <a:ext uri="{FF2B5EF4-FFF2-40B4-BE49-F238E27FC236}">
                <a16:creationId xmlns:a16="http://schemas.microsoft.com/office/drawing/2014/main" id="{A3965B9A-B499-BFBE-998C-B93930550E6B}"/>
              </a:ext>
            </a:extLst>
          </p:cNvPr>
          <p:cNvGrpSpPr/>
          <p:nvPr/>
        </p:nvGrpSpPr>
        <p:grpSpPr>
          <a:xfrm>
            <a:off x="324380" y="2943791"/>
            <a:ext cx="4247620" cy="883760"/>
            <a:chOff x="1386694" y="1140650"/>
            <a:chExt cx="5712278" cy="1134473"/>
          </a:xfrm>
        </p:grpSpPr>
        <p:sp>
          <p:nvSpPr>
            <p:cNvPr id="26" name="Google Shape;563;p31">
              <a:extLst>
                <a:ext uri="{FF2B5EF4-FFF2-40B4-BE49-F238E27FC236}">
                  <a16:creationId xmlns:a16="http://schemas.microsoft.com/office/drawing/2014/main" id="{F655FFBB-3D4C-6F75-146D-D5721B21BCD3}"/>
                </a:ext>
              </a:extLst>
            </p:cNvPr>
            <p:cNvSpPr/>
            <p:nvPr/>
          </p:nvSpPr>
          <p:spPr>
            <a:xfrm>
              <a:off x="2650896" y="1140650"/>
              <a:ext cx="617371" cy="1134473"/>
            </a:xfrm>
            <a:custGeom>
              <a:avLst/>
              <a:gdLst/>
              <a:ahLst/>
              <a:cxnLst/>
              <a:rect l="l" t="t" r="r" b="b"/>
              <a:pathLst>
                <a:path w="1389" h="2249" extrusionOk="0">
                  <a:moveTo>
                    <a:pt x="237" y="0"/>
                  </a:moveTo>
                  <a:cubicBezTo>
                    <a:pt x="190" y="0"/>
                    <a:pt x="143" y="21"/>
                    <a:pt x="108" y="62"/>
                  </a:cubicBezTo>
                  <a:lnTo>
                    <a:pt x="1" y="156"/>
                  </a:lnTo>
                  <a:lnTo>
                    <a:pt x="843" y="986"/>
                  </a:lnTo>
                  <a:cubicBezTo>
                    <a:pt x="912" y="1067"/>
                    <a:pt x="912" y="1192"/>
                    <a:pt x="843" y="1260"/>
                  </a:cubicBezTo>
                  <a:lnTo>
                    <a:pt x="1" y="2103"/>
                  </a:lnTo>
                  <a:lnTo>
                    <a:pt x="108" y="2197"/>
                  </a:lnTo>
                  <a:cubicBezTo>
                    <a:pt x="143" y="2232"/>
                    <a:pt x="190" y="2249"/>
                    <a:pt x="237" y="2249"/>
                  </a:cubicBezTo>
                  <a:cubicBezTo>
                    <a:pt x="285" y="2249"/>
                    <a:pt x="332" y="2232"/>
                    <a:pt x="366" y="2197"/>
                  </a:cubicBezTo>
                  <a:lnTo>
                    <a:pt x="1307" y="1260"/>
                  </a:lnTo>
                  <a:cubicBezTo>
                    <a:pt x="1389" y="1192"/>
                    <a:pt x="1389" y="1067"/>
                    <a:pt x="1307" y="986"/>
                  </a:cubicBezTo>
                  <a:lnTo>
                    <a:pt x="366" y="62"/>
                  </a:lnTo>
                  <a:cubicBezTo>
                    <a:pt x="332" y="21"/>
                    <a:pt x="285" y="0"/>
                    <a:pt x="237" y="0"/>
                  </a:cubicBezTo>
                  <a:close/>
                </a:path>
              </a:pathLst>
            </a:custGeom>
            <a:solidFill>
              <a:srgbClr val="0096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64;p31">
              <a:extLst>
                <a:ext uri="{FF2B5EF4-FFF2-40B4-BE49-F238E27FC236}">
                  <a16:creationId xmlns:a16="http://schemas.microsoft.com/office/drawing/2014/main" id="{2915AB85-9BB1-1603-E4C1-68C081C14DF8}"/>
                </a:ext>
              </a:extLst>
            </p:cNvPr>
            <p:cNvSpPr/>
            <p:nvPr/>
          </p:nvSpPr>
          <p:spPr>
            <a:xfrm>
              <a:off x="2577921" y="1421897"/>
              <a:ext cx="323910" cy="534899"/>
            </a:xfrm>
            <a:custGeom>
              <a:avLst/>
              <a:gdLst/>
              <a:ahLst/>
              <a:cxnLst/>
              <a:rect l="l" t="t" r="r" b="b"/>
              <a:pathLst>
                <a:path w="423" h="730" extrusionOk="0">
                  <a:moveTo>
                    <a:pt x="96" y="0"/>
                  </a:moveTo>
                  <a:cubicBezTo>
                    <a:pt x="46" y="0"/>
                    <a:pt x="1" y="38"/>
                    <a:pt x="1" y="94"/>
                  </a:cubicBezTo>
                  <a:lnTo>
                    <a:pt x="1" y="636"/>
                  </a:lnTo>
                  <a:cubicBezTo>
                    <a:pt x="1" y="692"/>
                    <a:pt x="46" y="730"/>
                    <a:pt x="96" y="730"/>
                  </a:cubicBezTo>
                  <a:cubicBezTo>
                    <a:pt x="119" y="730"/>
                    <a:pt x="143" y="722"/>
                    <a:pt x="164" y="705"/>
                  </a:cubicBezTo>
                  <a:lnTo>
                    <a:pt x="327" y="528"/>
                  </a:lnTo>
                  <a:cubicBezTo>
                    <a:pt x="422" y="447"/>
                    <a:pt x="422" y="296"/>
                    <a:pt x="327" y="202"/>
                  </a:cubicBezTo>
                  <a:lnTo>
                    <a:pt x="164" y="25"/>
                  </a:lnTo>
                  <a:cubicBezTo>
                    <a:pt x="143" y="8"/>
                    <a:pt x="119" y="0"/>
                    <a:pt x="96" y="0"/>
                  </a:cubicBezTo>
                  <a:close/>
                </a:path>
              </a:pathLst>
            </a:custGeom>
            <a:solidFill>
              <a:srgbClr val="0096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565;p31">
              <a:extLst>
                <a:ext uri="{FF2B5EF4-FFF2-40B4-BE49-F238E27FC236}">
                  <a16:creationId xmlns:a16="http://schemas.microsoft.com/office/drawing/2014/main" id="{8C384156-7827-488F-A211-8B2A2CED55BD}"/>
                </a:ext>
              </a:extLst>
            </p:cNvPr>
            <p:cNvSpPr/>
            <p:nvPr/>
          </p:nvSpPr>
          <p:spPr>
            <a:xfrm>
              <a:off x="2842351" y="1218940"/>
              <a:ext cx="4256621" cy="976247"/>
            </a:xfrm>
            <a:custGeom>
              <a:avLst/>
              <a:gdLst/>
              <a:ahLst/>
              <a:cxnLst/>
              <a:rect l="l" t="t" r="r" b="b"/>
              <a:pathLst>
                <a:path w="6967" h="1837" extrusionOk="0">
                  <a:moveTo>
                    <a:pt x="1" y="1"/>
                  </a:moveTo>
                  <a:lnTo>
                    <a:pt x="791" y="775"/>
                  </a:lnTo>
                  <a:cubicBezTo>
                    <a:pt x="830" y="817"/>
                    <a:pt x="843" y="870"/>
                    <a:pt x="843" y="912"/>
                  </a:cubicBezTo>
                  <a:cubicBezTo>
                    <a:pt x="843" y="968"/>
                    <a:pt x="830" y="1007"/>
                    <a:pt x="791" y="1049"/>
                  </a:cubicBezTo>
                  <a:lnTo>
                    <a:pt x="1" y="1836"/>
                  </a:lnTo>
                  <a:lnTo>
                    <a:pt x="6069" y="1836"/>
                  </a:lnTo>
                  <a:lnTo>
                    <a:pt x="6967" y="912"/>
                  </a:lnTo>
                  <a:lnTo>
                    <a:pt x="606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575;p31">
              <a:extLst>
                <a:ext uri="{FF2B5EF4-FFF2-40B4-BE49-F238E27FC236}">
                  <a16:creationId xmlns:a16="http://schemas.microsoft.com/office/drawing/2014/main" id="{EE4A4A31-3649-98E8-BC6A-74171EC821E0}"/>
                </a:ext>
              </a:extLst>
            </p:cNvPr>
            <p:cNvSpPr/>
            <p:nvPr/>
          </p:nvSpPr>
          <p:spPr>
            <a:xfrm>
              <a:off x="1386694" y="1255539"/>
              <a:ext cx="1078409" cy="903046"/>
            </a:xfrm>
            <a:custGeom>
              <a:avLst/>
              <a:gdLst/>
              <a:ahLst/>
              <a:cxnLst/>
              <a:rect l="l" t="t" r="r" b="b"/>
              <a:pathLst>
                <a:path w="17297" h="14947" extrusionOk="0">
                  <a:moveTo>
                    <a:pt x="10412" y="0"/>
                  </a:moveTo>
                  <a:cubicBezTo>
                    <a:pt x="9523" y="0"/>
                    <a:pt x="8727" y="233"/>
                    <a:pt x="8192" y="633"/>
                  </a:cubicBezTo>
                  <a:cubicBezTo>
                    <a:pt x="7863" y="454"/>
                    <a:pt x="7486" y="355"/>
                    <a:pt x="7094" y="355"/>
                  </a:cubicBezTo>
                  <a:cubicBezTo>
                    <a:pt x="6855" y="355"/>
                    <a:pt x="6611" y="392"/>
                    <a:pt x="6369" y="469"/>
                  </a:cubicBezTo>
                  <a:cubicBezTo>
                    <a:pt x="5866" y="633"/>
                    <a:pt x="5458" y="943"/>
                    <a:pt x="5184" y="1351"/>
                  </a:cubicBezTo>
                  <a:cubicBezTo>
                    <a:pt x="5017" y="1316"/>
                    <a:pt x="4843" y="1299"/>
                    <a:pt x="4665" y="1299"/>
                  </a:cubicBezTo>
                  <a:cubicBezTo>
                    <a:pt x="4005" y="1299"/>
                    <a:pt x="3292" y="1540"/>
                    <a:pt x="2682" y="2034"/>
                  </a:cubicBezTo>
                  <a:cubicBezTo>
                    <a:pt x="1960" y="2605"/>
                    <a:pt x="1539" y="3392"/>
                    <a:pt x="1458" y="4156"/>
                  </a:cubicBezTo>
                  <a:cubicBezTo>
                    <a:pt x="736" y="4346"/>
                    <a:pt x="164" y="4944"/>
                    <a:pt x="53" y="5721"/>
                  </a:cubicBezTo>
                  <a:cubicBezTo>
                    <a:pt x="1" y="6237"/>
                    <a:pt x="151" y="6727"/>
                    <a:pt x="448" y="7096"/>
                  </a:cubicBezTo>
                  <a:cubicBezTo>
                    <a:pt x="259" y="7693"/>
                    <a:pt x="259" y="8347"/>
                    <a:pt x="517" y="8944"/>
                  </a:cubicBezTo>
                  <a:cubicBezTo>
                    <a:pt x="955" y="9974"/>
                    <a:pt x="1994" y="10584"/>
                    <a:pt x="3113" y="10584"/>
                  </a:cubicBezTo>
                  <a:cubicBezTo>
                    <a:pt x="3520" y="10584"/>
                    <a:pt x="3938" y="10503"/>
                    <a:pt x="4341" y="10332"/>
                  </a:cubicBezTo>
                  <a:cubicBezTo>
                    <a:pt x="4449" y="10280"/>
                    <a:pt x="4573" y="10224"/>
                    <a:pt x="4681" y="10156"/>
                  </a:cubicBezTo>
                  <a:cubicBezTo>
                    <a:pt x="4694" y="10224"/>
                    <a:pt x="4723" y="10293"/>
                    <a:pt x="4749" y="10348"/>
                  </a:cubicBezTo>
                  <a:cubicBezTo>
                    <a:pt x="5188" y="11377"/>
                    <a:pt x="6228" y="11986"/>
                    <a:pt x="7343" y="11986"/>
                  </a:cubicBezTo>
                  <a:cubicBezTo>
                    <a:pt x="7747" y="11986"/>
                    <a:pt x="8162" y="11906"/>
                    <a:pt x="8561" y="11736"/>
                  </a:cubicBezTo>
                  <a:cubicBezTo>
                    <a:pt x="8613" y="11707"/>
                    <a:pt x="8668" y="11681"/>
                    <a:pt x="8724" y="11668"/>
                  </a:cubicBezTo>
                  <a:cubicBezTo>
                    <a:pt x="9023" y="11995"/>
                    <a:pt x="9467" y="12178"/>
                    <a:pt x="9934" y="12178"/>
                  </a:cubicBezTo>
                  <a:cubicBezTo>
                    <a:pt x="10105" y="12178"/>
                    <a:pt x="10280" y="12153"/>
                    <a:pt x="10452" y="12102"/>
                  </a:cubicBezTo>
                  <a:cubicBezTo>
                    <a:pt x="10520" y="12347"/>
                    <a:pt x="10628" y="12592"/>
                    <a:pt x="10749" y="12837"/>
                  </a:cubicBezTo>
                  <a:cubicBezTo>
                    <a:pt x="11389" y="14049"/>
                    <a:pt x="12493" y="14810"/>
                    <a:pt x="13606" y="14947"/>
                  </a:cubicBezTo>
                  <a:lnTo>
                    <a:pt x="14113" y="14496"/>
                  </a:lnTo>
                  <a:cubicBezTo>
                    <a:pt x="14096" y="14483"/>
                    <a:pt x="14096" y="14483"/>
                    <a:pt x="14083" y="14470"/>
                  </a:cubicBezTo>
                  <a:cubicBezTo>
                    <a:pt x="13077" y="14156"/>
                    <a:pt x="12329" y="13219"/>
                    <a:pt x="12329" y="12089"/>
                  </a:cubicBezTo>
                  <a:lnTo>
                    <a:pt x="12329" y="11994"/>
                  </a:lnTo>
                  <a:cubicBezTo>
                    <a:pt x="12768" y="12248"/>
                    <a:pt x="13281" y="12388"/>
                    <a:pt x="13814" y="12388"/>
                  </a:cubicBezTo>
                  <a:cubicBezTo>
                    <a:pt x="14223" y="12388"/>
                    <a:pt x="14643" y="12305"/>
                    <a:pt x="15050" y="12128"/>
                  </a:cubicBezTo>
                  <a:cubicBezTo>
                    <a:pt x="16562" y="11491"/>
                    <a:pt x="17297" y="9829"/>
                    <a:pt x="16696" y="8428"/>
                  </a:cubicBezTo>
                  <a:cubicBezTo>
                    <a:pt x="16601" y="8196"/>
                    <a:pt x="16464" y="7981"/>
                    <a:pt x="16317" y="7788"/>
                  </a:cubicBezTo>
                  <a:cubicBezTo>
                    <a:pt x="16983" y="7096"/>
                    <a:pt x="17173" y="5897"/>
                    <a:pt x="16709" y="4797"/>
                  </a:cubicBezTo>
                  <a:cubicBezTo>
                    <a:pt x="16288" y="3801"/>
                    <a:pt x="15432" y="3134"/>
                    <a:pt x="14560" y="3027"/>
                  </a:cubicBezTo>
                  <a:cubicBezTo>
                    <a:pt x="14736" y="1789"/>
                    <a:pt x="13391" y="509"/>
                    <a:pt x="11500" y="113"/>
                  </a:cubicBezTo>
                  <a:cubicBezTo>
                    <a:pt x="11130" y="37"/>
                    <a:pt x="10763" y="0"/>
                    <a:pt x="10412" y="0"/>
                  </a:cubicBezTo>
                  <a:close/>
                </a:path>
              </a:pathLst>
            </a:custGeom>
            <a:solidFill>
              <a:srgbClr val="0096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584;p31">
              <a:extLst>
                <a:ext uri="{FF2B5EF4-FFF2-40B4-BE49-F238E27FC236}">
                  <a16:creationId xmlns:a16="http://schemas.microsoft.com/office/drawing/2014/main" id="{63F8A6C3-DDF4-B257-828B-BE339035EFAB}"/>
                </a:ext>
              </a:extLst>
            </p:cNvPr>
            <p:cNvSpPr txBox="1"/>
            <p:nvPr/>
          </p:nvSpPr>
          <p:spPr>
            <a:xfrm>
              <a:off x="3341242" y="1262932"/>
              <a:ext cx="3129011" cy="8661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100" dirty="0">
                  <a:latin typeface="Fira Sans"/>
                  <a:ea typeface="Fira Sans"/>
                  <a:cs typeface="Fira Sans"/>
                  <a:sym typeface="Fira Sans"/>
                </a:rPr>
                <a:t>T</a:t>
              </a:r>
              <a:r>
                <a:rPr lang="en" sz="1100" dirty="0">
                  <a:latin typeface="Fira Sans"/>
                  <a:ea typeface="Fira Sans"/>
                  <a:cs typeface="Fira Sans"/>
                  <a:sym typeface="Fira Sans"/>
                </a:rPr>
                <a:t>rasformazione rigida per sovrapposizione dello spazio virtuale con quello reale</a:t>
              </a:r>
            </a:p>
          </p:txBody>
        </p:sp>
      </p:grpSp>
      <p:grpSp>
        <p:nvGrpSpPr>
          <p:cNvPr id="31" name="Gruppo 30">
            <a:extLst>
              <a:ext uri="{FF2B5EF4-FFF2-40B4-BE49-F238E27FC236}">
                <a16:creationId xmlns:a16="http://schemas.microsoft.com/office/drawing/2014/main" id="{FE999D3B-7B97-072C-A9C6-44884D1D98C5}"/>
              </a:ext>
            </a:extLst>
          </p:cNvPr>
          <p:cNvGrpSpPr/>
          <p:nvPr/>
        </p:nvGrpSpPr>
        <p:grpSpPr>
          <a:xfrm>
            <a:off x="324380" y="3921897"/>
            <a:ext cx="4247620" cy="883760"/>
            <a:chOff x="1386694" y="1140650"/>
            <a:chExt cx="5712278" cy="1134473"/>
          </a:xfrm>
        </p:grpSpPr>
        <p:sp>
          <p:nvSpPr>
            <p:cNvPr id="32" name="Google Shape;563;p31">
              <a:extLst>
                <a:ext uri="{FF2B5EF4-FFF2-40B4-BE49-F238E27FC236}">
                  <a16:creationId xmlns:a16="http://schemas.microsoft.com/office/drawing/2014/main" id="{CAAAB7CA-0302-69DC-1775-23617588D32A}"/>
                </a:ext>
              </a:extLst>
            </p:cNvPr>
            <p:cNvSpPr/>
            <p:nvPr/>
          </p:nvSpPr>
          <p:spPr>
            <a:xfrm>
              <a:off x="2650896" y="1140650"/>
              <a:ext cx="617371" cy="1134473"/>
            </a:xfrm>
            <a:custGeom>
              <a:avLst/>
              <a:gdLst/>
              <a:ahLst/>
              <a:cxnLst/>
              <a:rect l="l" t="t" r="r" b="b"/>
              <a:pathLst>
                <a:path w="1389" h="2249" extrusionOk="0">
                  <a:moveTo>
                    <a:pt x="237" y="0"/>
                  </a:moveTo>
                  <a:cubicBezTo>
                    <a:pt x="190" y="0"/>
                    <a:pt x="143" y="21"/>
                    <a:pt x="108" y="62"/>
                  </a:cubicBezTo>
                  <a:lnTo>
                    <a:pt x="1" y="156"/>
                  </a:lnTo>
                  <a:lnTo>
                    <a:pt x="843" y="986"/>
                  </a:lnTo>
                  <a:cubicBezTo>
                    <a:pt x="912" y="1067"/>
                    <a:pt x="912" y="1192"/>
                    <a:pt x="843" y="1260"/>
                  </a:cubicBezTo>
                  <a:lnTo>
                    <a:pt x="1" y="2103"/>
                  </a:lnTo>
                  <a:lnTo>
                    <a:pt x="108" y="2197"/>
                  </a:lnTo>
                  <a:cubicBezTo>
                    <a:pt x="143" y="2232"/>
                    <a:pt x="190" y="2249"/>
                    <a:pt x="237" y="2249"/>
                  </a:cubicBezTo>
                  <a:cubicBezTo>
                    <a:pt x="285" y="2249"/>
                    <a:pt x="332" y="2232"/>
                    <a:pt x="366" y="2197"/>
                  </a:cubicBezTo>
                  <a:lnTo>
                    <a:pt x="1307" y="1260"/>
                  </a:lnTo>
                  <a:cubicBezTo>
                    <a:pt x="1389" y="1192"/>
                    <a:pt x="1389" y="1067"/>
                    <a:pt x="1307" y="986"/>
                  </a:cubicBezTo>
                  <a:lnTo>
                    <a:pt x="366" y="62"/>
                  </a:lnTo>
                  <a:cubicBezTo>
                    <a:pt x="332" y="21"/>
                    <a:pt x="285" y="0"/>
                    <a:pt x="237" y="0"/>
                  </a:cubicBezTo>
                  <a:close/>
                </a:path>
              </a:pathLst>
            </a:custGeom>
            <a:solidFill>
              <a:srgbClr val="0C34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564;p31">
              <a:extLst>
                <a:ext uri="{FF2B5EF4-FFF2-40B4-BE49-F238E27FC236}">
                  <a16:creationId xmlns:a16="http://schemas.microsoft.com/office/drawing/2014/main" id="{F536D949-28D0-BD58-3236-24E6EF9A3ABC}"/>
                </a:ext>
              </a:extLst>
            </p:cNvPr>
            <p:cNvSpPr/>
            <p:nvPr/>
          </p:nvSpPr>
          <p:spPr>
            <a:xfrm>
              <a:off x="2577921" y="1421897"/>
              <a:ext cx="323910" cy="534899"/>
            </a:xfrm>
            <a:custGeom>
              <a:avLst/>
              <a:gdLst/>
              <a:ahLst/>
              <a:cxnLst/>
              <a:rect l="l" t="t" r="r" b="b"/>
              <a:pathLst>
                <a:path w="423" h="730" extrusionOk="0">
                  <a:moveTo>
                    <a:pt x="96" y="0"/>
                  </a:moveTo>
                  <a:cubicBezTo>
                    <a:pt x="46" y="0"/>
                    <a:pt x="1" y="38"/>
                    <a:pt x="1" y="94"/>
                  </a:cubicBezTo>
                  <a:lnTo>
                    <a:pt x="1" y="636"/>
                  </a:lnTo>
                  <a:cubicBezTo>
                    <a:pt x="1" y="692"/>
                    <a:pt x="46" y="730"/>
                    <a:pt x="96" y="730"/>
                  </a:cubicBezTo>
                  <a:cubicBezTo>
                    <a:pt x="119" y="730"/>
                    <a:pt x="143" y="722"/>
                    <a:pt x="164" y="705"/>
                  </a:cubicBezTo>
                  <a:lnTo>
                    <a:pt x="327" y="528"/>
                  </a:lnTo>
                  <a:cubicBezTo>
                    <a:pt x="422" y="447"/>
                    <a:pt x="422" y="296"/>
                    <a:pt x="327" y="202"/>
                  </a:cubicBezTo>
                  <a:lnTo>
                    <a:pt x="164" y="25"/>
                  </a:lnTo>
                  <a:cubicBezTo>
                    <a:pt x="143" y="8"/>
                    <a:pt x="119" y="0"/>
                    <a:pt x="96" y="0"/>
                  </a:cubicBezTo>
                  <a:close/>
                </a:path>
              </a:pathLst>
            </a:custGeom>
            <a:solidFill>
              <a:srgbClr val="0C34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565;p31">
              <a:extLst>
                <a:ext uri="{FF2B5EF4-FFF2-40B4-BE49-F238E27FC236}">
                  <a16:creationId xmlns:a16="http://schemas.microsoft.com/office/drawing/2014/main" id="{B49512E8-60C5-3576-D07B-DB474013DFF2}"/>
                </a:ext>
              </a:extLst>
            </p:cNvPr>
            <p:cNvSpPr/>
            <p:nvPr/>
          </p:nvSpPr>
          <p:spPr>
            <a:xfrm>
              <a:off x="2842351" y="1218940"/>
              <a:ext cx="4256621" cy="976247"/>
            </a:xfrm>
            <a:custGeom>
              <a:avLst/>
              <a:gdLst/>
              <a:ahLst/>
              <a:cxnLst/>
              <a:rect l="l" t="t" r="r" b="b"/>
              <a:pathLst>
                <a:path w="6967" h="1837" extrusionOk="0">
                  <a:moveTo>
                    <a:pt x="1" y="1"/>
                  </a:moveTo>
                  <a:lnTo>
                    <a:pt x="791" y="775"/>
                  </a:lnTo>
                  <a:cubicBezTo>
                    <a:pt x="830" y="817"/>
                    <a:pt x="843" y="870"/>
                    <a:pt x="843" y="912"/>
                  </a:cubicBezTo>
                  <a:cubicBezTo>
                    <a:pt x="843" y="968"/>
                    <a:pt x="830" y="1007"/>
                    <a:pt x="791" y="1049"/>
                  </a:cubicBezTo>
                  <a:lnTo>
                    <a:pt x="1" y="1836"/>
                  </a:lnTo>
                  <a:lnTo>
                    <a:pt x="6069" y="1836"/>
                  </a:lnTo>
                  <a:lnTo>
                    <a:pt x="6967" y="912"/>
                  </a:lnTo>
                  <a:lnTo>
                    <a:pt x="606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575;p31">
              <a:extLst>
                <a:ext uri="{FF2B5EF4-FFF2-40B4-BE49-F238E27FC236}">
                  <a16:creationId xmlns:a16="http://schemas.microsoft.com/office/drawing/2014/main" id="{B5BFEFC4-E722-76B2-ABFF-FDE84276410A}"/>
                </a:ext>
              </a:extLst>
            </p:cNvPr>
            <p:cNvSpPr/>
            <p:nvPr/>
          </p:nvSpPr>
          <p:spPr>
            <a:xfrm>
              <a:off x="1386694" y="1255539"/>
              <a:ext cx="1078409" cy="903046"/>
            </a:xfrm>
            <a:custGeom>
              <a:avLst/>
              <a:gdLst/>
              <a:ahLst/>
              <a:cxnLst/>
              <a:rect l="l" t="t" r="r" b="b"/>
              <a:pathLst>
                <a:path w="17297" h="14947" extrusionOk="0">
                  <a:moveTo>
                    <a:pt x="10412" y="0"/>
                  </a:moveTo>
                  <a:cubicBezTo>
                    <a:pt x="9523" y="0"/>
                    <a:pt x="8727" y="233"/>
                    <a:pt x="8192" y="633"/>
                  </a:cubicBezTo>
                  <a:cubicBezTo>
                    <a:pt x="7863" y="454"/>
                    <a:pt x="7486" y="355"/>
                    <a:pt x="7094" y="355"/>
                  </a:cubicBezTo>
                  <a:cubicBezTo>
                    <a:pt x="6855" y="355"/>
                    <a:pt x="6611" y="392"/>
                    <a:pt x="6369" y="469"/>
                  </a:cubicBezTo>
                  <a:cubicBezTo>
                    <a:pt x="5866" y="633"/>
                    <a:pt x="5458" y="943"/>
                    <a:pt x="5184" y="1351"/>
                  </a:cubicBezTo>
                  <a:cubicBezTo>
                    <a:pt x="5017" y="1316"/>
                    <a:pt x="4843" y="1299"/>
                    <a:pt x="4665" y="1299"/>
                  </a:cubicBezTo>
                  <a:cubicBezTo>
                    <a:pt x="4005" y="1299"/>
                    <a:pt x="3292" y="1540"/>
                    <a:pt x="2682" y="2034"/>
                  </a:cubicBezTo>
                  <a:cubicBezTo>
                    <a:pt x="1960" y="2605"/>
                    <a:pt x="1539" y="3392"/>
                    <a:pt x="1458" y="4156"/>
                  </a:cubicBezTo>
                  <a:cubicBezTo>
                    <a:pt x="736" y="4346"/>
                    <a:pt x="164" y="4944"/>
                    <a:pt x="53" y="5721"/>
                  </a:cubicBezTo>
                  <a:cubicBezTo>
                    <a:pt x="1" y="6237"/>
                    <a:pt x="151" y="6727"/>
                    <a:pt x="448" y="7096"/>
                  </a:cubicBezTo>
                  <a:cubicBezTo>
                    <a:pt x="259" y="7693"/>
                    <a:pt x="259" y="8347"/>
                    <a:pt x="517" y="8944"/>
                  </a:cubicBezTo>
                  <a:cubicBezTo>
                    <a:pt x="955" y="9974"/>
                    <a:pt x="1994" y="10584"/>
                    <a:pt x="3113" y="10584"/>
                  </a:cubicBezTo>
                  <a:cubicBezTo>
                    <a:pt x="3520" y="10584"/>
                    <a:pt x="3938" y="10503"/>
                    <a:pt x="4341" y="10332"/>
                  </a:cubicBezTo>
                  <a:cubicBezTo>
                    <a:pt x="4449" y="10280"/>
                    <a:pt x="4573" y="10224"/>
                    <a:pt x="4681" y="10156"/>
                  </a:cubicBezTo>
                  <a:cubicBezTo>
                    <a:pt x="4694" y="10224"/>
                    <a:pt x="4723" y="10293"/>
                    <a:pt x="4749" y="10348"/>
                  </a:cubicBezTo>
                  <a:cubicBezTo>
                    <a:pt x="5188" y="11377"/>
                    <a:pt x="6228" y="11986"/>
                    <a:pt x="7343" y="11986"/>
                  </a:cubicBezTo>
                  <a:cubicBezTo>
                    <a:pt x="7747" y="11986"/>
                    <a:pt x="8162" y="11906"/>
                    <a:pt x="8561" y="11736"/>
                  </a:cubicBezTo>
                  <a:cubicBezTo>
                    <a:pt x="8613" y="11707"/>
                    <a:pt x="8668" y="11681"/>
                    <a:pt x="8724" y="11668"/>
                  </a:cubicBezTo>
                  <a:cubicBezTo>
                    <a:pt x="9023" y="11995"/>
                    <a:pt x="9467" y="12178"/>
                    <a:pt x="9934" y="12178"/>
                  </a:cubicBezTo>
                  <a:cubicBezTo>
                    <a:pt x="10105" y="12178"/>
                    <a:pt x="10280" y="12153"/>
                    <a:pt x="10452" y="12102"/>
                  </a:cubicBezTo>
                  <a:cubicBezTo>
                    <a:pt x="10520" y="12347"/>
                    <a:pt x="10628" y="12592"/>
                    <a:pt x="10749" y="12837"/>
                  </a:cubicBezTo>
                  <a:cubicBezTo>
                    <a:pt x="11389" y="14049"/>
                    <a:pt x="12493" y="14810"/>
                    <a:pt x="13606" y="14947"/>
                  </a:cubicBezTo>
                  <a:lnTo>
                    <a:pt x="14113" y="14496"/>
                  </a:lnTo>
                  <a:cubicBezTo>
                    <a:pt x="14096" y="14483"/>
                    <a:pt x="14096" y="14483"/>
                    <a:pt x="14083" y="14470"/>
                  </a:cubicBezTo>
                  <a:cubicBezTo>
                    <a:pt x="13077" y="14156"/>
                    <a:pt x="12329" y="13219"/>
                    <a:pt x="12329" y="12089"/>
                  </a:cubicBezTo>
                  <a:lnTo>
                    <a:pt x="12329" y="11994"/>
                  </a:lnTo>
                  <a:cubicBezTo>
                    <a:pt x="12768" y="12248"/>
                    <a:pt x="13281" y="12388"/>
                    <a:pt x="13814" y="12388"/>
                  </a:cubicBezTo>
                  <a:cubicBezTo>
                    <a:pt x="14223" y="12388"/>
                    <a:pt x="14643" y="12305"/>
                    <a:pt x="15050" y="12128"/>
                  </a:cubicBezTo>
                  <a:cubicBezTo>
                    <a:pt x="16562" y="11491"/>
                    <a:pt x="17297" y="9829"/>
                    <a:pt x="16696" y="8428"/>
                  </a:cubicBezTo>
                  <a:cubicBezTo>
                    <a:pt x="16601" y="8196"/>
                    <a:pt x="16464" y="7981"/>
                    <a:pt x="16317" y="7788"/>
                  </a:cubicBezTo>
                  <a:cubicBezTo>
                    <a:pt x="16983" y="7096"/>
                    <a:pt x="17173" y="5897"/>
                    <a:pt x="16709" y="4797"/>
                  </a:cubicBezTo>
                  <a:cubicBezTo>
                    <a:pt x="16288" y="3801"/>
                    <a:pt x="15432" y="3134"/>
                    <a:pt x="14560" y="3027"/>
                  </a:cubicBezTo>
                  <a:cubicBezTo>
                    <a:pt x="14736" y="1789"/>
                    <a:pt x="13391" y="509"/>
                    <a:pt x="11500" y="113"/>
                  </a:cubicBezTo>
                  <a:cubicBezTo>
                    <a:pt x="11130" y="37"/>
                    <a:pt x="10763" y="0"/>
                    <a:pt x="10412" y="0"/>
                  </a:cubicBezTo>
                  <a:close/>
                </a:path>
              </a:pathLst>
            </a:custGeom>
            <a:solidFill>
              <a:srgbClr val="0C34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584;p31">
              <a:extLst>
                <a:ext uri="{FF2B5EF4-FFF2-40B4-BE49-F238E27FC236}">
                  <a16:creationId xmlns:a16="http://schemas.microsoft.com/office/drawing/2014/main" id="{489B9453-3567-4DC9-3F2E-0448D6C2DF45}"/>
                </a:ext>
              </a:extLst>
            </p:cNvPr>
            <p:cNvSpPr txBox="1"/>
            <p:nvPr/>
          </p:nvSpPr>
          <p:spPr>
            <a:xfrm>
              <a:off x="3544844" y="1292464"/>
              <a:ext cx="2851634" cy="8661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100" dirty="0">
                  <a:latin typeface="Fira Sans"/>
                  <a:ea typeface="Fira Sans"/>
                  <a:cs typeface="Fira Sans"/>
                  <a:sym typeface="Fira Sans"/>
                </a:rPr>
                <a:t>U</a:t>
              </a:r>
              <a:r>
                <a:rPr lang="en" sz="1100" dirty="0">
                  <a:latin typeface="Fira Sans"/>
                  <a:ea typeface="Fira Sans"/>
                  <a:cs typeface="Fira Sans"/>
                  <a:sym typeface="Fira Sans"/>
                </a:rPr>
                <a:t>tilizzo dei dati di tracking in tempo reale per aggiornamenti continui</a:t>
              </a:r>
              <a:endParaRPr sz="11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9223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800" dirty="0"/>
              <a:t>Limiti: Il Brain Shift </a:t>
            </a:r>
            <a:endParaRPr sz="28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" name="Google Shape;125;p18">
            <a:extLst>
              <a:ext uri="{FF2B5EF4-FFF2-40B4-BE49-F238E27FC236}">
                <a16:creationId xmlns:a16="http://schemas.microsoft.com/office/drawing/2014/main" id="{84974863-6CCE-C04F-2077-994A84A7F76E}"/>
              </a:ext>
            </a:extLst>
          </p:cNvPr>
          <p:cNvGrpSpPr/>
          <p:nvPr/>
        </p:nvGrpSpPr>
        <p:grpSpPr>
          <a:xfrm flipH="1">
            <a:off x="5240075" y="1020268"/>
            <a:ext cx="3392730" cy="3642967"/>
            <a:chOff x="400500" y="1028698"/>
            <a:chExt cx="3070900" cy="3297399"/>
          </a:xfrm>
        </p:grpSpPr>
        <p:sp>
          <p:nvSpPr>
            <p:cNvPr id="3" name="Google Shape;126;p18">
              <a:extLst>
                <a:ext uri="{FF2B5EF4-FFF2-40B4-BE49-F238E27FC236}">
                  <a16:creationId xmlns:a16="http://schemas.microsoft.com/office/drawing/2014/main" id="{DE0EBB32-F54E-622A-0882-EBC16F592894}"/>
                </a:ext>
              </a:extLst>
            </p:cNvPr>
            <p:cNvSpPr/>
            <p:nvPr/>
          </p:nvSpPr>
          <p:spPr>
            <a:xfrm flipH="1">
              <a:off x="400500" y="1028698"/>
              <a:ext cx="3070900" cy="3297399"/>
            </a:xfrm>
            <a:custGeom>
              <a:avLst/>
              <a:gdLst/>
              <a:ahLst/>
              <a:cxnLst/>
              <a:rect l="l" t="t" r="r" b="b"/>
              <a:pathLst>
                <a:path w="25801" h="27704" extrusionOk="0">
                  <a:moveTo>
                    <a:pt x="13762" y="493"/>
                  </a:moveTo>
                  <a:cubicBezTo>
                    <a:pt x="13992" y="493"/>
                    <a:pt x="14222" y="500"/>
                    <a:pt x="14452" y="515"/>
                  </a:cubicBezTo>
                  <a:cubicBezTo>
                    <a:pt x="15977" y="626"/>
                    <a:pt x="17446" y="1074"/>
                    <a:pt x="18710" y="1822"/>
                  </a:cubicBezTo>
                  <a:cubicBezTo>
                    <a:pt x="20059" y="2599"/>
                    <a:pt x="21133" y="3686"/>
                    <a:pt x="21924" y="5019"/>
                  </a:cubicBezTo>
                  <a:cubicBezTo>
                    <a:pt x="25229" y="10695"/>
                    <a:pt x="22221" y="15878"/>
                    <a:pt x="20235" y="19307"/>
                  </a:cubicBezTo>
                  <a:cubicBezTo>
                    <a:pt x="19664" y="20286"/>
                    <a:pt x="19174" y="21145"/>
                    <a:pt x="18929" y="21838"/>
                  </a:cubicBezTo>
                  <a:lnTo>
                    <a:pt x="18903" y="21893"/>
                  </a:lnTo>
                  <a:lnTo>
                    <a:pt x="19474" y="27213"/>
                  </a:lnTo>
                  <a:lnTo>
                    <a:pt x="9595" y="27213"/>
                  </a:lnTo>
                  <a:lnTo>
                    <a:pt x="9226" y="25365"/>
                  </a:lnTo>
                  <a:lnTo>
                    <a:pt x="8981" y="25430"/>
                  </a:lnTo>
                  <a:cubicBezTo>
                    <a:pt x="8950" y="25430"/>
                    <a:pt x="6753" y="25968"/>
                    <a:pt x="5178" y="25968"/>
                  </a:cubicBezTo>
                  <a:cubicBezTo>
                    <a:pt x="4747" y="25968"/>
                    <a:pt x="4363" y="25928"/>
                    <a:pt x="4083" y="25825"/>
                  </a:cubicBezTo>
                  <a:cubicBezTo>
                    <a:pt x="3485" y="25610"/>
                    <a:pt x="3309" y="24832"/>
                    <a:pt x="3253" y="24235"/>
                  </a:cubicBezTo>
                  <a:cubicBezTo>
                    <a:pt x="3197" y="23513"/>
                    <a:pt x="3309" y="22847"/>
                    <a:pt x="3309" y="22847"/>
                  </a:cubicBezTo>
                  <a:lnTo>
                    <a:pt x="3322" y="22736"/>
                  </a:lnTo>
                  <a:lnTo>
                    <a:pt x="2776" y="22070"/>
                  </a:lnTo>
                  <a:cubicBezTo>
                    <a:pt x="2737" y="22001"/>
                    <a:pt x="2708" y="21919"/>
                    <a:pt x="2737" y="21838"/>
                  </a:cubicBezTo>
                  <a:cubicBezTo>
                    <a:pt x="2763" y="21756"/>
                    <a:pt x="2819" y="21704"/>
                    <a:pt x="2900" y="21674"/>
                  </a:cubicBezTo>
                  <a:lnTo>
                    <a:pt x="3606" y="21446"/>
                  </a:lnTo>
                  <a:lnTo>
                    <a:pt x="2355" y="20874"/>
                  </a:lnTo>
                  <a:cubicBezTo>
                    <a:pt x="2179" y="20776"/>
                    <a:pt x="2110" y="20574"/>
                    <a:pt x="2192" y="20398"/>
                  </a:cubicBezTo>
                  <a:cubicBezTo>
                    <a:pt x="2355" y="20028"/>
                    <a:pt x="2544" y="19457"/>
                    <a:pt x="2544" y="18833"/>
                  </a:cubicBezTo>
                  <a:lnTo>
                    <a:pt x="2544" y="18627"/>
                  </a:lnTo>
                  <a:lnTo>
                    <a:pt x="804" y="18245"/>
                  </a:lnTo>
                  <a:cubicBezTo>
                    <a:pt x="696" y="18219"/>
                    <a:pt x="614" y="18138"/>
                    <a:pt x="559" y="18043"/>
                  </a:cubicBezTo>
                  <a:cubicBezTo>
                    <a:pt x="520" y="17935"/>
                    <a:pt x="520" y="17824"/>
                    <a:pt x="572" y="17729"/>
                  </a:cubicBezTo>
                  <a:lnTo>
                    <a:pt x="2789" y="13853"/>
                  </a:lnTo>
                  <a:cubicBezTo>
                    <a:pt x="3103" y="13294"/>
                    <a:pt x="3158" y="12641"/>
                    <a:pt x="2926" y="12040"/>
                  </a:cubicBezTo>
                  <a:cubicBezTo>
                    <a:pt x="2845" y="11795"/>
                    <a:pt x="2737" y="11511"/>
                    <a:pt x="2626" y="11211"/>
                  </a:cubicBezTo>
                  <a:cubicBezTo>
                    <a:pt x="2205" y="9999"/>
                    <a:pt x="3390" y="7060"/>
                    <a:pt x="5281" y="4666"/>
                  </a:cubicBezTo>
                  <a:cubicBezTo>
                    <a:pt x="6437" y="3196"/>
                    <a:pt x="7868" y="2096"/>
                    <a:pt x="9540" y="1374"/>
                  </a:cubicBezTo>
                  <a:cubicBezTo>
                    <a:pt x="10878" y="785"/>
                    <a:pt x="12318" y="493"/>
                    <a:pt x="13762" y="493"/>
                  </a:cubicBezTo>
                  <a:close/>
                  <a:moveTo>
                    <a:pt x="13747" y="0"/>
                  </a:moveTo>
                  <a:cubicBezTo>
                    <a:pt x="12245" y="0"/>
                    <a:pt x="10741" y="317"/>
                    <a:pt x="9337" y="923"/>
                  </a:cubicBezTo>
                  <a:cubicBezTo>
                    <a:pt x="7593" y="1671"/>
                    <a:pt x="6098" y="2831"/>
                    <a:pt x="4899" y="4366"/>
                  </a:cubicBezTo>
                  <a:cubicBezTo>
                    <a:pt x="3132" y="6613"/>
                    <a:pt x="1633" y="9836"/>
                    <a:pt x="2165" y="11374"/>
                  </a:cubicBezTo>
                  <a:cubicBezTo>
                    <a:pt x="2273" y="11675"/>
                    <a:pt x="2381" y="11959"/>
                    <a:pt x="2479" y="12204"/>
                  </a:cubicBezTo>
                  <a:cubicBezTo>
                    <a:pt x="2642" y="12667"/>
                    <a:pt x="2600" y="13183"/>
                    <a:pt x="2355" y="13608"/>
                  </a:cubicBezTo>
                  <a:lnTo>
                    <a:pt x="150" y="17484"/>
                  </a:lnTo>
                  <a:cubicBezTo>
                    <a:pt x="13" y="17716"/>
                    <a:pt x="0" y="17987"/>
                    <a:pt x="111" y="18232"/>
                  </a:cubicBezTo>
                  <a:cubicBezTo>
                    <a:pt x="219" y="18490"/>
                    <a:pt x="438" y="18670"/>
                    <a:pt x="696" y="18722"/>
                  </a:cubicBezTo>
                  <a:lnTo>
                    <a:pt x="2054" y="19023"/>
                  </a:lnTo>
                  <a:cubicBezTo>
                    <a:pt x="2015" y="19486"/>
                    <a:pt x="1865" y="19908"/>
                    <a:pt x="1744" y="20192"/>
                  </a:cubicBezTo>
                  <a:cubicBezTo>
                    <a:pt x="1552" y="20613"/>
                    <a:pt x="1728" y="21119"/>
                    <a:pt x="2152" y="21309"/>
                  </a:cubicBezTo>
                  <a:lnTo>
                    <a:pt x="2410" y="21430"/>
                  </a:lnTo>
                  <a:cubicBezTo>
                    <a:pt x="2355" y="21511"/>
                    <a:pt x="2299" y="21593"/>
                    <a:pt x="2273" y="21704"/>
                  </a:cubicBezTo>
                  <a:cubicBezTo>
                    <a:pt x="2205" y="21936"/>
                    <a:pt x="2247" y="22194"/>
                    <a:pt x="2410" y="22370"/>
                  </a:cubicBezTo>
                  <a:lnTo>
                    <a:pt x="2806" y="22873"/>
                  </a:lnTo>
                  <a:cubicBezTo>
                    <a:pt x="2737" y="23418"/>
                    <a:pt x="2505" y="25773"/>
                    <a:pt x="3906" y="26289"/>
                  </a:cubicBezTo>
                  <a:cubicBezTo>
                    <a:pt x="4238" y="26408"/>
                    <a:pt x="4682" y="26454"/>
                    <a:pt x="5170" y="26454"/>
                  </a:cubicBezTo>
                  <a:cubicBezTo>
                    <a:pt x="6522" y="26454"/>
                    <a:pt x="8217" y="26102"/>
                    <a:pt x="8847" y="25962"/>
                  </a:cubicBezTo>
                  <a:lnTo>
                    <a:pt x="9200" y="27703"/>
                  </a:lnTo>
                  <a:lnTo>
                    <a:pt x="20016" y="27703"/>
                  </a:lnTo>
                  <a:lnTo>
                    <a:pt x="19406" y="21949"/>
                  </a:lnTo>
                  <a:cubicBezTo>
                    <a:pt x="19638" y="21309"/>
                    <a:pt x="20114" y="20492"/>
                    <a:pt x="20657" y="19552"/>
                  </a:cubicBezTo>
                  <a:cubicBezTo>
                    <a:pt x="22711" y="16028"/>
                    <a:pt x="25800" y="10695"/>
                    <a:pt x="22345" y="4774"/>
                  </a:cubicBezTo>
                  <a:cubicBezTo>
                    <a:pt x="21516" y="3360"/>
                    <a:pt x="20386" y="2230"/>
                    <a:pt x="18971" y="1400"/>
                  </a:cubicBezTo>
                  <a:cubicBezTo>
                    <a:pt x="17636" y="610"/>
                    <a:pt x="16084" y="136"/>
                    <a:pt x="14481" y="25"/>
                  </a:cubicBezTo>
                  <a:cubicBezTo>
                    <a:pt x="14237" y="8"/>
                    <a:pt x="13992" y="0"/>
                    <a:pt x="137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27;p18">
              <a:extLst>
                <a:ext uri="{FF2B5EF4-FFF2-40B4-BE49-F238E27FC236}">
                  <a16:creationId xmlns:a16="http://schemas.microsoft.com/office/drawing/2014/main" id="{C540E3E5-70BC-7F9A-2386-6C86402174B2}"/>
                </a:ext>
              </a:extLst>
            </p:cNvPr>
            <p:cNvSpPr/>
            <p:nvPr/>
          </p:nvSpPr>
          <p:spPr>
            <a:xfrm flipH="1">
              <a:off x="927587" y="1279893"/>
              <a:ext cx="1929036" cy="1666954"/>
            </a:xfrm>
            <a:custGeom>
              <a:avLst/>
              <a:gdLst/>
              <a:ahLst/>
              <a:cxnLst/>
              <a:rect l="l" t="t" r="r" b="b"/>
              <a:pathLst>
                <a:path w="17297" h="14947" extrusionOk="0">
                  <a:moveTo>
                    <a:pt x="10412" y="0"/>
                  </a:moveTo>
                  <a:cubicBezTo>
                    <a:pt x="9523" y="0"/>
                    <a:pt x="8727" y="233"/>
                    <a:pt x="8192" y="633"/>
                  </a:cubicBezTo>
                  <a:cubicBezTo>
                    <a:pt x="7863" y="454"/>
                    <a:pt x="7486" y="355"/>
                    <a:pt x="7094" y="355"/>
                  </a:cubicBezTo>
                  <a:cubicBezTo>
                    <a:pt x="6855" y="355"/>
                    <a:pt x="6611" y="392"/>
                    <a:pt x="6369" y="469"/>
                  </a:cubicBezTo>
                  <a:cubicBezTo>
                    <a:pt x="5866" y="633"/>
                    <a:pt x="5458" y="943"/>
                    <a:pt x="5184" y="1351"/>
                  </a:cubicBezTo>
                  <a:cubicBezTo>
                    <a:pt x="5017" y="1316"/>
                    <a:pt x="4843" y="1299"/>
                    <a:pt x="4665" y="1299"/>
                  </a:cubicBezTo>
                  <a:cubicBezTo>
                    <a:pt x="4005" y="1299"/>
                    <a:pt x="3292" y="1540"/>
                    <a:pt x="2682" y="2034"/>
                  </a:cubicBezTo>
                  <a:cubicBezTo>
                    <a:pt x="1960" y="2605"/>
                    <a:pt x="1539" y="3392"/>
                    <a:pt x="1458" y="4156"/>
                  </a:cubicBezTo>
                  <a:cubicBezTo>
                    <a:pt x="736" y="4346"/>
                    <a:pt x="164" y="4944"/>
                    <a:pt x="53" y="5721"/>
                  </a:cubicBezTo>
                  <a:cubicBezTo>
                    <a:pt x="1" y="6237"/>
                    <a:pt x="151" y="6727"/>
                    <a:pt x="448" y="7096"/>
                  </a:cubicBezTo>
                  <a:cubicBezTo>
                    <a:pt x="259" y="7693"/>
                    <a:pt x="259" y="8347"/>
                    <a:pt x="517" y="8944"/>
                  </a:cubicBezTo>
                  <a:cubicBezTo>
                    <a:pt x="955" y="9974"/>
                    <a:pt x="1994" y="10584"/>
                    <a:pt x="3113" y="10584"/>
                  </a:cubicBezTo>
                  <a:cubicBezTo>
                    <a:pt x="3520" y="10584"/>
                    <a:pt x="3938" y="10503"/>
                    <a:pt x="4341" y="10332"/>
                  </a:cubicBezTo>
                  <a:cubicBezTo>
                    <a:pt x="4449" y="10280"/>
                    <a:pt x="4573" y="10224"/>
                    <a:pt x="4681" y="10156"/>
                  </a:cubicBezTo>
                  <a:cubicBezTo>
                    <a:pt x="4694" y="10224"/>
                    <a:pt x="4723" y="10293"/>
                    <a:pt x="4749" y="10348"/>
                  </a:cubicBezTo>
                  <a:cubicBezTo>
                    <a:pt x="5188" y="11377"/>
                    <a:pt x="6228" y="11986"/>
                    <a:pt x="7343" y="11986"/>
                  </a:cubicBezTo>
                  <a:cubicBezTo>
                    <a:pt x="7747" y="11986"/>
                    <a:pt x="8162" y="11906"/>
                    <a:pt x="8561" y="11736"/>
                  </a:cubicBezTo>
                  <a:cubicBezTo>
                    <a:pt x="8613" y="11707"/>
                    <a:pt x="8668" y="11681"/>
                    <a:pt x="8724" y="11668"/>
                  </a:cubicBezTo>
                  <a:cubicBezTo>
                    <a:pt x="9023" y="11995"/>
                    <a:pt x="9467" y="12178"/>
                    <a:pt x="9934" y="12178"/>
                  </a:cubicBezTo>
                  <a:cubicBezTo>
                    <a:pt x="10105" y="12178"/>
                    <a:pt x="10280" y="12153"/>
                    <a:pt x="10452" y="12102"/>
                  </a:cubicBezTo>
                  <a:cubicBezTo>
                    <a:pt x="10520" y="12347"/>
                    <a:pt x="10628" y="12592"/>
                    <a:pt x="10749" y="12837"/>
                  </a:cubicBezTo>
                  <a:cubicBezTo>
                    <a:pt x="11389" y="14049"/>
                    <a:pt x="12493" y="14810"/>
                    <a:pt x="13606" y="14947"/>
                  </a:cubicBezTo>
                  <a:lnTo>
                    <a:pt x="14113" y="14496"/>
                  </a:lnTo>
                  <a:cubicBezTo>
                    <a:pt x="14096" y="14483"/>
                    <a:pt x="14096" y="14483"/>
                    <a:pt x="14083" y="14470"/>
                  </a:cubicBezTo>
                  <a:cubicBezTo>
                    <a:pt x="13077" y="14156"/>
                    <a:pt x="12329" y="13219"/>
                    <a:pt x="12329" y="12089"/>
                  </a:cubicBezTo>
                  <a:lnTo>
                    <a:pt x="12329" y="11994"/>
                  </a:lnTo>
                  <a:cubicBezTo>
                    <a:pt x="12768" y="12248"/>
                    <a:pt x="13281" y="12388"/>
                    <a:pt x="13814" y="12388"/>
                  </a:cubicBezTo>
                  <a:cubicBezTo>
                    <a:pt x="14223" y="12388"/>
                    <a:pt x="14643" y="12305"/>
                    <a:pt x="15050" y="12128"/>
                  </a:cubicBezTo>
                  <a:cubicBezTo>
                    <a:pt x="16562" y="11491"/>
                    <a:pt x="17297" y="9829"/>
                    <a:pt x="16696" y="8428"/>
                  </a:cubicBezTo>
                  <a:cubicBezTo>
                    <a:pt x="16601" y="8196"/>
                    <a:pt x="16464" y="7981"/>
                    <a:pt x="16317" y="7788"/>
                  </a:cubicBezTo>
                  <a:cubicBezTo>
                    <a:pt x="16983" y="7096"/>
                    <a:pt x="17173" y="5897"/>
                    <a:pt x="16709" y="4797"/>
                  </a:cubicBezTo>
                  <a:cubicBezTo>
                    <a:pt x="16288" y="3801"/>
                    <a:pt x="15432" y="3134"/>
                    <a:pt x="14560" y="3027"/>
                  </a:cubicBezTo>
                  <a:cubicBezTo>
                    <a:pt x="14736" y="1789"/>
                    <a:pt x="13391" y="509"/>
                    <a:pt x="11500" y="113"/>
                  </a:cubicBezTo>
                  <a:cubicBezTo>
                    <a:pt x="11130" y="37"/>
                    <a:pt x="10763" y="0"/>
                    <a:pt x="10412" y="0"/>
                  </a:cubicBezTo>
                  <a:close/>
                </a:path>
              </a:pathLst>
            </a:custGeom>
            <a:solidFill>
              <a:srgbClr val="ACEAD9">
                <a:alpha val="48660"/>
              </a:srgbClr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28;p18">
              <a:extLst>
                <a:ext uri="{FF2B5EF4-FFF2-40B4-BE49-F238E27FC236}">
                  <a16:creationId xmlns:a16="http://schemas.microsoft.com/office/drawing/2014/main" id="{A7DDB587-686A-E6D5-F287-E859129D2021}"/>
                </a:ext>
              </a:extLst>
            </p:cNvPr>
            <p:cNvSpPr/>
            <p:nvPr/>
          </p:nvSpPr>
          <p:spPr>
            <a:xfrm flipH="1">
              <a:off x="1423975" y="2353232"/>
              <a:ext cx="112" cy="11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0096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29;p18">
              <a:extLst>
                <a:ext uri="{FF2B5EF4-FFF2-40B4-BE49-F238E27FC236}">
                  <a16:creationId xmlns:a16="http://schemas.microsoft.com/office/drawing/2014/main" id="{9D910437-E539-8508-3300-6C50FFB1F6DD}"/>
                </a:ext>
              </a:extLst>
            </p:cNvPr>
            <p:cNvSpPr/>
            <p:nvPr/>
          </p:nvSpPr>
          <p:spPr>
            <a:xfrm flipH="1">
              <a:off x="927585" y="1884939"/>
              <a:ext cx="1545058" cy="1063161"/>
            </a:xfrm>
            <a:custGeom>
              <a:avLst/>
              <a:gdLst/>
              <a:ahLst/>
              <a:cxnLst/>
              <a:rect l="l" t="t" r="r" b="b"/>
              <a:pathLst>
                <a:path w="13854" h="9533" extrusionOk="0">
                  <a:moveTo>
                    <a:pt x="10365" y="0"/>
                  </a:moveTo>
                  <a:cubicBezTo>
                    <a:pt x="9396" y="0"/>
                    <a:pt x="8509" y="338"/>
                    <a:pt x="7894" y="1028"/>
                  </a:cubicBezTo>
                  <a:cubicBezTo>
                    <a:pt x="7374" y="1600"/>
                    <a:pt x="7129" y="2335"/>
                    <a:pt x="7129" y="3122"/>
                  </a:cubicBezTo>
                  <a:cubicBezTo>
                    <a:pt x="7035" y="3095"/>
                    <a:pt x="6953" y="3069"/>
                    <a:pt x="6871" y="3056"/>
                  </a:cubicBezTo>
                  <a:cubicBezTo>
                    <a:pt x="6220" y="2898"/>
                    <a:pt x="5573" y="2823"/>
                    <a:pt x="4949" y="2823"/>
                  </a:cubicBezTo>
                  <a:cubicBezTo>
                    <a:pt x="2821" y="2823"/>
                    <a:pt x="947" y="3695"/>
                    <a:pt x="0" y="5137"/>
                  </a:cubicBezTo>
                  <a:cubicBezTo>
                    <a:pt x="301" y="5110"/>
                    <a:pt x="598" y="5029"/>
                    <a:pt x="898" y="4905"/>
                  </a:cubicBezTo>
                  <a:cubicBezTo>
                    <a:pt x="1006" y="4852"/>
                    <a:pt x="1130" y="4797"/>
                    <a:pt x="1238" y="4728"/>
                  </a:cubicBezTo>
                  <a:cubicBezTo>
                    <a:pt x="1251" y="4797"/>
                    <a:pt x="1280" y="4866"/>
                    <a:pt x="1306" y="4934"/>
                  </a:cubicBezTo>
                  <a:cubicBezTo>
                    <a:pt x="1743" y="5958"/>
                    <a:pt x="2776" y="6560"/>
                    <a:pt x="3886" y="6560"/>
                  </a:cubicBezTo>
                  <a:cubicBezTo>
                    <a:pt x="4295" y="6560"/>
                    <a:pt x="4714" y="6478"/>
                    <a:pt x="5118" y="6306"/>
                  </a:cubicBezTo>
                  <a:cubicBezTo>
                    <a:pt x="5170" y="6293"/>
                    <a:pt x="5225" y="6267"/>
                    <a:pt x="5281" y="6240"/>
                  </a:cubicBezTo>
                  <a:cubicBezTo>
                    <a:pt x="5579" y="6567"/>
                    <a:pt x="6020" y="6756"/>
                    <a:pt x="6486" y="6756"/>
                  </a:cubicBezTo>
                  <a:cubicBezTo>
                    <a:pt x="6659" y="6756"/>
                    <a:pt x="6835" y="6730"/>
                    <a:pt x="7009" y="6675"/>
                  </a:cubicBezTo>
                  <a:cubicBezTo>
                    <a:pt x="7077" y="6920"/>
                    <a:pt x="7185" y="7165"/>
                    <a:pt x="7306" y="7410"/>
                  </a:cubicBezTo>
                  <a:cubicBezTo>
                    <a:pt x="7946" y="8621"/>
                    <a:pt x="9050" y="9382"/>
                    <a:pt x="10163" y="9532"/>
                  </a:cubicBezTo>
                  <a:lnTo>
                    <a:pt x="10670" y="9069"/>
                  </a:lnTo>
                  <a:cubicBezTo>
                    <a:pt x="10653" y="9069"/>
                    <a:pt x="10653" y="9056"/>
                    <a:pt x="10640" y="9056"/>
                  </a:cubicBezTo>
                  <a:cubicBezTo>
                    <a:pt x="9634" y="8742"/>
                    <a:pt x="8886" y="7792"/>
                    <a:pt x="8886" y="6675"/>
                  </a:cubicBezTo>
                  <a:lnTo>
                    <a:pt x="8886" y="6567"/>
                  </a:lnTo>
                  <a:cubicBezTo>
                    <a:pt x="9325" y="6828"/>
                    <a:pt x="9839" y="6967"/>
                    <a:pt x="10372" y="6967"/>
                  </a:cubicBezTo>
                  <a:cubicBezTo>
                    <a:pt x="10780" y="6967"/>
                    <a:pt x="11200" y="6885"/>
                    <a:pt x="11607" y="6714"/>
                  </a:cubicBezTo>
                  <a:cubicBezTo>
                    <a:pt x="13119" y="6077"/>
                    <a:pt x="13854" y="4415"/>
                    <a:pt x="13253" y="3001"/>
                  </a:cubicBezTo>
                  <a:cubicBezTo>
                    <a:pt x="13158" y="2769"/>
                    <a:pt x="13021" y="2550"/>
                    <a:pt x="12874" y="2374"/>
                  </a:cubicBezTo>
                  <a:cubicBezTo>
                    <a:pt x="13184" y="2034"/>
                    <a:pt x="13403" y="1600"/>
                    <a:pt x="13485" y="1110"/>
                  </a:cubicBezTo>
                  <a:cubicBezTo>
                    <a:pt x="12501" y="376"/>
                    <a:pt x="11387" y="0"/>
                    <a:pt x="10365" y="0"/>
                  </a:cubicBezTo>
                  <a:close/>
                </a:path>
              </a:pathLst>
            </a:custGeom>
            <a:solidFill>
              <a:schemeClr val="accent4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30;p18">
              <a:extLst>
                <a:ext uri="{FF2B5EF4-FFF2-40B4-BE49-F238E27FC236}">
                  <a16:creationId xmlns:a16="http://schemas.microsoft.com/office/drawing/2014/main" id="{E3CC369D-2C1F-8FA4-52EF-7E774F4CAF1D}"/>
                </a:ext>
              </a:extLst>
            </p:cNvPr>
            <p:cNvSpPr/>
            <p:nvPr/>
          </p:nvSpPr>
          <p:spPr>
            <a:xfrm flipH="1">
              <a:off x="941413" y="1279848"/>
              <a:ext cx="1141228" cy="1161860"/>
            </a:xfrm>
            <a:custGeom>
              <a:avLst/>
              <a:gdLst/>
              <a:ahLst/>
              <a:cxnLst/>
              <a:rect l="l" t="t" r="r" b="b"/>
              <a:pathLst>
                <a:path w="10233" h="10418" extrusionOk="0">
                  <a:moveTo>
                    <a:pt x="3470" y="1"/>
                  </a:moveTo>
                  <a:cubicBezTo>
                    <a:pt x="2582" y="1"/>
                    <a:pt x="1787" y="232"/>
                    <a:pt x="1252" y="630"/>
                  </a:cubicBezTo>
                  <a:cubicBezTo>
                    <a:pt x="1239" y="630"/>
                    <a:pt x="625" y="1352"/>
                    <a:pt x="491" y="1829"/>
                  </a:cubicBezTo>
                  <a:cubicBezTo>
                    <a:pt x="1" y="3556"/>
                    <a:pt x="1196" y="5408"/>
                    <a:pt x="3172" y="5966"/>
                  </a:cubicBezTo>
                  <a:cubicBezTo>
                    <a:pt x="3554" y="6071"/>
                    <a:pt x="3936" y="6119"/>
                    <a:pt x="4307" y="6119"/>
                  </a:cubicBezTo>
                  <a:cubicBezTo>
                    <a:pt x="4517" y="6119"/>
                    <a:pt x="4724" y="6104"/>
                    <a:pt x="4926" y="6074"/>
                  </a:cubicBezTo>
                  <a:lnTo>
                    <a:pt x="4926" y="6074"/>
                  </a:lnTo>
                  <a:cubicBezTo>
                    <a:pt x="4818" y="6851"/>
                    <a:pt x="5007" y="7612"/>
                    <a:pt x="5510" y="8184"/>
                  </a:cubicBezTo>
                  <a:cubicBezTo>
                    <a:pt x="5824" y="8537"/>
                    <a:pt x="6219" y="8781"/>
                    <a:pt x="6640" y="8919"/>
                  </a:cubicBezTo>
                  <a:cubicBezTo>
                    <a:pt x="6533" y="9774"/>
                    <a:pt x="7130" y="10375"/>
                    <a:pt x="8015" y="10414"/>
                  </a:cubicBezTo>
                  <a:cubicBezTo>
                    <a:pt x="8056" y="10416"/>
                    <a:pt x="8096" y="10417"/>
                    <a:pt x="8135" y="10417"/>
                  </a:cubicBezTo>
                  <a:cubicBezTo>
                    <a:pt x="9572" y="10417"/>
                    <a:pt x="9920" y="9219"/>
                    <a:pt x="9962" y="9203"/>
                  </a:cubicBezTo>
                  <a:cubicBezTo>
                    <a:pt x="9932" y="8945"/>
                    <a:pt x="9867" y="8687"/>
                    <a:pt x="9756" y="8429"/>
                  </a:cubicBezTo>
                  <a:cubicBezTo>
                    <a:pt x="9661" y="8197"/>
                    <a:pt x="9524" y="7978"/>
                    <a:pt x="9377" y="7802"/>
                  </a:cubicBezTo>
                  <a:cubicBezTo>
                    <a:pt x="10043" y="7096"/>
                    <a:pt x="10233" y="5911"/>
                    <a:pt x="9769" y="4794"/>
                  </a:cubicBezTo>
                  <a:cubicBezTo>
                    <a:pt x="9348" y="3801"/>
                    <a:pt x="8492" y="3148"/>
                    <a:pt x="7620" y="3027"/>
                  </a:cubicBezTo>
                  <a:cubicBezTo>
                    <a:pt x="7796" y="1802"/>
                    <a:pt x="6451" y="509"/>
                    <a:pt x="4560" y="114"/>
                  </a:cubicBezTo>
                  <a:cubicBezTo>
                    <a:pt x="4189" y="37"/>
                    <a:pt x="3823" y="1"/>
                    <a:pt x="3470" y="1"/>
                  </a:cubicBezTo>
                  <a:close/>
                </a:path>
              </a:pathLst>
            </a:custGeom>
            <a:solidFill>
              <a:schemeClr val="accent3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1;p18">
              <a:extLst>
                <a:ext uri="{FF2B5EF4-FFF2-40B4-BE49-F238E27FC236}">
                  <a16:creationId xmlns:a16="http://schemas.microsoft.com/office/drawing/2014/main" id="{2065DBA0-198D-23E0-6A53-8ECBB192987E}"/>
                </a:ext>
              </a:extLst>
            </p:cNvPr>
            <p:cNvSpPr/>
            <p:nvPr/>
          </p:nvSpPr>
          <p:spPr>
            <a:xfrm flipH="1">
              <a:off x="2228184" y="1736946"/>
              <a:ext cx="628440" cy="723347"/>
            </a:xfrm>
            <a:custGeom>
              <a:avLst/>
              <a:gdLst/>
              <a:ahLst/>
              <a:cxnLst/>
              <a:rect l="l" t="t" r="r" b="b"/>
              <a:pathLst>
                <a:path w="5635" h="6486" extrusionOk="0">
                  <a:moveTo>
                    <a:pt x="1797" y="1"/>
                  </a:moveTo>
                  <a:cubicBezTo>
                    <a:pt x="1686" y="1"/>
                    <a:pt x="1458" y="40"/>
                    <a:pt x="1458" y="56"/>
                  </a:cubicBezTo>
                  <a:cubicBezTo>
                    <a:pt x="736" y="245"/>
                    <a:pt x="164" y="843"/>
                    <a:pt x="53" y="1620"/>
                  </a:cubicBezTo>
                  <a:cubicBezTo>
                    <a:pt x="1" y="2136"/>
                    <a:pt x="151" y="2626"/>
                    <a:pt x="448" y="3008"/>
                  </a:cubicBezTo>
                  <a:cubicBezTo>
                    <a:pt x="259" y="3606"/>
                    <a:pt x="259" y="4246"/>
                    <a:pt x="517" y="4844"/>
                  </a:cubicBezTo>
                  <a:cubicBezTo>
                    <a:pt x="954" y="5880"/>
                    <a:pt x="1988" y="6485"/>
                    <a:pt x="3104" y="6485"/>
                  </a:cubicBezTo>
                  <a:cubicBezTo>
                    <a:pt x="3514" y="6485"/>
                    <a:pt x="3935" y="6404"/>
                    <a:pt x="4341" y="6232"/>
                  </a:cubicBezTo>
                  <a:cubicBezTo>
                    <a:pt x="4449" y="6179"/>
                    <a:pt x="4573" y="6124"/>
                    <a:pt x="4681" y="6055"/>
                  </a:cubicBezTo>
                  <a:cubicBezTo>
                    <a:pt x="4681" y="6055"/>
                    <a:pt x="4681" y="6056"/>
                    <a:pt x="4681" y="6056"/>
                  </a:cubicBezTo>
                  <a:cubicBezTo>
                    <a:pt x="4695" y="6056"/>
                    <a:pt x="5497" y="5311"/>
                    <a:pt x="5416" y="4178"/>
                  </a:cubicBezTo>
                  <a:cubicBezTo>
                    <a:pt x="5390" y="3730"/>
                    <a:pt x="5308" y="3292"/>
                    <a:pt x="5132" y="2914"/>
                  </a:cubicBezTo>
                  <a:cubicBezTo>
                    <a:pt x="5635" y="2368"/>
                    <a:pt x="5621" y="1496"/>
                    <a:pt x="5089" y="954"/>
                  </a:cubicBezTo>
                  <a:cubicBezTo>
                    <a:pt x="4799" y="656"/>
                    <a:pt x="4419" y="507"/>
                    <a:pt x="4039" y="507"/>
                  </a:cubicBezTo>
                  <a:cubicBezTo>
                    <a:pt x="3812" y="507"/>
                    <a:pt x="3584" y="560"/>
                    <a:pt x="3375" y="667"/>
                  </a:cubicBezTo>
                  <a:cubicBezTo>
                    <a:pt x="2966" y="259"/>
                    <a:pt x="2408" y="1"/>
                    <a:pt x="1797" y="1"/>
                  </a:cubicBezTo>
                  <a:close/>
                </a:path>
              </a:pathLst>
            </a:custGeom>
            <a:solidFill>
              <a:schemeClr val="accent1"/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Google Shape;113;p17">
            <a:extLst>
              <a:ext uri="{FF2B5EF4-FFF2-40B4-BE49-F238E27FC236}">
                <a16:creationId xmlns:a16="http://schemas.microsoft.com/office/drawing/2014/main" id="{7AE2F2F6-0EE7-C2AC-CD2F-B97FD64125E2}"/>
              </a:ext>
            </a:extLst>
          </p:cNvPr>
          <p:cNvSpPr txBox="1"/>
          <p:nvPr/>
        </p:nvSpPr>
        <p:spPr>
          <a:xfrm>
            <a:off x="552866" y="880150"/>
            <a:ext cx="5003501" cy="1128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dirty="0">
                <a:latin typeface="Fira Sans"/>
                <a:ea typeface="Fira Sans"/>
                <a:cs typeface="Fira Sans"/>
                <a:sym typeface="Fira Sans"/>
              </a:rPr>
              <a:t>Consiste nello </a:t>
            </a:r>
            <a:r>
              <a:rPr lang="it-IT" sz="1200" b="1" dirty="0">
                <a:latin typeface="Fira Sans"/>
                <a:ea typeface="Fira Sans"/>
                <a:cs typeface="Fira Sans"/>
                <a:sym typeface="Fira Sans"/>
              </a:rPr>
              <a:t>spostamento intraoperatorio delle strutture cerebrali </a:t>
            </a:r>
            <a:r>
              <a:rPr lang="it-IT" sz="1200" dirty="0">
                <a:latin typeface="Fira Sans"/>
                <a:ea typeface="Fira Sans"/>
                <a:cs typeface="Fira Sans"/>
                <a:sym typeface="Fira Sans"/>
              </a:rPr>
              <a:t>rispetto alla posizione registrata sulle immagini pre operatorie. </a:t>
            </a: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" name="Google Shape;113;p17">
            <a:extLst>
              <a:ext uri="{FF2B5EF4-FFF2-40B4-BE49-F238E27FC236}">
                <a16:creationId xmlns:a16="http://schemas.microsoft.com/office/drawing/2014/main" id="{122FDFDF-B3DA-69BA-FBC6-53AF54E2DB8E}"/>
              </a:ext>
            </a:extLst>
          </p:cNvPr>
          <p:cNvSpPr txBox="1"/>
          <p:nvPr/>
        </p:nvSpPr>
        <p:spPr>
          <a:xfrm>
            <a:off x="552864" y="1444580"/>
            <a:ext cx="4568083" cy="2481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150" dirty="0">
                <a:latin typeface="Fira Sans"/>
                <a:ea typeface="Fira Sans"/>
                <a:cs typeface="Fira Sans"/>
                <a:sym typeface="Fira Sans"/>
              </a:rPr>
              <a:t>Il cervello può deformarsi a causa di diverse ragioni:</a:t>
            </a:r>
          </a:p>
          <a:p>
            <a:pPr lvl="4"/>
            <a:r>
              <a:rPr lang="it-IT" sz="1150" dirty="0">
                <a:latin typeface="Fira Sans"/>
                <a:ea typeface="Fira Sans"/>
                <a:cs typeface="Fira Sans"/>
                <a:sym typeface="Fira Sans"/>
              </a:rPr>
              <a:t>   -  perdita di liquido cerebrospinale (CSF)</a:t>
            </a:r>
          </a:p>
          <a:p>
            <a:pPr lvl="4"/>
            <a:r>
              <a:rPr lang="it-IT" sz="1150" dirty="0">
                <a:latin typeface="Fira Sans"/>
                <a:ea typeface="Fira Sans"/>
                <a:cs typeface="Fira Sans"/>
                <a:sym typeface="Fira Sans"/>
              </a:rPr>
              <a:t>   -  effetto della gravità sul tessuto cerebrale esposto</a:t>
            </a:r>
          </a:p>
          <a:p>
            <a:pPr lvl="4"/>
            <a:r>
              <a:rPr lang="it-IT" sz="1150" dirty="0">
                <a:latin typeface="Fira Sans"/>
                <a:ea typeface="Fira Sans"/>
                <a:cs typeface="Fira Sans"/>
                <a:sym typeface="Fira Sans"/>
              </a:rPr>
              <a:t>   -  edema o gonfiore post-traumatico </a:t>
            </a:r>
          </a:p>
          <a:p>
            <a:pPr lvl="4"/>
            <a:r>
              <a:rPr lang="it-IT" sz="1150" dirty="0">
                <a:latin typeface="Fira Sans"/>
                <a:ea typeface="Fira Sans"/>
                <a:cs typeface="Fira Sans"/>
                <a:sym typeface="Fira Sans"/>
              </a:rPr>
              <a:t>   -  variazioni di pressione </a:t>
            </a:r>
          </a:p>
          <a:p>
            <a:pPr lvl="4"/>
            <a:endParaRPr lang="it-IT" sz="1200" dirty="0">
              <a:latin typeface="Fira Sans"/>
              <a:ea typeface="Fira Sans"/>
              <a:cs typeface="Fira Sans"/>
              <a:sym typeface="Fira Sans"/>
            </a:endParaRPr>
          </a:p>
          <a:p>
            <a:pPr lvl="4"/>
            <a:r>
              <a:rPr lang="it-IT" sz="1200" dirty="0">
                <a:latin typeface="Fira Sans"/>
                <a:ea typeface="Fira Sans"/>
                <a:cs typeface="Fira Sans"/>
                <a:sym typeface="Fira Sans"/>
              </a:rPr>
              <a:t>Viene a </a:t>
            </a:r>
            <a:r>
              <a:rPr lang="it-IT" sz="1200" b="1" dirty="0">
                <a:latin typeface="Fira Sans"/>
                <a:ea typeface="Fira Sans"/>
                <a:cs typeface="Fira Sans"/>
                <a:sym typeface="Fira Sans"/>
              </a:rPr>
              <a:t>mancare</a:t>
            </a:r>
            <a:r>
              <a:rPr lang="it-IT" sz="1200" dirty="0">
                <a:latin typeface="Fira Sans"/>
                <a:ea typeface="Fira Sans"/>
                <a:cs typeface="Fira Sans"/>
                <a:sym typeface="Fira Sans"/>
              </a:rPr>
              <a:t> una corretta </a:t>
            </a:r>
            <a:r>
              <a:rPr lang="it-IT" sz="1200" b="1" dirty="0">
                <a:latin typeface="Fira Sans"/>
                <a:ea typeface="Fira Sans"/>
                <a:cs typeface="Fira Sans"/>
                <a:sym typeface="Fira Sans"/>
              </a:rPr>
              <a:t>corrispondenza</a:t>
            </a:r>
            <a:r>
              <a:rPr lang="it-IT" sz="1200" dirty="0">
                <a:latin typeface="Fira Sans"/>
                <a:ea typeface="Fira Sans"/>
                <a:cs typeface="Fira Sans"/>
                <a:sym typeface="Fira Sans"/>
              </a:rPr>
              <a:t> tra le coordinate calcolate in fase di registrazione e la realtà, portando a possibili deviazioni dello strumento dal target pianificato</a:t>
            </a:r>
          </a:p>
          <a:p>
            <a:pPr lvl="4"/>
            <a:endParaRPr lang="it-IT" sz="1200" dirty="0">
              <a:latin typeface="Fira Sans"/>
              <a:ea typeface="Fira Sans"/>
              <a:cs typeface="Fira Sans"/>
              <a:sym typeface="Fira Sans"/>
            </a:endParaRPr>
          </a:p>
          <a:p>
            <a:pPr lvl="4"/>
            <a:r>
              <a:rPr lang="it-IT" sz="1200" dirty="0">
                <a:latin typeface="Fira Sans"/>
                <a:ea typeface="Fira Sans"/>
                <a:cs typeface="Fira Sans"/>
                <a:sym typeface="Fira Sans"/>
              </a:rPr>
              <a:t>Possibili soluzioni:</a:t>
            </a:r>
          </a:p>
        </p:txBody>
      </p:sp>
      <p:sp>
        <p:nvSpPr>
          <p:cNvPr id="13" name="Google Shape;166;p20">
            <a:extLst>
              <a:ext uri="{FF2B5EF4-FFF2-40B4-BE49-F238E27FC236}">
                <a16:creationId xmlns:a16="http://schemas.microsoft.com/office/drawing/2014/main" id="{C65797F1-9FA6-28C7-5076-B0452652C734}"/>
              </a:ext>
            </a:extLst>
          </p:cNvPr>
          <p:cNvSpPr/>
          <p:nvPr/>
        </p:nvSpPr>
        <p:spPr>
          <a:xfrm>
            <a:off x="838503" y="3843963"/>
            <a:ext cx="447157" cy="419387"/>
          </a:xfrm>
          <a:custGeom>
            <a:avLst/>
            <a:gdLst/>
            <a:ahLst/>
            <a:cxnLst/>
            <a:rect l="l" t="t" r="r" b="b"/>
            <a:pathLst>
              <a:path w="17297" h="14947" extrusionOk="0">
                <a:moveTo>
                  <a:pt x="10412" y="0"/>
                </a:moveTo>
                <a:cubicBezTo>
                  <a:pt x="9523" y="0"/>
                  <a:pt x="8727" y="233"/>
                  <a:pt x="8192" y="633"/>
                </a:cubicBezTo>
                <a:cubicBezTo>
                  <a:pt x="7863" y="454"/>
                  <a:pt x="7486" y="355"/>
                  <a:pt x="7094" y="355"/>
                </a:cubicBezTo>
                <a:cubicBezTo>
                  <a:pt x="6855" y="355"/>
                  <a:pt x="6611" y="392"/>
                  <a:pt x="6369" y="469"/>
                </a:cubicBezTo>
                <a:cubicBezTo>
                  <a:pt x="5866" y="633"/>
                  <a:pt x="5458" y="943"/>
                  <a:pt x="5184" y="1351"/>
                </a:cubicBezTo>
                <a:cubicBezTo>
                  <a:pt x="5017" y="1316"/>
                  <a:pt x="4843" y="1299"/>
                  <a:pt x="4665" y="1299"/>
                </a:cubicBezTo>
                <a:cubicBezTo>
                  <a:pt x="4005" y="1299"/>
                  <a:pt x="3292" y="1540"/>
                  <a:pt x="2682" y="2034"/>
                </a:cubicBezTo>
                <a:cubicBezTo>
                  <a:pt x="1960" y="2605"/>
                  <a:pt x="1539" y="3392"/>
                  <a:pt x="1458" y="4156"/>
                </a:cubicBezTo>
                <a:cubicBezTo>
                  <a:pt x="736" y="4346"/>
                  <a:pt x="164" y="4944"/>
                  <a:pt x="53" y="5721"/>
                </a:cubicBezTo>
                <a:cubicBezTo>
                  <a:pt x="1" y="6237"/>
                  <a:pt x="151" y="6727"/>
                  <a:pt x="448" y="7096"/>
                </a:cubicBezTo>
                <a:cubicBezTo>
                  <a:pt x="259" y="7693"/>
                  <a:pt x="259" y="8347"/>
                  <a:pt x="517" y="8944"/>
                </a:cubicBezTo>
                <a:cubicBezTo>
                  <a:pt x="955" y="9974"/>
                  <a:pt x="1994" y="10584"/>
                  <a:pt x="3113" y="10584"/>
                </a:cubicBezTo>
                <a:cubicBezTo>
                  <a:pt x="3520" y="10584"/>
                  <a:pt x="3938" y="10503"/>
                  <a:pt x="4341" y="10332"/>
                </a:cubicBezTo>
                <a:cubicBezTo>
                  <a:pt x="4449" y="10280"/>
                  <a:pt x="4573" y="10224"/>
                  <a:pt x="4681" y="10156"/>
                </a:cubicBezTo>
                <a:cubicBezTo>
                  <a:pt x="4694" y="10224"/>
                  <a:pt x="4723" y="10293"/>
                  <a:pt x="4749" y="10348"/>
                </a:cubicBezTo>
                <a:cubicBezTo>
                  <a:pt x="5188" y="11377"/>
                  <a:pt x="6228" y="11986"/>
                  <a:pt x="7343" y="11986"/>
                </a:cubicBezTo>
                <a:cubicBezTo>
                  <a:pt x="7747" y="11986"/>
                  <a:pt x="8162" y="11906"/>
                  <a:pt x="8561" y="11736"/>
                </a:cubicBezTo>
                <a:cubicBezTo>
                  <a:pt x="8613" y="11707"/>
                  <a:pt x="8668" y="11681"/>
                  <a:pt x="8724" y="11668"/>
                </a:cubicBezTo>
                <a:cubicBezTo>
                  <a:pt x="9023" y="11995"/>
                  <a:pt x="9467" y="12178"/>
                  <a:pt x="9934" y="12178"/>
                </a:cubicBezTo>
                <a:cubicBezTo>
                  <a:pt x="10105" y="12178"/>
                  <a:pt x="10280" y="12153"/>
                  <a:pt x="10452" y="12102"/>
                </a:cubicBezTo>
                <a:cubicBezTo>
                  <a:pt x="10520" y="12347"/>
                  <a:pt x="10628" y="12592"/>
                  <a:pt x="10749" y="12837"/>
                </a:cubicBezTo>
                <a:cubicBezTo>
                  <a:pt x="11389" y="14049"/>
                  <a:pt x="12493" y="14810"/>
                  <a:pt x="13606" y="14947"/>
                </a:cubicBezTo>
                <a:lnTo>
                  <a:pt x="14113" y="14496"/>
                </a:lnTo>
                <a:cubicBezTo>
                  <a:pt x="14096" y="14483"/>
                  <a:pt x="14096" y="14483"/>
                  <a:pt x="14083" y="14470"/>
                </a:cubicBezTo>
                <a:cubicBezTo>
                  <a:pt x="13077" y="14156"/>
                  <a:pt x="12329" y="13219"/>
                  <a:pt x="12329" y="12089"/>
                </a:cubicBezTo>
                <a:lnTo>
                  <a:pt x="12329" y="11994"/>
                </a:lnTo>
                <a:cubicBezTo>
                  <a:pt x="12768" y="12248"/>
                  <a:pt x="13281" y="12388"/>
                  <a:pt x="13814" y="12388"/>
                </a:cubicBezTo>
                <a:cubicBezTo>
                  <a:pt x="14223" y="12388"/>
                  <a:pt x="14643" y="12305"/>
                  <a:pt x="15050" y="12128"/>
                </a:cubicBezTo>
                <a:cubicBezTo>
                  <a:pt x="16562" y="11491"/>
                  <a:pt x="17297" y="9829"/>
                  <a:pt x="16696" y="8428"/>
                </a:cubicBezTo>
                <a:cubicBezTo>
                  <a:pt x="16601" y="8196"/>
                  <a:pt x="16464" y="7981"/>
                  <a:pt x="16317" y="7788"/>
                </a:cubicBezTo>
                <a:cubicBezTo>
                  <a:pt x="16983" y="7096"/>
                  <a:pt x="17173" y="5897"/>
                  <a:pt x="16709" y="4797"/>
                </a:cubicBezTo>
                <a:cubicBezTo>
                  <a:pt x="16288" y="3801"/>
                  <a:pt x="15432" y="3134"/>
                  <a:pt x="14560" y="3027"/>
                </a:cubicBezTo>
                <a:cubicBezTo>
                  <a:pt x="14736" y="1789"/>
                  <a:pt x="13391" y="509"/>
                  <a:pt x="11500" y="113"/>
                </a:cubicBezTo>
                <a:cubicBezTo>
                  <a:pt x="11130" y="37"/>
                  <a:pt x="10763" y="0"/>
                  <a:pt x="10412" y="0"/>
                </a:cubicBezTo>
                <a:close/>
              </a:path>
            </a:pathLst>
          </a:custGeom>
          <a:ln>
            <a:headEnd type="none" w="sm" len="sm"/>
            <a:tailEnd type="none" w="sm" len="sm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66;p20">
            <a:extLst>
              <a:ext uri="{FF2B5EF4-FFF2-40B4-BE49-F238E27FC236}">
                <a16:creationId xmlns:a16="http://schemas.microsoft.com/office/drawing/2014/main" id="{85A1F273-9F48-85EE-9598-D55928AD9936}"/>
              </a:ext>
            </a:extLst>
          </p:cNvPr>
          <p:cNvSpPr/>
          <p:nvPr/>
        </p:nvSpPr>
        <p:spPr>
          <a:xfrm>
            <a:off x="838503" y="4416663"/>
            <a:ext cx="447157" cy="419387"/>
          </a:xfrm>
          <a:custGeom>
            <a:avLst/>
            <a:gdLst/>
            <a:ahLst/>
            <a:cxnLst/>
            <a:rect l="l" t="t" r="r" b="b"/>
            <a:pathLst>
              <a:path w="17297" h="14947" extrusionOk="0">
                <a:moveTo>
                  <a:pt x="10412" y="0"/>
                </a:moveTo>
                <a:cubicBezTo>
                  <a:pt x="9523" y="0"/>
                  <a:pt x="8727" y="233"/>
                  <a:pt x="8192" y="633"/>
                </a:cubicBezTo>
                <a:cubicBezTo>
                  <a:pt x="7863" y="454"/>
                  <a:pt x="7486" y="355"/>
                  <a:pt x="7094" y="355"/>
                </a:cubicBezTo>
                <a:cubicBezTo>
                  <a:pt x="6855" y="355"/>
                  <a:pt x="6611" y="392"/>
                  <a:pt x="6369" y="469"/>
                </a:cubicBezTo>
                <a:cubicBezTo>
                  <a:pt x="5866" y="633"/>
                  <a:pt x="5458" y="943"/>
                  <a:pt x="5184" y="1351"/>
                </a:cubicBezTo>
                <a:cubicBezTo>
                  <a:pt x="5017" y="1316"/>
                  <a:pt x="4843" y="1299"/>
                  <a:pt x="4665" y="1299"/>
                </a:cubicBezTo>
                <a:cubicBezTo>
                  <a:pt x="4005" y="1299"/>
                  <a:pt x="3292" y="1540"/>
                  <a:pt x="2682" y="2034"/>
                </a:cubicBezTo>
                <a:cubicBezTo>
                  <a:pt x="1960" y="2605"/>
                  <a:pt x="1539" y="3392"/>
                  <a:pt x="1458" y="4156"/>
                </a:cubicBezTo>
                <a:cubicBezTo>
                  <a:pt x="736" y="4346"/>
                  <a:pt x="164" y="4944"/>
                  <a:pt x="53" y="5721"/>
                </a:cubicBezTo>
                <a:cubicBezTo>
                  <a:pt x="1" y="6237"/>
                  <a:pt x="151" y="6727"/>
                  <a:pt x="448" y="7096"/>
                </a:cubicBezTo>
                <a:cubicBezTo>
                  <a:pt x="259" y="7693"/>
                  <a:pt x="259" y="8347"/>
                  <a:pt x="517" y="8944"/>
                </a:cubicBezTo>
                <a:cubicBezTo>
                  <a:pt x="955" y="9974"/>
                  <a:pt x="1994" y="10584"/>
                  <a:pt x="3113" y="10584"/>
                </a:cubicBezTo>
                <a:cubicBezTo>
                  <a:pt x="3520" y="10584"/>
                  <a:pt x="3938" y="10503"/>
                  <a:pt x="4341" y="10332"/>
                </a:cubicBezTo>
                <a:cubicBezTo>
                  <a:pt x="4449" y="10280"/>
                  <a:pt x="4573" y="10224"/>
                  <a:pt x="4681" y="10156"/>
                </a:cubicBezTo>
                <a:cubicBezTo>
                  <a:pt x="4694" y="10224"/>
                  <a:pt x="4723" y="10293"/>
                  <a:pt x="4749" y="10348"/>
                </a:cubicBezTo>
                <a:cubicBezTo>
                  <a:pt x="5188" y="11377"/>
                  <a:pt x="6228" y="11986"/>
                  <a:pt x="7343" y="11986"/>
                </a:cubicBezTo>
                <a:cubicBezTo>
                  <a:pt x="7747" y="11986"/>
                  <a:pt x="8162" y="11906"/>
                  <a:pt x="8561" y="11736"/>
                </a:cubicBezTo>
                <a:cubicBezTo>
                  <a:pt x="8613" y="11707"/>
                  <a:pt x="8668" y="11681"/>
                  <a:pt x="8724" y="11668"/>
                </a:cubicBezTo>
                <a:cubicBezTo>
                  <a:pt x="9023" y="11995"/>
                  <a:pt x="9467" y="12178"/>
                  <a:pt x="9934" y="12178"/>
                </a:cubicBezTo>
                <a:cubicBezTo>
                  <a:pt x="10105" y="12178"/>
                  <a:pt x="10280" y="12153"/>
                  <a:pt x="10452" y="12102"/>
                </a:cubicBezTo>
                <a:cubicBezTo>
                  <a:pt x="10520" y="12347"/>
                  <a:pt x="10628" y="12592"/>
                  <a:pt x="10749" y="12837"/>
                </a:cubicBezTo>
                <a:cubicBezTo>
                  <a:pt x="11389" y="14049"/>
                  <a:pt x="12493" y="14810"/>
                  <a:pt x="13606" y="14947"/>
                </a:cubicBezTo>
                <a:lnTo>
                  <a:pt x="14113" y="14496"/>
                </a:lnTo>
                <a:cubicBezTo>
                  <a:pt x="14096" y="14483"/>
                  <a:pt x="14096" y="14483"/>
                  <a:pt x="14083" y="14470"/>
                </a:cubicBezTo>
                <a:cubicBezTo>
                  <a:pt x="13077" y="14156"/>
                  <a:pt x="12329" y="13219"/>
                  <a:pt x="12329" y="12089"/>
                </a:cubicBezTo>
                <a:lnTo>
                  <a:pt x="12329" y="11994"/>
                </a:lnTo>
                <a:cubicBezTo>
                  <a:pt x="12768" y="12248"/>
                  <a:pt x="13281" y="12388"/>
                  <a:pt x="13814" y="12388"/>
                </a:cubicBezTo>
                <a:cubicBezTo>
                  <a:pt x="14223" y="12388"/>
                  <a:pt x="14643" y="12305"/>
                  <a:pt x="15050" y="12128"/>
                </a:cubicBezTo>
                <a:cubicBezTo>
                  <a:pt x="16562" y="11491"/>
                  <a:pt x="17297" y="9829"/>
                  <a:pt x="16696" y="8428"/>
                </a:cubicBezTo>
                <a:cubicBezTo>
                  <a:pt x="16601" y="8196"/>
                  <a:pt x="16464" y="7981"/>
                  <a:pt x="16317" y="7788"/>
                </a:cubicBezTo>
                <a:cubicBezTo>
                  <a:pt x="16983" y="7096"/>
                  <a:pt x="17173" y="5897"/>
                  <a:pt x="16709" y="4797"/>
                </a:cubicBezTo>
                <a:cubicBezTo>
                  <a:pt x="16288" y="3801"/>
                  <a:pt x="15432" y="3134"/>
                  <a:pt x="14560" y="3027"/>
                </a:cubicBezTo>
                <a:cubicBezTo>
                  <a:pt x="14736" y="1789"/>
                  <a:pt x="13391" y="509"/>
                  <a:pt x="11500" y="113"/>
                </a:cubicBezTo>
                <a:cubicBezTo>
                  <a:pt x="11130" y="37"/>
                  <a:pt x="10763" y="0"/>
                  <a:pt x="10412" y="0"/>
                </a:cubicBezTo>
                <a:close/>
              </a:path>
            </a:pathLst>
          </a:custGeom>
          <a:ln>
            <a:headEnd type="none" w="sm" len="sm"/>
            <a:tailEnd type="none" w="sm" len="sm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13;p17">
            <a:extLst>
              <a:ext uri="{FF2B5EF4-FFF2-40B4-BE49-F238E27FC236}">
                <a16:creationId xmlns:a16="http://schemas.microsoft.com/office/drawing/2014/main" id="{BA3C0C97-7B68-69D3-343D-84C8992610DD}"/>
              </a:ext>
            </a:extLst>
          </p:cNvPr>
          <p:cNvSpPr txBox="1"/>
          <p:nvPr/>
        </p:nvSpPr>
        <p:spPr>
          <a:xfrm>
            <a:off x="1461538" y="3827541"/>
            <a:ext cx="2120436" cy="41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>
                <a:latin typeface="Fira Sans"/>
                <a:ea typeface="Fira Sans"/>
                <a:cs typeface="Fira Sans"/>
                <a:sym typeface="Fira Sans"/>
              </a:rPr>
              <a:t>Imaging Intraoperatorio</a:t>
            </a:r>
            <a:endParaRPr sz="1200" b="1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" name="Google Shape;113;p17">
            <a:extLst>
              <a:ext uri="{FF2B5EF4-FFF2-40B4-BE49-F238E27FC236}">
                <a16:creationId xmlns:a16="http://schemas.microsoft.com/office/drawing/2014/main" id="{ABBE65AD-450F-DFB0-8DC7-E5584CC8FAE9}"/>
              </a:ext>
            </a:extLst>
          </p:cNvPr>
          <p:cNvSpPr txBox="1"/>
          <p:nvPr/>
        </p:nvSpPr>
        <p:spPr>
          <a:xfrm>
            <a:off x="1461537" y="4412579"/>
            <a:ext cx="3901109" cy="419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dirty="0">
                <a:latin typeface="Fira Sans"/>
                <a:ea typeface="Fira Sans"/>
                <a:cs typeface="Fira Sans"/>
                <a:sym typeface="Fira Sans"/>
              </a:rPr>
              <a:t>Modelli computazionali predittivi di deformazione</a:t>
            </a:r>
            <a:endParaRPr sz="1200" b="1" dirty="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Applicazione clinica in TMS</a:t>
            </a:r>
            <a:endParaRPr sz="2800" dirty="0"/>
          </a:p>
        </p:txBody>
      </p:sp>
      <p:pic>
        <p:nvPicPr>
          <p:cNvPr id="12" name="Immagine 11" descr="The image depicts a human head illuminated by a blue light, with neuronal activity patterns represented by glowing dots, symbolizing brain activity.&#10;&#10;Il contenuto generato dall'IA potrebbe non essere corretto.">
            <a:extLst>
              <a:ext uri="{FF2B5EF4-FFF2-40B4-BE49-F238E27FC236}">
                <a16:creationId xmlns:a16="http://schemas.microsoft.com/office/drawing/2014/main" id="{3613DC17-33F7-CDBD-A4E8-B564F93B7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6032" y="1143376"/>
            <a:ext cx="2960091" cy="4000124"/>
          </a:xfrm>
          <a:prstGeom prst="rect">
            <a:avLst/>
          </a:prstGeom>
        </p:spPr>
      </p:pic>
      <p:sp>
        <p:nvSpPr>
          <p:cNvPr id="13" name="Google Shape;113;p17">
            <a:extLst>
              <a:ext uri="{FF2B5EF4-FFF2-40B4-BE49-F238E27FC236}">
                <a16:creationId xmlns:a16="http://schemas.microsoft.com/office/drawing/2014/main" id="{681497CB-9E1C-914C-1927-D74641C6466C}"/>
              </a:ext>
            </a:extLst>
          </p:cNvPr>
          <p:cNvSpPr txBox="1"/>
          <p:nvPr/>
        </p:nvSpPr>
        <p:spPr>
          <a:xfrm>
            <a:off x="3097985" y="827243"/>
            <a:ext cx="5439853" cy="1128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dirty="0">
                <a:latin typeface="Fira Sans"/>
                <a:ea typeface="Fira Sans"/>
                <a:cs typeface="Fira Sans"/>
                <a:sym typeface="Fira Sans"/>
              </a:rPr>
              <a:t>La </a:t>
            </a:r>
            <a:r>
              <a:rPr lang="it-IT" sz="1200" b="1" dirty="0">
                <a:latin typeface="Fira Sans"/>
                <a:ea typeface="Fira Sans"/>
                <a:cs typeface="Fira Sans"/>
                <a:sym typeface="Fira Sans"/>
              </a:rPr>
              <a:t>stimolazione magnetica transcranica</a:t>
            </a:r>
            <a:r>
              <a:rPr lang="it-IT" sz="1200" dirty="0">
                <a:latin typeface="Fira Sans"/>
                <a:ea typeface="Fira Sans"/>
                <a:cs typeface="Fira Sans"/>
                <a:sym typeface="Fira Sans"/>
              </a:rPr>
              <a:t> (</a:t>
            </a:r>
            <a:r>
              <a:rPr lang="it-IT" sz="1200" b="1" dirty="0">
                <a:latin typeface="Fira Sans"/>
                <a:ea typeface="Fira Sans"/>
                <a:cs typeface="Fira Sans"/>
                <a:sym typeface="Fira Sans"/>
              </a:rPr>
              <a:t>TMS</a:t>
            </a:r>
            <a:r>
              <a:rPr lang="it-IT" sz="1200" dirty="0">
                <a:latin typeface="Fira Sans"/>
                <a:ea typeface="Fira Sans"/>
                <a:cs typeface="Fira Sans"/>
                <a:sym typeface="Fira Sans"/>
              </a:rPr>
              <a:t>) è una tecnica in grado di modulare l’attività elettrica cerebrale mediante </a:t>
            </a:r>
            <a:r>
              <a:rPr lang="it-IT" sz="1200" b="1" dirty="0">
                <a:latin typeface="Fira Sans"/>
                <a:ea typeface="Fira Sans"/>
                <a:cs typeface="Fira Sans"/>
                <a:sym typeface="Fira Sans"/>
              </a:rPr>
              <a:t>impulsi magnetici</a:t>
            </a:r>
            <a:r>
              <a:rPr lang="it-IT" sz="1200" dirty="0">
                <a:latin typeface="Fira Sans"/>
                <a:ea typeface="Fira Sans"/>
                <a:cs typeface="Fira Sans"/>
                <a:sym typeface="Fira Sans"/>
              </a:rPr>
              <a:t>, rilasciati da una bobina (coil) posta sullo scalpo, che inducono </a:t>
            </a:r>
            <a:r>
              <a:rPr lang="it-IT" sz="1200" b="1" dirty="0">
                <a:latin typeface="Fira Sans"/>
                <a:ea typeface="Fira Sans"/>
                <a:cs typeface="Fira Sans"/>
                <a:sym typeface="Fira Sans"/>
              </a:rPr>
              <a:t>correnti elettriche </a:t>
            </a:r>
            <a:r>
              <a:rPr lang="it-IT" sz="1200" dirty="0">
                <a:latin typeface="Fira Sans"/>
                <a:ea typeface="Fira Sans"/>
                <a:cs typeface="Fira Sans"/>
                <a:sym typeface="Fira Sans"/>
              </a:rPr>
              <a:t>nella corteccia cerebrale. </a:t>
            </a: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" name="Google Shape;113;p17">
            <a:extLst>
              <a:ext uri="{FF2B5EF4-FFF2-40B4-BE49-F238E27FC236}">
                <a16:creationId xmlns:a16="http://schemas.microsoft.com/office/drawing/2014/main" id="{32C92FF8-F112-4190-02A8-4776550E2B27}"/>
              </a:ext>
            </a:extLst>
          </p:cNvPr>
          <p:cNvSpPr txBox="1"/>
          <p:nvPr/>
        </p:nvSpPr>
        <p:spPr>
          <a:xfrm>
            <a:off x="3097986" y="1905479"/>
            <a:ext cx="5439852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dirty="0">
                <a:latin typeface="Fira Sans"/>
                <a:ea typeface="Fira Sans"/>
                <a:cs typeface="Fira Sans"/>
                <a:sym typeface="Fira Sans"/>
              </a:rPr>
              <a:t>L’individuazione accurata dell’area corticale da stimolare risulta critica, spesso basata su riferimenti anatomici esterni o su stime approssimative. </a:t>
            </a:r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DD38D3EF-1193-7899-858B-7CE1E8D4749B}"/>
              </a:ext>
            </a:extLst>
          </p:cNvPr>
          <p:cNvCxnSpPr/>
          <p:nvPr/>
        </p:nvCxnSpPr>
        <p:spPr>
          <a:xfrm>
            <a:off x="5668159" y="3627348"/>
            <a:ext cx="0" cy="305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Google Shape;113;p17">
            <a:extLst>
              <a:ext uri="{FF2B5EF4-FFF2-40B4-BE49-F238E27FC236}">
                <a16:creationId xmlns:a16="http://schemas.microsoft.com/office/drawing/2014/main" id="{C630876B-4AEE-06B1-6B9F-5C4271AC85AE}"/>
              </a:ext>
            </a:extLst>
          </p:cNvPr>
          <p:cNvSpPr txBox="1"/>
          <p:nvPr/>
        </p:nvSpPr>
        <p:spPr>
          <a:xfrm>
            <a:off x="3223301" y="3932453"/>
            <a:ext cx="5314537" cy="767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dirty="0">
                <a:latin typeface="Fira Sans"/>
                <a:ea typeface="Fira Sans"/>
                <a:cs typeface="Fira Sans"/>
                <a:sym typeface="Fira Sans"/>
              </a:rPr>
              <a:t>guida</a:t>
            </a:r>
            <a:r>
              <a:rPr lang="it-IT" sz="1200" b="1" dirty="0"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it-IT" sz="1200" dirty="0">
                <a:latin typeface="Fira Sans"/>
                <a:ea typeface="Fira Sans"/>
                <a:cs typeface="Fira Sans"/>
                <a:sym typeface="Fira Sans"/>
              </a:rPr>
              <a:t>il</a:t>
            </a:r>
            <a:r>
              <a:rPr lang="it-IT" sz="1200" b="1" dirty="0">
                <a:latin typeface="Fira Sans"/>
                <a:ea typeface="Fira Sans"/>
                <a:cs typeface="Fira Sans"/>
                <a:sym typeface="Fira Sans"/>
              </a:rPr>
              <a:t> posizionamento del coil </a:t>
            </a:r>
            <a:r>
              <a:rPr lang="it-IT" sz="1200" dirty="0">
                <a:latin typeface="Fira Sans"/>
                <a:ea typeface="Fira Sans"/>
                <a:cs typeface="Fira Sans"/>
                <a:sym typeface="Fira Sans"/>
              </a:rPr>
              <a:t>rispetto all’anatomia cerebrale del paziente stesso, migliorando la precisione, la riproducibilità e l’efficacia della stimolazione. </a:t>
            </a: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9" name="Google Shape;192;p21">
            <a:extLst>
              <a:ext uri="{FF2B5EF4-FFF2-40B4-BE49-F238E27FC236}">
                <a16:creationId xmlns:a16="http://schemas.microsoft.com/office/drawing/2014/main" id="{BF763C61-2C27-3A1E-E5BA-9DDD87AAD8BF}"/>
              </a:ext>
            </a:extLst>
          </p:cNvPr>
          <p:cNvSpPr/>
          <p:nvPr/>
        </p:nvSpPr>
        <p:spPr>
          <a:xfrm>
            <a:off x="4276499" y="2867107"/>
            <a:ext cx="2783321" cy="686576"/>
          </a:xfrm>
          <a:custGeom>
            <a:avLst/>
            <a:gdLst/>
            <a:ahLst/>
            <a:cxnLst/>
            <a:rect l="l" t="t" r="r" b="b"/>
            <a:pathLst>
              <a:path w="12016" h="3388" extrusionOk="0">
                <a:moveTo>
                  <a:pt x="1702" y="1"/>
                </a:moveTo>
                <a:cubicBezTo>
                  <a:pt x="761" y="1"/>
                  <a:pt x="0" y="761"/>
                  <a:pt x="0" y="1689"/>
                </a:cubicBezTo>
                <a:cubicBezTo>
                  <a:pt x="0" y="2626"/>
                  <a:pt x="761" y="3387"/>
                  <a:pt x="1702" y="3387"/>
                </a:cubicBezTo>
                <a:lnTo>
                  <a:pt x="10327" y="3387"/>
                </a:lnTo>
                <a:cubicBezTo>
                  <a:pt x="11267" y="3387"/>
                  <a:pt x="12015" y="2626"/>
                  <a:pt x="12015" y="1689"/>
                </a:cubicBezTo>
                <a:cubicBezTo>
                  <a:pt x="12015" y="761"/>
                  <a:pt x="11267" y="1"/>
                  <a:pt x="1032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it-IT" dirty="0">
                <a:latin typeface="Fira Sans"/>
                <a:ea typeface="Fira Sans"/>
                <a:cs typeface="Fira Sans"/>
                <a:sym typeface="Fira Sans"/>
              </a:rPr>
              <a:t>La neuronavigazione in TMS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>
          <a:extLst>
            <a:ext uri="{FF2B5EF4-FFF2-40B4-BE49-F238E27FC236}">
              <a16:creationId xmlns:a16="http://schemas.microsoft.com/office/drawing/2014/main" id="{9E2FE752-F8DE-85D8-5C51-D55EF8154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>
            <a:extLst>
              <a:ext uri="{FF2B5EF4-FFF2-40B4-BE49-F238E27FC236}">
                <a16:creationId xmlns:a16="http://schemas.microsoft.com/office/drawing/2014/main" id="{14BB8615-5D06-F657-7710-EA0131F65C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0000" y="307450"/>
            <a:ext cx="878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Applicazione clinica in TMS</a:t>
            </a:r>
            <a:endParaRPr sz="2800" dirty="0"/>
          </a:p>
        </p:txBody>
      </p:sp>
      <p:pic>
        <p:nvPicPr>
          <p:cNvPr id="3" name="Immagine 2" descr="The image shows a monitor displaying a CT scan image of a skull, with a POSARIE device positioned on top, and a white cylindrical object, possibly a contrast agent, nearby.&#10;&#10;Il contenuto generato dall'IA potrebbe non essere corretto.">
            <a:extLst>
              <a:ext uri="{FF2B5EF4-FFF2-40B4-BE49-F238E27FC236}">
                <a16:creationId xmlns:a16="http://schemas.microsoft.com/office/drawing/2014/main" id="{F6EEFE0A-8A91-3A23-9FA4-4D7BA7EF30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46" y="1732581"/>
            <a:ext cx="3049531" cy="3122139"/>
          </a:xfrm>
          <a:prstGeom prst="rect">
            <a:avLst/>
          </a:prstGeom>
        </p:spPr>
      </p:pic>
      <p:sp>
        <p:nvSpPr>
          <p:cNvPr id="2" name="Google Shape;113;p17">
            <a:extLst>
              <a:ext uri="{FF2B5EF4-FFF2-40B4-BE49-F238E27FC236}">
                <a16:creationId xmlns:a16="http://schemas.microsoft.com/office/drawing/2014/main" id="{DC919C99-015E-9683-E706-407570847BF3}"/>
              </a:ext>
            </a:extLst>
          </p:cNvPr>
          <p:cNvSpPr txBox="1"/>
          <p:nvPr/>
        </p:nvSpPr>
        <p:spPr>
          <a:xfrm>
            <a:off x="717094" y="841179"/>
            <a:ext cx="7709811" cy="1128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dirty="0">
                <a:latin typeface="Fira Sans"/>
                <a:ea typeface="Fira Sans"/>
                <a:cs typeface="Fira Sans"/>
                <a:sym typeface="Fira Sans"/>
              </a:rPr>
              <a:t>A seguito della fase di registrazione tra lo spazio virtuale e lo spazio reale, il sistema di tracking consente di </a:t>
            </a:r>
            <a:r>
              <a:rPr lang="it-IT" sz="1200" b="1" dirty="0">
                <a:latin typeface="Fira Sans"/>
                <a:ea typeface="Fira Sans"/>
                <a:cs typeface="Fira Sans"/>
                <a:sym typeface="Fira Sans"/>
              </a:rPr>
              <a:t>tracciare in tempo reale </a:t>
            </a:r>
            <a:r>
              <a:rPr lang="it-IT" sz="1200" dirty="0">
                <a:latin typeface="Fira Sans"/>
                <a:ea typeface="Fira Sans"/>
                <a:cs typeface="Fira Sans"/>
                <a:sym typeface="Fira Sans"/>
              </a:rPr>
              <a:t>la posizione e l’orientamento della bobina TMS che viene visualizzata anche sul monitor sovrapposta al modello 3D del cervello.</a:t>
            </a: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" name="Google Shape;113;p17">
            <a:extLst>
              <a:ext uri="{FF2B5EF4-FFF2-40B4-BE49-F238E27FC236}">
                <a16:creationId xmlns:a16="http://schemas.microsoft.com/office/drawing/2014/main" id="{37AC2421-50AE-FDCE-A0AA-DB9CE01C47D6}"/>
              </a:ext>
            </a:extLst>
          </p:cNvPr>
          <p:cNvSpPr txBox="1"/>
          <p:nvPr/>
        </p:nvSpPr>
        <p:spPr>
          <a:xfrm>
            <a:off x="3972390" y="1565893"/>
            <a:ext cx="5658279" cy="1128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dirty="0">
                <a:latin typeface="Fira Sans"/>
                <a:ea typeface="Fira Sans"/>
                <a:cs typeface="Fira Sans"/>
                <a:sym typeface="Fira Sans"/>
              </a:rPr>
              <a:t>Questo permette di valutare con maggiore accuratezza: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E9DB2B31-C36E-784F-5CF7-9D8306CBA1C4}"/>
              </a:ext>
            </a:extLst>
          </p:cNvPr>
          <p:cNvGrpSpPr/>
          <p:nvPr/>
        </p:nvGrpSpPr>
        <p:grpSpPr>
          <a:xfrm>
            <a:off x="4061672" y="2271078"/>
            <a:ext cx="3777397" cy="701333"/>
            <a:chOff x="1386694" y="1140650"/>
            <a:chExt cx="5712278" cy="1134473"/>
          </a:xfrm>
        </p:grpSpPr>
        <p:sp>
          <p:nvSpPr>
            <p:cNvPr id="12" name="Google Shape;563;p31">
              <a:extLst>
                <a:ext uri="{FF2B5EF4-FFF2-40B4-BE49-F238E27FC236}">
                  <a16:creationId xmlns:a16="http://schemas.microsoft.com/office/drawing/2014/main" id="{C21107F1-E87B-4D77-1BB6-EF7556BFB2B5}"/>
                </a:ext>
              </a:extLst>
            </p:cNvPr>
            <p:cNvSpPr/>
            <p:nvPr/>
          </p:nvSpPr>
          <p:spPr>
            <a:xfrm>
              <a:off x="2650896" y="1140650"/>
              <a:ext cx="617371" cy="1134473"/>
            </a:xfrm>
            <a:custGeom>
              <a:avLst/>
              <a:gdLst/>
              <a:ahLst/>
              <a:cxnLst/>
              <a:rect l="l" t="t" r="r" b="b"/>
              <a:pathLst>
                <a:path w="1389" h="2249" extrusionOk="0">
                  <a:moveTo>
                    <a:pt x="237" y="0"/>
                  </a:moveTo>
                  <a:cubicBezTo>
                    <a:pt x="190" y="0"/>
                    <a:pt x="143" y="21"/>
                    <a:pt x="108" y="62"/>
                  </a:cubicBezTo>
                  <a:lnTo>
                    <a:pt x="1" y="156"/>
                  </a:lnTo>
                  <a:lnTo>
                    <a:pt x="843" y="986"/>
                  </a:lnTo>
                  <a:cubicBezTo>
                    <a:pt x="912" y="1067"/>
                    <a:pt x="912" y="1192"/>
                    <a:pt x="843" y="1260"/>
                  </a:cubicBezTo>
                  <a:lnTo>
                    <a:pt x="1" y="2103"/>
                  </a:lnTo>
                  <a:lnTo>
                    <a:pt x="108" y="2197"/>
                  </a:lnTo>
                  <a:cubicBezTo>
                    <a:pt x="143" y="2232"/>
                    <a:pt x="190" y="2249"/>
                    <a:pt x="237" y="2249"/>
                  </a:cubicBezTo>
                  <a:cubicBezTo>
                    <a:pt x="285" y="2249"/>
                    <a:pt x="332" y="2232"/>
                    <a:pt x="366" y="2197"/>
                  </a:cubicBezTo>
                  <a:lnTo>
                    <a:pt x="1307" y="1260"/>
                  </a:lnTo>
                  <a:cubicBezTo>
                    <a:pt x="1389" y="1192"/>
                    <a:pt x="1389" y="1067"/>
                    <a:pt x="1307" y="986"/>
                  </a:cubicBezTo>
                  <a:lnTo>
                    <a:pt x="366" y="62"/>
                  </a:lnTo>
                  <a:cubicBezTo>
                    <a:pt x="332" y="21"/>
                    <a:pt x="285" y="0"/>
                    <a:pt x="237" y="0"/>
                  </a:cubicBezTo>
                  <a:close/>
                </a:path>
              </a:pathLst>
            </a:custGeom>
            <a:solidFill>
              <a:srgbClr val="67B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64;p31">
              <a:extLst>
                <a:ext uri="{FF2B5EF4-FFF2-40B4-BE49-F238E27FC236}">
                  <a16:creationId xmlns:a16="http://schemas.microsoft.com/office/drawing/2014/main" id="{F13121EA-45E1-945F-64E9-8447D31EC1B8}"/>
                </a:ext>
              </a:extLst>
            </p:cNvPr>
            <p:cNvSpPr/>
            <p:nvPr/>
          </p:nvSpPr>
          <p:spPr>
            <a:xfrm>
              <a:off x="2577921" y="1421897"/>
              <a:ext cx="323910" cy="534899"/>
            </a:xfrm>
            <a:custGeom>
              <a:avLst/>
              <a:gdLst/>
              <a:ahLst/>
              <a:cxnLst/>
              <a:rect l="l" t="t" r="r" b="b"/>
              <a:pathLst>
                <a:path w="423" h="730" extrusionOk="0">
                  <a:moveTo>
                    <a:pt x="96" y="0"/>
                  </a:moveTo>
                  <a:cubicBezTo>
                    <a:pt x="46" y="0"/>
                    <a:pt x="1" y="38"/>
                    <a:pt x="1" y="94"/>
                  </a:cubicBezTo>
                  <a:lnTo>
                    <a:pt x="1" y="636"/>
                  </a:lnTo>
                  <a:cubicBezTo>
                    <a:pt x="1" y="692"/>
                    <a:pt x="46" y="730"/>
                    <a:pt x="96" y="730"/>
                  </a:cubicBezTo>
                  <a:cubicBezTo>
                    <a:pt x="119" y="730"/>
                    <a:pt x="143" y="722"/>
                    <a:pt x="164" y="705"/>
                  </a:cubicBezTo>
                  <a:lnTo>
                    <a:pt x="327" y="528"/>
                  </a:lnTo>
                  <a:cubicBezTo>
                    <a:pt x="422" y="447"/>
                    <a:pt x="422" y="296"/>
                    <a:pt x="327" y="202"/>
                  </a:cubicBezTo>
                  <a:lnTo>
                    <a:pt x="164" y="25"/>
                  </a:lnTo>
                  <a:cubicBezTo>
                    <a:pt x="143" y="8"/>
                    <a:pt x="119" y="0"/>
                    <a:pt x="96" y="0"/>
                  </a:cubicBezTo>
                  <a:close/>
                </a:path>
              </a:pathLst>
            </a:custGeom>
            <a:solidFill>
              <a:srgbClr val="67B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65;p31">
              <a:extLst>
                <a:ext uri="{FF2B5EF4-FFF2-40B4-BE49-F238E27FC236}">
                  <a16:creationId xmlns:a16="http://schemas.microsoft.com/office/drawing/2014/main" id="{D9789549-F82D-FEF1-1D90-808F2FB4D191}"/>
                </a:ext>
              </a:extLst>
            </p:cNvPr>
            <p:cNvSpPr/>
            <p:nvPr/>
          </p:nvSpPr>
          <p:spPr>
            <a:xfrm>
              <a:off x="2842351" y="1218940"/>
              <a:ext cx="4256621" cy="976247"/>
            </a:xfrm>
            <a:custGeom>
              <a:avLst/>
              <a:gdLst/>
              <a:ahLst/>
              <a:cxnLst/>
              <a:rect l="l" t="t" r="r" b="b"/>
              <a:pathLst>
                <a:path w="6967" h="1837" extrusionOk="0">
                  <a:moveTo>
                    <a:pt x="1" y="1"/>
                  </a:moveTo>
                  <a:lnTo>
                    <a:pt x="791" y="775"/>
                  </a:lnTo>
                  <a:cubicBezTo>
                    <a:pt x="830" y="817"/>
                    <a:pt x="843" y="870"/>
                    <a:pt x="843" y="912"/>
                  </a:cubicBezTo>
                  <a:cubicBezTo>
                    <a:pt x="843" y="968"/>
                    <a:pt x="830" y="1007"/>
                    <a:pt x="791" y="1049"/>
                  </a:cubicBezTo>
                  <a:lnTo>
                    <a:pt x="1" y="1836"/>
                  </a:lnTo>
                  <a:lnTo>
                    <a:pt x="6069" y="1836"/>
                  </a:lnTo>
                  <a:lnTo>
                    <a:pt x="6967" y="912"/>
                  </a:lnTo>
                  <a:lnTo>
                    <a:pt x="606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75;p31">
              <a:extLst>
                <a:ext uri="{FF2B5EF4-FFF2-40B4-BE49-F238E27FC236}">
                  <a16:creationId xmlns:a16="http://schemas.microsoft.com/office/drawing/2014/main" id="{E13EC9C0-53FB-3AED-8199-BFEE44D74D87}"/>
                </a:ext>
              </a:extLst>
            </p:cNvPr>
            <p:cNvSpPr/>
            <p:nvPr/>
          </p:nvSpPr>
          <p:spPr>
            <a:xfrm>
              <a:off x="1386694" y="1255539"/>
              <a:ext cx="1078409" cy="903046"/>
            </a:xfrm>
            <a:custGeom>
              <a:avLst/>
              <a:gdLst/>
              <a:ahLst/>
              <a:cxnLst/>
              <a:rect l="l" t="t" r="r" b="b"/>
              <a:pathLst>
                <a:path w="17297" h="14947" extrusionOk="0">
                  <a:moveTo>
                    <a:pt x="10412" y="0"/>
                  </a:moveTo>
                  <a:cubicBezTo>
                    <a:pt x="9523" y="0"/>
                    <a:pt x="8727" y="233"/>
                    <a:pt x="8192" y="633"/>
                  </a:cubicBezTo>
                  <a:cubicBezTo>
                    <a:pt x="7863" y="454"/>
                    <a:pt x="7486" y="355"/>
                    <a:pt x="7094" y="355"/>
                  </a:cubicBezTo>
                  <a:cubicBezTo>
                    <a:pt x="6855" y="355"/>
                    <a:pt x="6611" y="392"/>
                    <a:pt x="6369" y="469"/>
                  </a:cubicBezTo>
                  <a:cubicBezTo>
                    <a:pt x="5866" y="633"/>
                    <a:pt x="5458" y="943"/>
                    <a:pt x="5184" y="1351"/>
                  </a:cubicBezTo>
                  <a:cubicBezTo>
                    <a:pt x="5017" y="1316"/>
                    <a:pt x="4843" y="1299"/>
                    <a:pt x="4665" y="1299"/>
                  </a:cubicBezTo>
                  <a:cubicBezTo>
                    <a:pt x="4005" y="1299"/>
                    <a:pt x="3292" y="1540"/>
                    <a:pt x="2682" y="2034"/>
                  </a:cubicBezTo>
                  <a:cubicBezTo>
                    <a:pt x="1960" y="2605"/>
                    <a:pt x="1539" y="3392"/>
                    <a:pt x="1458" y="4156"/>
                  </a:cubicBezTo>
                  <a:cubicBezTo>
                    <a:pt x="736" y="4346"/>
                    <a:pt x="164" y="4944"/>
                    <a:pt x="53" y="5721"/>
                  </a:cubicBezTo>
                  <a:cubicBezTo>
                    <a:pt x="1" y="6237"/>
                    <a:pt x="151" y="6727"/>
                    <a:pt x="448" y="7096"/>
                  </a:cubicBezTo>
                  <a:cubicBezTo>
                    <a:pt x="259" y="7693"/>
                    <a:pt x="259" y="8347"/>
                    <a:pt x="517" y="8944"/>
                  </a:cubicBezTo>
                  <a:cubicBezTo>
                    <a:pt x="955" y="9974"/>
                    <a:pt x="1994" y="10584"/>
                    <a:pt x="3113" y="10584"/>
                  </a:cubicBezTo>
                  <a:cubicBezTo>
                    <a:pt x="3520" y="10584"/>
                    <a:pt x="3938" y="10503"/>
                    <a:pt x="4341" y="10332"/>
                  </a:cubicBezTo>
                  <a:cubicBezTo>
                    <a:pt x="4449" y="10280"/>
                    <a:pt x="4573" y="10224"/>
                    <a:pt x="4681" y="10156"/>
                  </a:cubicBezTo>
                  <a:cubicBezTo>
                    <a:pt x="4694" y="10224"/>
                    <a:pt x="4723" y="10293"/>
                    <a:pt x="4749" y="10348"/>
                  </a:cubicBezTo>
                  <a:cubicBezTo>
                    <a:pt x="5188" y="11377"/>
                    <a:pt x="6228" y="11986"/>
                    <a:pt x="7343" y="11986"/>
                  </a:cubicBezTo>
                  <a:cubicBezTo>
                    <a:pt x="7747" y="11986"/>
                    <a:pt x="8162" y="11906"/>
                    <a:pt x="8561" y="11736"/>
                  </a:cubicBezTo>
                  <a:cubicBezTo>
                    <a:pt x="8613" y="11707"/>
                    <a:pt x="8668" y="11681"/>
                    <a:pt x="8724" y="11668"/>
                  </a:cubicBezTo>
                  <a:cubicBezTo>
                    <a:pt x="9023" y="11995"/>
                    <a:pt x="9467" y="12178"/>
                    <a:pt x="9934" y="12178"/>
                  </a:cubicBezTo>
                  <a:cubicBezTo>
                    <a:pt x="10105" y="12178"/>
                    <a:pt x="10280" y="12153"/>
                    <a:pt x="10452" y="12102"/>
                  </a:cubicBezTo>
                  <a:cubicBezTo>
                    <a:pt x="10520" y="12347"/>
                    <a:pt x="10628" y="12592"/>
                    <a:pt x="10749" y="12837"/>
                  </a:cubicBezTo>
                  <a:cubicBezTo>
                    <a:pt x="11389" y="14049"/>
                    <a:pt x="12493" y="14810"/>
                    <a:pt x="13606" y="14947"/>
                  </a:cubicBezTo>
                  <a:lnTo>
                    <a:pt x="14113" y="14496"/>
                  </a:lnTo>
                  <a:cubicBezTo>
                    <a:pt x="14096" y="14483"/>
                    <a:pt x="14096" y="14483"/>
                    <a:pt x="14083" y="14470"/>
                  </a:cubicBezTo>
                  <a:cubicBezTo>
                    <a:pt x="13077" y="14156"/>
                    <a:pt x="12329" y="13219"/>
                    <a:pt x="12329" y="12089"/>
                  </a:cubicBezTo>
                  <a:lnTo>
                    <a:pt x="12329" y="11994"/>
                  </a:lnTo>
                  <a:cubicBezTo>
                    <a:pt x="12768" y="12248"/>
                    <a:pt x="13281" y="12388"/>
                    <a:pt x="13814" y="12388"/>
                  </a:cubicBezTo>
                  <a:cubicBezTo>
                    <a:pt x="14223" y="12388"/>
                    <a:pt x="14643" y="12305"/>
                    <a:pt x="15050" y="12128"/>
                  </a:cubicBezTo>
                  <a:cubicBezTo>
                    <a:pt x="16562" y="11491"/>
                    <a:pt x="17297" y="9829"/>
                    <a:pt x="16696" y="8428"/>
                  </a:cubicBezTo>
                  <a:cubicBezTo>
                    <a:pt x="16601" y="8196"/>
                    <a:pt x="16464" y="7981"/>
                    <a:pt x="16317" y="7788"/>
                  </a:cubicBezTo>
                  <a:cubicBezTo>
                    <a:pt x="16983" y="7096"/>
                    <a:pt x="17173" y="5897"/>
                    <a:pt x="16709" y="4797"/>
                  </a:cubicBezTo>
                  <a:cubicBezTo>
                    <a:pt x="16288" y="3801"/>
                    <a:pt x="15432" y="3134"/>
                    <a:pt x="14560" y="3027"/>
                  </a:cubicBezTo>
                  <a:cubicBezTo>
                    <a:pt x="14736" y="1789"/>
                    <a:pt x="13391" y="509"/>
                    <a:pt x="11500" y="113"/>
                  </a:cubicBezTo>
                  <a:cubicBezTo>
                    <a:pt x="11130" y="37"/>
                    <a:pt x="10763" y="0"/>
                    <a:pt x="10412" y="0"/>
                  </a:cubicBezTo>
                  <a:close/>
                </a:path>
              </a:pathLst>
            </a:custGeom>
            <a:solidFill>
              <a:srgbClr val="67BC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84;p31">
              <a:extLst>
                <a:ext uri="{FF2B5EF4-FFF2-40B4-BE49-F238E27FC236}">
                  <a16:creationId xmlns:a16="http://schemas.microsoft.com/office/drawing/2014/main" id="{ADCC27C8-14A1-5003-B6BC-A147FD5AD296}"/>
                </a:ext>
              </a:extLst>
            </p:cNvPr>
            <p:cNvSpPr txBox="1"/>
            <p:nvPr/>
          </p:nvSpPr>
          <p:spPr>
            <a:xfrm>
              <a:off x="3341242" y="1262932"/>
              <a:ext cx="3129011" cy="8661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Fira Sans"/>
                  <a:ea typeface="Fira Sans"/>
                  <a:cs typeface="Fira Sans"/>
                  <a:sym typeface="Fira Sans"/>
                </a:rPr>
                <a:t>Area corticale che viene stimolata</a:t>
              </a:r>
              <a:endParaRPr sz="11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FD2E1391-3481-5CB9-FB0B-A63735FD3964}"/>
              </a:ext>
            </a:extLst>
          </p:cNvPr>
          <p:cNvGrpSpPr/>
          <p:nvPr/>
        </p:nvGrpSpPr>
        <p:grpSpPr>
          <a:xfrm>
            <a:off x="4061672" y="3074234"/>
            <a:ext cx="3777397" cy="701333"/>
            <a:chOff x="1386694" y="1140650"/>
            <a:chExt cx="5712278" cy="1134473"/>
          </a:xfrm>
        </p:grpSpPr>
        <p:sp>
          <p:nvSpPr>
            <p:cNvPr id="18" name="Google Shape;563;p31">
              <a:extLst>
                <a:ext uri="{FF2B5EF4-FFF2-40B4-BE49-F238E27FC236}">
                  <a16:creationId xmlns:a16="http://schemas.microsoft.com/office/drawing/2014/main" id="{5D39456F-984D-DC3F-A652-7259B4457B3D}"/>
                </a:ext>
              </a:extLst>
            </p:cNvPr>
            <p:cNvSpPr/>
            <p:nvPr/>
          </p:nvSpPr>
          <p:spPr>
            <a:xfrm>
              <a:off x="2650896" y="1140650"/>
              <a:ext cx="617371" cy="1134473"/>
            </a:xfrm>
            <a:custGeom>
              <a:avLst/>
              <a:gdLst/>
              <a:ahLst/>
              <a:cxnLst/>
              <a:rect l="l" t="t" r="r" b="b"/>
              <a:pathLst>
                <a:path w="1389" h="2249" extrusionOk="0">
                  <a:moveTo>
                    <a:pt x="237" y="0"/>
                  </a:moveTo>
                  <a:cubicBezTo>
                    <a:pt x="190" y="0"/>
                    <a:pt x="143" y="21"/>
                    <a:pt x="108" y="62"/>
                  </a:cubicBezTo>
                  <a:lnTo>
                    <a:pt x="1" y="156"/>
                  </a:lnTo>
                  <a:lnTo>
                    <a:pt x="843" y="986"/>
                  </a:lnTo>
                  <a:cubicBezTo>
                    <a:pt x="912" y="1067"/>
                    <a:pt x="912" y="1192"/>
                    <a:pt x="843" y="1260"/>
                  </a:cubicBezTo>
                  <a:lnTo>
                    <a:pt x="1" y="2103"/>
                  </a:lnTo>
                  <a:lnTo>
                    <a:pt x="108" y="2197"/>
                  </a:lnTo>
                  <a:cubicBezTo>
                    <a:pt x="143" y="2232"/>
                    <a:pt x="190" y="2249"/>
                    <a:pt x="237" y="2249"/>
                  </a:cubicBezTo>
                  <a:cubicBezTo>
                    <a:pt x="285" y="2249"/>
                    <a:pt x="332" y="2232"/>
                    <a:pt x="366" y="2197"/>
                  </a:cubicBezTo>
                  <a:lnTo>
                    <a:pt x="1307" y="1260"/>
                  </a:lnTo>
                  <a:cubicBezTo>
                    <a:pt x="1389" y="1192"/>
                    <a:pt x="1389" y="1067"/>
                    <a:pt x="1307" y="986"/>
                  </a:cubicBezTo>
                  <a:lnTo>
                    <a:pt x="366" y="62"/>
                  </a:lnTo>
                  <a:cubicBezTo>
                    <a:pt x="332" y="21"/>
                    <a:pt x="285" y="0"/>
                    <a:pt x="237" y="0"/>
                  </a:cubicBezTo>
                  <a:close/>
                </a:path>
              </a:pathLst>
            </a:custGeom>
            <a:solidFill>
              <a:srgbClr val="3372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564;p31">
              <a:extLst>
                <a:ext uri="{FF2B5EF4-FFF2-40B4-BE49-F238E27FC236}">
                  <a16:creationId xmlns:a16="http://schemas.microsoft.com/office/drawing/2014/main" id="{61834358-0B1C-DF1A-5D76-7128A40DF3E9}"/>
                </a:ext>
              </a:extLst>
            </p:cNvPr>
            <p:cNvSpPr/>
            <p:nvPr/>
          </p:nvSpPr>
          <p:spPr>
            <a:xfrm>
              <a:off x="2577921" y="1421897"/>
              <a:ext cx="323910" cy="534899"/>
            </a:xfrm>
            <a:custGeom>
              <a:avLst/>
              <a:gdLst/>
              <a:ahLst/>
              <a:cxnLst/>
              <a:rect l="l" t="t" r="r" b="b"/>
              <a:pathLst>
                <a:path w="423" h="730" extrusionOk="0">
                  <a:moveTo>
                    <a:pt x="96" y="0"/>
                  </a:moveTo>
                  <a:cubicBezTo>
                    <a:pt x="46" y="0"/>
                    <a:pt x="1" y="38"/>
                    <a:pt x="1" y="94"/>
                  </a:cubicBezTo>
                  <a:lnTo>
                    <a:pt x="1" y="636"/>
                  </a:lnTo>
                  <a:cubicBezTo>
                    <a:pt x="1" y="692"/>
                    <a:pt x="46" y="730"/>
                    <a:pt x="96" y="730"/>
                  </a:cubicBezTo>
                  <a:cubicBezTo>
                    <a:pt x="119" y="730"/>
                    <a:pt x="143" y="722"/>
                    <a:pt x="164" y="705"/>
                  </a:cubicBezTo>
                  <a:lnTo>
                    <a:pt x="327" y="528"/>
                  </a:lnTo>
                  <a:cubicBezTo>
                    <a:pt x="422" y="447"/>
                    <a:pt x="422" y="296"/>
                    <a:pt x="327" y="202"/>
                  </a:cubicBezTo>
                  <a:lnTo>
                    <a:pt x="164" y="25"/>
                  </a:lnTo>
                  <a:cubicBezTo>
                    <a:pt x="143" y="8"/>
                    <a:pt x="119" y="0"/>
                    <a:pt x="96" y="0"/>
                  </a:cubicBezTo>
                  <a:close/>
                </a:path>
              </a:pathLst>
            </a:custGeom>
            <a:solidFill>
              <a:srgbClr val="3372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65;p31">
              <a:extLst>
                <a:ext uri="{FF2B5EF4-FFF2-40B4-BE49-F238E27FC236}">
                  <a16:creationId xmlns:a16="http://schemas.microsoft.com/office/drawing/2014/main" id="{52C12DCA-ACCE-FCF3-F694-92B4DC950DDC}"/>
                </a:ext>
              </a:extLst>
            </p:cNvPr>
            <p:cNvSpPr/>
            <p:nvPr/>
          </p:nvSpPr>
          <p:spPr>
            <a:xfrm>
              <a:off x="2842351" y="1218940"/>
              <a:ext cx="4256621" cy="976247"/>
            </a:xfrm>
            <a:custGeom>
              <a:avLst/>
              <a:gdLst/>
              <a:ahLst/>
              <a:cxnLst/>
              <a:rect l="l" t="t" r="r" b="b"/>
              <a:pathLst>
                <a:path w="6967" h="1837" extrusionOk="0">
                  <a:moveTo>
                    <a:pt x="1" y="1"/>
                  </a:moveTo>
                  <a:lnTo>
                    <a:pt x="791" y="775"/>
                  </a:lnTo>
                  <a:cubicBezTo>
                    <a:pt x="830" y="817"/>
                    <a:pt x="843" y="870"/>
                    <a:pt x="843" y="912"/>
                  </a:cubicBezTo>
                  <a:cubicBezTo>
                    <a:pt x="843" y="968"/>
                    <a:pt x="830" y="1007"/>
                    <a:pt x="791" y="1049"/>
                  </a:cubicBezTo>
                  <a:lnTo>
                    <a:pt x="1" y="1836"/>
                  </a:lnTo>
                  <a:lnTo>
                    <a:pt x="6069" y="1836"/>
                  </a:lnTo>
                  <a:lnTo>
                    <a:pt x="6967" y="912"/>
                  </a:lnTo>
                  <a:lnTo>
                    <a:pt x="606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75;p31">
              <a:extLst>
                <a:ext uri="{FF2B5EF4-FFF2-40B4-BE49-F238E27FC236}">
                  <a16:creationId xmlns:a16="http://schemas.microsoft.com/office/drawing/2014/main" id="{636CA69A-D135-9DA8-A821-C7E86C591D68}"/>
                </a:ext>
              </a:extLst>
            </p:cNvPr>
            <p:cNvSpPr/>
            <p:nvPr/>
          </p:nvSpPr>
          <p:spPr>
            <a:xfrm>
              <a:off x="1386694" y="1255539"/>
              <a:ext cx="1078409" cy="903046"/>
            </a:xfrm>
            <a:custGeom>
              <a:avLst/>
              <a:gdLst/>
              <a:ahLst/>
              <a:cxnLst/>
              <a:rect l="l" t="t" r="r" b="b"/>
              <a:pathLst>
                <a:path w="17297" h="14947" extrusionOk="0">
                  <a:moveTo>
                    <a:pt x="10412" y="0"/>
                  </a:moveTo>
                  <a:cubicBezTo>
                    <a:pt x="9523" y="0"/>
                    <a:pt x="8727" y="233"/>
                    <a:pt x="8192" y="633"/>
                  </a:cubicBezTo>
                  <a:cubicBezTo>
                    <a:pt x="7863" y="454"/>
                    <a:pt x="7486" y="355"/>
                    <a:pt x="7094" y="355"/>
                  </a:cubicBezTo>
                  <a:cubicBezTo>
                    <a:pt x="6855" y="355"/>
                    <a:pt x="6611" y="392"/>
                    <a:pt x="6369" y="469"/>
                  </a:cubicBezTo>
                  <a:cubicBezTo>
                    <a:pt x="5866" y="633"/>
                    <a:pt x="5458" y="943"/>
                    <a:pt x="5184" y="1351"/>
                  </a:cubicBezTo>
                  <a:cubicBezTo>
                    <a:pt x="5017" y="1316"/>
                    <a:pt x="4843" y="1299"/>
                    <a:pt x="4665" y="1299"/>
                  </a:cubicBezTo>
                  <a:cubicBezTo>
                    <a:pt x="4005" y="1299"/>
                    <a:pt x="3292" y="1540"/>
                    <a:pt x="2682" y="2034"/>
                  </a:cubicBezTo>
                  <a:cubicBezTo>
                    <a:pt x="1960" y="2605"/>
                    <a:pt x="1539" y="3392"/>
                    <a:pt x="1458" y="4156"/>
                  </a:cubicBezTo>
                  <a:cubicBezTo>
                    <a:pt x="736" y="4346"/>
                    <a:pt x="164" y="4944"/>
                    <a:pt x="53" y="5721"/>
                  </a:cubicBezTo>
                  <a:cubicBezTo>
                    <a:pt x="1" y="6237"/>
                    <a:pt x="151" y="6727"/>
                    <a:pt x="448" y="7096"/>
                  </a:cubicBezTo>
                  <a:cubicBezTo>
                    <a:pt x="259" y="7693"/>
                    <a:pt x="259" y="8347"/>
                    <a:pt x="517" y="8944"/>
                  </a:cubicBezTo>
                  <a:cubicBezTo>
                    <a:pt x="955" y="9974"/>
                    <a:pt x="1994" y="10584"/>
                    <a:pt x="3113" y="10584"/>
                  </a:cubicBezTo>
                  <a:cubicBezTo>
                    <a:pt x="3520" y="10584"/>
                    <a:pt x="3938" y="10503"/>
                    <a:pt x="4341" y="10332"/>
                  </a:cubicBezTo>
                  <a:cubicBezTo>
                    <a:pt x="4449" y="10280"/>
                    <a:pt x="4573" y="10224"/>
                    <a:pt x="4681" y="10156"/>
                  </a:cubicBezTo>
                  <a:cubicBezTo>
                    <a:pt x="4694" y="10224"/>
                    <a:pt x="4723" y="10293"/>
                    <a:pt x="4749" y="10348"/>
                  </a:cubicBezTo>
                  <a:cubicBezTo>
                    <a:pt x="5188" y="11377"/>
                    <a:pt x="6228" y="11986"/>
                    <a:pt x="7343" y="11986"/>
                  </a:cubicBezTo>
                  <a:cubicBezTo>
                    <a:pt x="7747" y="11986"/>
                    <a:pt x="8162" y="11906"/>
                    <a:pt x="8561" y="11736"/>
                  </a:cubicBezTo>
                  <a:cubicBezTo>
                    <a:pt x="8613" y="11707"/>
                    <a:pt x="8668" y="11681"/>
                    <a:pt x="8724" y="11668"/>
                  </a:cubicBezTo>
                  <a:cubicBezTo>
                    <a:pt x="9023" y="11995"/>
                    <a:pt x="9467" y="12178"/>
                    <a:pt x="9934" y="12178"/>
                  </a:cubicBezTo>
                  <a:cubicBezTo>
                    <a:pt x="10105" y="12178"/>
                    <a:pt x="10280" y="12153"/>
                    <a:pt x="10452" y="12102"/>
                  </a:cubicBezTo>
                  <a:cubicBezTo>
                    <a:pt x="10520" y="12347"/>
                    <a:pt x="10628" y="12592"/>
                    <a:pt x="10749" y="12837"/>
                  </a:cubicBezTo>
                  <a:cubicBezTo>
                    <a:pt x="11389" y="14049"/>
                    <a:pt x="12493" y="14810"/>
                    <a:pt x="13606" y="14947"/>
                  </a:cubicBezTo>
                  <a:lnTo>
                    <a:pt x="14113" y="14496"/>
                  </a:lnTo>
                  <a:cubicBezTo>
                    <a:pt x="14096" y="14483"/>
                    <a:pt x="14096" y="14483"/>
                    <a:pt x="14083" y="14470"/>
                  </a:cubicBezTo>
                  <a:cubicBezTo>
                    <a:pt x="13077" y="14156"/>
                    <a:pt x="12329" y="13219"/>
                    <a:pt x="12329" y="12089"/>
                  </a:cubicBezTo>
                  <a:lnTo>
                    <a:pt x="12329" y="11994"/>
                  </a:lnTo>
                  <a:cubicBezTo>
                    <a:pt x="12768" y="12248"/>
                    <a:pt x="13281" y="12388"/>
                    <a:pt x="13814" y="12388"/>
                  </a:cubicBezTo>
                  <a:cubicBezTo>
                    <a:pt x="14223" y="12388"/>
                    <a:pt x="14643" y="12305"/>
                    <a:pt x="15050" y="12128"/>
                  </a:cubicBezTo>
                  <a:cubicBezTo>
                    <a:pt x="16562" y="11491"/>
                    <a:pt x="17297" y="9829"/>
                    <a:pt x="16696" y="8428"/>
                  </a:cubicBezTo>
                  <a:cubicBezTo>
                    <a:pt x="16601" y="8196"/>
                    <a:pt x="16464" y="7981"/>
                    <a:pt x="16317" y="7788"/>
                  </a:cubicBezTo>
                  <a:cubicBezTo>
                    <a:pt x="16983" y="7096"/>
                    <a:pt x="17173" y="5897"/>
                    <a:pt x="16709" y="4797"/>
                  </a:cubicBezTo>
                  <a:cubicBezTo>
                    <a:pt x="16288" y="3801"/>
                    <a:pt x="15432" y="3134"/>
                    <a:pt x="14560" y="3027"/>
                  </a:cubicBezTo>
                  <a:cubicBezTo>
                    <a:pt x="14736" y="1789"/>
                    <a:pt x="13391" y="509"/>
                    <a:pt x="11500" y="113"/>
                  </a:cubicBezTo>
                  <a:cubicBezTo>
                    <a:pt x="11130" y="37"/>
                    <a:pt x="10763" y="0"/>
                    <a:pt x="10412" y="0"/>
                  </a:cubicBezTo>
                  <a:close/>
                </a:path>
              </a:pathLst>
            </a:custGeom>
            <a:solidFill>
              <a:srgbClr val="3372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" name="Google Shape;584;p31">
              <a:extLst>
                <a:ext uri="{FF2B5EF4-FFF2-40B4-BE49-F238E27FC236}">
                  <a16:creationId xmlns:a16="http://schemas.microsoft.com/office/drawing/2014/main" id="{C83AE80B-335B-E1B7-2E67-FE52F719BCC5}"/>
                </a:ext>
              </a:extLst>
            </p:cNvPr>
            <p:cNvSpPr txBox="1"/>
            <p:nvPr/>
          </p:nvSpPr>
          <p:spPr>
            <a:xfrm>
              <a:off x="3341242" y="1262932"/>
              <a:ext cx="3129011" cy="8661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Fira Sans"/>
                  <a:ea typeface="Fira Sans"/>
                  <a:cs typeface="Fira Sans"/>
                  <a:sym typeface="Fira Sans"/>
                </a:rPr>
                <a:t>Angolazione corretta della bobina</a:t>
              </a:r>
              <a:endParaRPr sz="11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3" name="Gruppo 22">
            <a:extLst>
              <a:ext uri="{FF2B5EF4-FFF2-40B4-BE49-F238E27FC236}">
                <a16:creationId xmlns:a16="http://schemas.microsoft.com/office/drawing/2014/main" id="{BA73D59D-F627-C708-BA66-46B4E54992D2}"/>
              </a:ext>
            </a:extLst>
          </p:cNvPr>
          <p:cNvGrpSpPr/>
          <p:nvPr/>
        </p:nvGrpSpPr>
        <p:grpSpPr>
          <a:xfrm>
            <a:off x="4061672" y="3914007"/>
            <a:ext cx="3777397" cy="701333"/>
            <a:chOff x="1386694" y="1140650"/>
            <a:chExt cx="5712278" cy="1134473"/>
          </a:xfrm>
        </p:grpSpPr>
        <p:sp>
          <p:nvSpPr>
            <p:cNvPr id="24" name="Google Shape;563;p31">
              <a:extLst>
                <a:ext uri="{FF2B5EF4-FFF2-40B4-BE49-F238E27FC236}">
                  <a16:creationId xmlns:a16="http://schemas.microsoft.com/office/drawing/2014/main" id="{669E460D-55B0-E578-ABDD-CC137D869860}"/>
                </a:ext>
              </a:extLst>
            </p:cNvPr>
            <p:cNvSpPr/>
            <p:nvPr/>
          </p:nvSpPr>
          <p:spPr>
            <a:xfrm>
              <a:off x="2650896" y="1140650"/>
              <a:ext cx="617371" cy="1134473"/>
            </a:xfrm>
            <a:custGeom>
              <a:avLst/>
              <a:gdLst/>
              <a:ahLst/>
              <a:cxnLst/>
              <a:rect l="l" t="t" r="r" b="b"/>
              <a:pathLst>
                <a:path w="1389" h="2249" extrusionOk="0">
                  <a:moveTo>
                    <a:pt x="237" y="0"/>
                  </a:moveTo>
                  <a:cubicBezTo>
                    <a:pt x="190" y="0"/>
                    <a:pt x="143" y="21"/>
                    <a:pt x="108" y="62"/>
                  </a:cubicBezTo>
                  <a:lnTo>
                    <a:pt x="1" y="156"/>
                  </a:lnTo>
                  <a:lnTo>
                    <a:pt x="843" y="986"/>
                  </a:lnTo>
                  <a:cubicBezTo>
                    <a:pt x="912" y="1067"/>
                    <a:pt x="912" y="1192"/>
                    <a:pt x="843" y="1260"/>
                  </a:cubicBezTo>
                  <a:lnTo>
                    <a:pt x="1" y="2103"/>
                  </a:lnTo>
                  <a:lnTo>
                    <a:pt x="108" y="2197"/>
                  </a:lnTo>
                  <a:cubicBezTo>
                    <a:pt x="143" y="2232"/>
                    <a:pt x="190" y="2249"/>
                    <a:pt x="237" y="2249"/>
                  </a:cubicBezTo>
                  <a:cubicBezTo>
                    <a:pt x="285" y="2249"/>
                    <a:pt x="332" y="2232"/>
                    <a:pt x="366" y="2197"/>
                  </a:cubicBezTo>
                  <a:lnTo>
                    <a:pt x="1307" y="1260"/>
                  </a:lnTo>
                  <a:cubicBezTo>
                    <a:pt x="1389" y="1192"/>
                    <a:pt x="1389" y="1067"/>
                    <a:pt x="1307" y="986"/>
                  </a:cubicBezTo>
                  <a:lnTo>
                    <a:pt x="366" y="62"/>
                  </a:lnTo>
                  <a:cubicBezTo>
                    <a:pt x="332" y="21"/>
                    <a:pt x="285" y="0"/>
                    <a:pt x="237" y="0"/>
                  </a:cubicBezTo>
                  <a:close/>
                </a:path>
              </a:pathLst>
            </a:custGeom>
            <a:solidFill>
              <a:srgbClr val="0C34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64;p31">
              <a:extLst>
                <a:ext uri="{FF2B5EF4-FFF2-40B4-BE49-F238E27FC236}">
                  <a16:creationId xmlns:a16="http://schemas.microsoft.com/office/drawing/2014/main" id="{B0D25618-60E3-A025-B053-DC188335EF20}"/>
                </a:ext>
              </a:extLst>
            </p:cNvPr>
            <p:cNvSpPr/>
            <p:nvPr/>
          </p:nvSpPr>
          <p:spPr>
            <a:xfrm>
              <a:off x="2577921" y="1421897"/>
              <a:ext cx="323910" cy="534899"/>
            </a:xfrm>
            <a:custGeom>
              <a:avLst/>
              <a:gdLst/>
              <a:ahLst/>
              <a:cxnLst/>
              <a:rect l="l" t="t" r="r" b="b"/>
              <a:pathLst>
                <a:path w="423" h="730" extrusionOk="0">
                  <a:moveTo>
                    <a:pt x="96" y="0"/>
                  </a:moveTo>
                  <a:cubicBezTo>
                    <a:pt x="46" y="0"/>
                    <a:pt x="1" y="38"/>
                    <a:pt x="1" y="94"/>
                  </a:cubicBezTo>
                  <a:lnTo>
                    <a:pt x="1" y="636"/>
                  </a:lnTo>
                  <a:cubicBezTo>
                    <a:pt x="1" y="692"/>
                    <a:pt x="46" y="730"/>
                    <a:pt x="96" y="730"/>
                  </a:cubicBezTo>
                  <a:cubicBezTo>
                    <a:pt x="119" y="730"/>
                    <a:pt x="143" y="722"/>
                    <a:pt x="164" y="705"/>
                  </a:cubicBezTo>
                  <a:lnTo>
                    <a:pt x="327" y="528"/>
                  </a:lnTo>
                  <a:cubicBezTo>
                    <a:pt x="422" y="447"/>
                    <a:pt x="422" y="296"/>
                    <a:pt x="327" y="202"/>
                  </a:cubicBezTo>
                  <a:lnTo>
                    <a:pt x="164" y="25"/>
                  </a:lnTo>
                  <a:cubicBezTo>
                    <a:pt x="143" y="8"/>
                    <a:pt x="119" y="0"/>
                    <a:pt x="96" y="0"/>
                  </a:cubicBezTo>
                  <a:close/>
                </a:path>
              </a:pathLst>
            </a:custGeom>
            <a:solidFill>
              <a:srgbClr val="0C34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65;p31">
              <a:extLst>
                <a:ext uri="{FF2B5EF4-FFF2-40B4-BE49-F238E27FC236}">
                  <a16:creationId xmlns:a16="http://schemas.microsoft.com/office/drawing/2014/main" id="{3709A7C7-9D32-1E4F-484C-F31AB05E1BEF}"/>
                </a:ext>
              </a:extLst>
            </p:cNvPr>
            <p:cNvSpPr/>
            <p:nvPr/>
          </p:nvSpPr>
          <p:spPr>
            <a:xfrm>
              <a:off x="2842351" y="1218940"/>
              <a:ext cx="4256621" cy="976247"/>
            </a:xfrm>
            <a:custGeom>
              <a:avLst/>
              <a:gdLst/>
              <a:ahLst/>
              <a:cxnLst/>
              <a:rect l="l" t="t" r="r" b="b"/>
              <a:pathLst>
                <a:path w="6967" h="1837" extrusionOk="0">
                  <a:moveTo>
                    <a:pt x="1" y="1"/>
                  </a:moveTo>
                  <a:lnTo>
                    <a:pt x="791" y="775"/>
                  </a:lnTo>
                  <a:cubicBezTo>
                    <a:pt x="830" y="817"/>
                    <a:pt x="843" y="870"/>
                    <a:pt x="843" y="912"/>
                  </a:cubicBezTo>
                  <a:cubicBezTo>
                    <a:pt x="843" y="968"/>
                    <a:pt x="830" y="1007"/>
                    <a:pt x="791" y="1049"/>
                  </a:cubicBezTo>
                  <a:lnTo>
                    <a:pt x="1" y="1836"/>
                  </a:lnTo>
                  <a:lnTo>
                    <a:pt x="6069" y="1836"/>
                  </a:lnTo>
                  <a:lnTo>
                    <a:pt x="6967" y="912"/>
                  </a:lnTo>
                  <a:lnTo>
                    <a:pt x="606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75;p31">
              <a:extLst>
                <a:ext uri="{FF2B5EF4-FFF2-40B4-BE49-F238E27FC236}">
                  <a16:creationId xmlns:a16="http://schemas.microsoft.com/office/drawing/2014/main" id="{9303D38A-A1F9-1CEF-49F2-2DA09EE81BD2}"/>
                </a:ext>
              </a:extLst>
            </p:cNvPr>
            <p:cNvSpPr/>
            <p:nvPr/>
          </p:nvSpPr>
          <p:spPr>
            <a:xfrm>
              <a:off x="1386694" y="1255539"/>
              <a:ext cx="1078409" cy="903046"/>
            </a:xfrm>
            <a:custGeom>
              <a:avLst/>
              <a:gdLst/>
              <a:ahLst/>
              <a:cxnLst/>
              <a:rect l="l" t="t" r="r" b="b"/>
              <a:pathLst>
                <a:path w="17297" h="14947" extrusionOk="0">
                  <a:moveTo>
                    <a:pt x="10412" y="0"/>
                  </a:moveTo>
                  <a:cubicBezTo>
                    <a:pt x="9523" y="0"/>
                    <a:pt x="8727" y="233"/>
                    <a:pt x="8192" y="633"/>
                  </a:cubicBezTo>
                  <a:cubicBezTo>
                    <a:pt x="7863" y="454"/>
                    <a:pt x="7486" y="355"/>
                    <a:pt x="7094" y="355"/>
                  </a:cubicBezTo>
                  <a:cubicBezTo>
                    <a:pt x="6855" y="355"/>
                    <a:pt x="6611" y="392"/>
                    <a:pt x="6369" y="469"/>
                  </a:cubicBezTo>
                  <a:cubicBezTo>
                    <a:pt x="5866" y="633"/>
                    <a:pt x="5458" y="943"/>
                    <a:pt x="5184" y="1351"/>
                  </a:cubicBezTo>
                  <a:cubicBezTo>
                    <a:pt x="5017" y="1316"/>
                    <a:pt x="4843" y="1299"/>
                    <a:pt x="4665" y="1299"/>
                  </a:cubicBezTo>
                  <a:cubicBezTo>
                    <a:pt x="4005" y="1299"/>
                    <a:pt x="3292" y="1540"/>
                    <a:pt x="2682" y="2034"/>
                  </a:cubicBezTo>
                  <a:cubicBezTo>
                    <a:pt x="1960" y="2605"/>
                    <a:pt x="1539" y="3392"/>
                    <a:pt x="1458" y="4156"/>
                  </a:cubicBezTo>
                  <a:cubicBezTo>
                    <a:pt x="736" y="4346"/>
                    <a:pt x="164" y="4944"/>
                    <a:pt x="53" y="5721"/>
                  </a:cubicBezTo>
                  <a:cubicBezTo>
                    <a:pt x="1" y="6237"/>
                    <a:pt x="151" y="6727"/>
                    <a:pt x="448" y="7096"/>
                  </a:cubicBezTo>
                  <a:cubicBezTo>
                    <a:pt x="259" y="7693"/>
                    <a:pt x="259" y="8347"/>
                    <a:pt x="517" y="8944"/>
                  </a:cubicBezTo>
                  <a:cubicBezTo>
                    <a:pt x="955" y="9974"/>
                    <a:pt x="1994" y="10584"/>
                    <a:pt x="3113" y="10584"/>
                  </a:cubicBezTo>
                  <a:cubicBezTo>
                    <a:pt x="3520" y="10584"/>
                    <a:pt x="3938" y="10503"/>
                    <a:pt x="4341" y="10332"/>
                  </a:cubicBezTo>
                  <a:cubicBezTo>
                    <a:pt x="4449" y="10280"/>
                    <a:pt x="4573" y="10224"/>
                    <a:pt x="4681" y="10156"/>
                  </a:cubicBezTo>
                  <a:cubicBezTo>
                    <a:pt x="4694" y="10224"/>
                    <a:pt x="4723" y="10293"/>
                    <a:pt x="4749" y="10348"/>
                  </a:cubicBezTo>
                  <a:cubicBezTo>
                    <a:pt x="5188" y="11377"/>
                    <a:pt x="6228" y="11986"/>
                    <a:pt x="7343" y="11986"/>
                  </a:cubicBezTo>
                  <a:cubicBezTo>
                    <a:pt x="7747" y="11986"/>
                    <a:pt x="8162" y="11906"/>
                    <a:pt x="8561" y="11736"/>
                  </a:cubicBezTo>
                  <a:cubicBezTo>
                    <a:pt x="8613" y="11707"/>
                    <a:pt x="8668" y="11681"/>
                    <a:pt x="8724" y="11668"/>
                  </a:cubicBezTo>
                  <a:cubicBezTo>
                    <a:pt x="9023" y="11995"/>
                    <a:pt x="9467" y="12178"/>
                    <a:pt x="9934" y="12178"/>
                  </a:cubicBezTo>
                  <a:cubicBezTo>
                    <a:pt x="10105" y="12178"/>
                    <a:pt x="10280" y="12153"/>
                    <a:pt x="10452" y="12102"/>
                  </a:cubicBezTo>
                  <a:cubicBezTo>
                    <a:pt x="10520" y="12347"/>
                    <a:pt x="10628" y="12592"/>
                    <a:pt x="10749" y="12837"/>
                  </a:cubicBezTo>
                  <a:cubicBezTo>
                    <a:pt x="11389" y="14049"/>
                    <a:pt x="12493" y="14810"/>
                    <a:pt x="13606" y="14947"/>
                  </a:cubicBezTo>
                  <a:lnTo>
                    <a:pt x="14113" y="14496"/>
                  </a:lnTo>
                  <a:cubicBezTo>
                    <a:pt x="14096" y="14483"/>
                    <a:pt x="14096" y="14483"/>
                    <a:pt x="14083" y="14470"/>
                  </a:cubicBezTo>
                  <a:cubicBezTo>
                    <a:pt x="13077" y="14156"/>
                    <a:pt x="12329" y="13219"/>
                    <a:pt x="12329" y="12089"/>
                  </a:cubicBezTo>
                  <a:lnTo>
                    <a:pt x="12329" y="11994"/>
                  </a:lnTo>
                  <a:cubicBezTo>
                    <a:pt x="12768" y="12248"/>
                    <a:pt x="13281" y="12388"/>
                    <a:pt x="13814" y="12388"/>
                  </a:cubicBezTo>
                  <a:cubicBezTo>
                    <a:pt x="14223" y="12388"/>
                    <a:pt x="14643" y="12305"/>
                    <a:pt x="15050" y="12128"/>
                  </a:cubicBezTo>
                  <a:cubicBezTo>
                    <a:pt x="16562" y="11491"/>
                    <a:pt x="17297" y="9829"/>
                    <a:pt x="16696" y="8428"/>
                  </a:cubicBezTo>
                  <a:cubicBezTo>
                    <a:pt x="16601" y="8196"/>
                    <a:pt x="16464" y="7981"/>
                    <a:pt x="16317" y="7788"/>
                  </a:cubicBezTo>
                  <a:cubicBezTo>
                    <a:pt x="16983" y="7096"/>
                    <a:pt x="17173" y="5897"/>
                    <a:pt x="16709" y="4797"/>
                  </a:cubicBezTo>
                  <a:cubicBezTo>
                    <a:pt x="16288" y="3801"/>
                    <a:pt x="15432" y="3134"/>
                    <a:pt x="14560" y="3027"/>
                  </a:cubicBezTo>
                  <a:cubicBezTo>
                    <a:pt x="14736" y="1789"/>
                    <a:pt x="13391" y="509"/>
                    <a:pt x="11500" y="113"/>
                  </a:cubicBezTo>
                  <a:cubicBezTo>
                    <a:pt x="11130" y="37"/>
                    <a:pt x="10763" y="0"/>
                    <a:pt x="10412" y="0"/>
                  </a:cubicBezTo>
                  <a:close/>
                </a:path>
              </a:pathLst>
            </a:custGeom>
            <a:solidFill>
              <a:srgbClr val="0C34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584;p31">
              <a:extLst>
                <a:ext uri="{FF2B5EF4-FFF2-40B4-BE49-F238E27FC236}">
                  <a16:creationId xmlns:a16="http://schemas.microsoft.com/office/drawing/2014/main" id="{E8612B49-0FF2-6BD6-4396-32E7F3E0D794}"/>
                </a:ext>
              </a:extLst>
            </p:cNvPr>
            <p:cNvSpPr txBox="1"/>
            <p:nvPr/>
          </p:nvSpPr>
          <p:spPr>
            <a:xfrm>
              <a:off x="3341242" y="1262932"/>
              <a:ext cx="3129011" cy="8661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dirty="0">
                  <a:latin typeface="Fira Sans"/>
                  <a:ea typeface="Fira Sans"/>
                  <a:cs typeface="Fira Sans"/>
                  <a:sym typeface="Fira Sans"/>
                </a:rPr>
                <a:t>Distanza dalla superficie cerebrale</a:t>
              </a:r>
              <a:endParaRPr sz="11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8029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/>
          <p:cNvSpPr txBox="1">
            <a:spLocks noGrp="1"/>
          </p:cNvSpPr>
          <p:nvPr>
            <p:ph type="title"/>
          </p:nvPr>
        </p:nvSpPr>
        <p:spPr>
          <a:xfrm>
            <a:off x="180000" y="311362"/>
            <a:ext cx="878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2800" dirty="0"/>
              <a:t>Sviluppi futuri</a:t>
            </a:r>
            <a:endParaRPr sz="2800" dirty="0"/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7373F024-02C4-58F0-14A4-8DE80A8A9C0F}"/>
              </a:ext>
            </a:extLst>
          </p:cNvPr>
          <p:cNvGrpSpPr/>
          <p:nvPr/>
        </p:nvGrpSpPr>
        <p:grpSpPr>
          <a:xfrm>
            <a:off x="395489" y="2500826"/>
            <a:ext cx="3961017" cy="901598"/>
            <a:chOff x="395489" y="3445438"/>
            <a:chExt cx="3961017" cy="901598"/>
          </a:xfrm>
        </p:grpSpPr>
        <p:sp>
          <p:nvSpPr>
            <p:cNvPr id="221" name="Google Shape;221;p22"/>
            <p:cNvSpPr/>
            <p:nvPr/>
          </p:nvSpPr>
          <p:spPr>
            <a:xfrm>
              <a:off x="1524425" y="3445438"/>
              <a:ext cx="2832081" cy="901598"/>
            </a:xfrm>
            <a:custGeom>
              <a:avLst/>
              <a:gdLst/>
              <a:ahLst/>
              <a:cxnLst/>
              <a:rect l="l" t="t" r="r" b="b"/>
              <a:pathLst>
                <a:path w="12016" h="3388" extrusionOk="0">
                  <a:moveTo>
                    <a:pt x="1702" y="1"/>
                  </a:moveTo>
                  <a:cubicBezTo>
                    <a:pt x="761" y="1"/>
                    <a:pt x="0" y="761"/>
                    <a:pt x="0" y="1689"/>
                  </a:cubicBezTo>
                  <a:cubicBezTo>
                    <a:pt x="0" y="2626"/>
                    <a:pt x="761" y="3387"/>
                    <a:pt x="1702" y="3387"/>
                  </a:cubicBezTo>
                  <a:lnTo>
                    <a:pt x="10327" y="3387"/>
                  </a:lnTo>
                  <a:cubicBezTo>
                    <a:pt x="11267" y="3387"/>
                    <a:pt x="12015" y="2626"/>
                    <a:pt x="12015" y="1689"/>
                  </a:cubicBezTo>
                  <a:cubicBezTo>
                    <a:pt x="12015" y="761"/>
                    <a:pt x="11267" y="1"/>
                    <a:pt x="1032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2"/>
            <p:cNvSpPr txBox="1"/>
            <p:nvPr/>
          </p:nvSpPr>
          <p:spPr>
            <a:xfrm>
              <a:off x="2160488" y="3628787"/>
              <a:ext cx="20403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Fira Sans"/>
                  <a:ea typeface="Fira Sans"/>
                  <a:cs typeface="Fira Sans"/>
                  <a:sym typeface="Fira Sans"/>
                </a:rPr>
                <a:t>Robotica e sistemi guida automizzati</a:t>
              </a:r>
              <a:endParaRPr sz="12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28" name="Google Shape;228;p22"/>
            <p:cNvSpPr/>
            <p:nvPr/>
          </p:nvSpPr>
          <p:spPr>
            <a:xfrm>
              <a:off x="1670213" y="3724000"/>
              <a:ext cx="408300" cy="408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44" name="Google Shape;244;p22"/>
            <p:cNvSpPr/>
            <p:nvPr/>
          </p:nvSpPr>
          <p:spPr>
            <a:xfrm>
              <a:off x="395489" y="3519238"/>
              <a:ext cx="946405" cy="817825"/>
            </a:xfrm>
            <a:custGeom>
              <a:avLst/>
              <a:gdLst/>
              <a:ahLst/>
              <a:cxnLst/>
              <a:rect l="l" t="t" r="r" b="b"/>
              <a:pathLst>
                <a:path w="17297" h="14947" extrusionOk="0">
                  <a:moveTo>
                    <a:pt x="10412" y="0"/>
                  </a:moveTo>
                  <a:cubicBezTo>
                    <a:pt x="9523" y="0"/>
                    <a:pt x="8727" y="233"/>
                    <a:pt x="8192" y="633"/>
                  </a:cubicBezTo>
                  <a:cubicBezTo>
                    <a:pt x="7863" y="454"/>
                    <a:pt x="7486" y="355"/>
                    <a:pt x="7094" y="355"/>
                  </a:cubicBezTo>
                  <a:cubicBezTo>
                    <a:pt x="6855" y="355"/>
                    <a:pt x="6611" y="392"/>
                    <a:pt x="6369" y="469"/>
                  </a:cubicBezTo>
                  <a:cubicBezTo>
                    <a:pt x="5866" y="633"/>
                    <a:pt x="5458" y="943"/>
                    <a:pt x="5184" y="1351"/>
                  </a:cubicBezTo>
                  <a:cubicBezTo>
                    <a:pt x="5017" y="1316"/>
                    <a:pt x="4843" y="1299"/>
                    <a:pt x="4665" y="1299"/>
                  </a:cubicBezTo>
                  <a:cubicBezTo>
                    <a:pt x="4005" y="1299"/>
                    <a:pt x="3292" y="1540"/>
                    <a:pt x="2682" y="2034"/>
                  </a:cubicBezTo>
                  <a:cubicBezTo>
                    <a:pt x="1960" y="2605"/>
                    <a:pt x="1539" y="3392"/>
                    <a:pt x="1458" y="4156"/>
                  </a:cubicBezTo>
                  <a:cubicBezTo>
                    <a:pt x="736" y="4346"/>
                    <a:pt x="164" y="4944"/>
                    <a:pt x="53" y="5721"/>
                  </a:cubicBezTo>
                  <a:cubicBezTo>
                    <a:pt x="1" y="6237"/>
                    <a:pt x="151" y="6727"/>
                    <a:pt x="448" y="7096"/>
                  </a:cubicBezTo>
                  <a:cubicBezTo>
                    <a:pt x="259" y="7693"/>
                    <a:pt x="259" y="8347"/>
                    <a:pt x="517" y="8944"/>
                  </a:cubicBezTo>
                  <a:cubicBezTo>
                    <a:pt x="955" y="9974"/>
                    <a:pt x="1994" y="10584"/>
                    <a:pt x="3113" y="10584"/>
                  </a:cubicBezTo>
                  <a:cubicBezTo>
                    <a:pt x="3520" y="10584"/>
                    <a:pt x="3938" y="10503"/>
                    <a:pt x="4341" y="10332"/>
                  </a:cubicBezTo>
                  <a:cubicBezTo>
                    <a:pt x="4449" y="10280"/>
                    <a:pt x="4573" y="10224"/>
                    <a:pt x="4681" y="10156"/>
                  </a:cubicBezTo>
                  <a:cubicBezTo>
                    <a:pt x="4694" y="10224"/>
                    <a:pt x="4723" y="10293"/>
                    <a:pt x="4749" y="10348"/>
                  </a:cubicBezTo>
                  <a:cubicBezTo>
                    <a:pt x="5188" y="11377"/>
                    <a:pt x="6228" y="11986"/>
                    <a:pt x="7343" y="11986"/>
                  </a:cubicBezTo>
                  <a:cubicBezTo>
                    <a:pt x="7747" y="11986"/>
                    <a:pt x="8162" y="11906"/>
                    <a:pt x="8561" y="11736"/>
                  </a:cubicBezTo>
                  <a:cubicBezTo>
                    <a:pt x="8613" y="11707"/>
                    <a:pt x="8668" y="11681"/>
                    <a:pt x="8724" y="11668"/>
                  </a:cubicBezTo>
                  <a:cubicBezTo>
                    <a:pt x="9023" y="11995"/>
                    <a:pt x="9467" y="12178"/>
                    <a:pt x="9934" y="12178"/>
                  </a:cubicBezTo>
                  <a:cubicBezTo>
                    <a:pt x="10105" y="12178"/>
                    <a:pt x="10280" y="12153"/>
                    <a:pt x="10452" y="12102"/>
                  </a:cubicBezTo>
                  <a:cubicBezTo>
                    <a:pt x="10520" y="12347"/>
                    <a:pt x="10628" y="12592"/>
                    <a:pt x="10749" y="12837"/>
                  </a:cubicBezTo>
                  <a:cubicBezTo>
                    <a:pt x="11389" y="14049"/>
                    <a:pt x="12493" y="14810"/>
                    <a:pt x="13606" y="14947"/>
                  </a:cubicBezTo>
                  <a:lnTo>
                    <a:pt x="14113" y="14496"/>
                  </a:lnTo>
                  <a:cubicBezTo>
                    <a:pt x="14096" y="14483"/>
                    <a:pt x="14096" y="14483"/>
                    <a:pt x="14083" y="14470"/>
                  </a:cubicBezTo>
                  <a:cubicBezTo>
                    <a:pt x="13077" y="14156"/>
                    <a:pt x="12329" y="13219"/>
                    <a:pt x="12329" y="12089"/>
                  </a:cubicBezTo>
                  <a:lnTo>
                    <a:pt x="12329" y="11994"/>
                  </a:lnTo>
                  <a:cubicBezTo>
                    <a:pt x="12768" y="12248"/>
                    <a:pt x="13281" y="12388"/>
                    <a:pt x="13814" y="12388"/>
                  </a:cubicBezTo>
                  <a:cubicBezTo>
                    <a:pt x="14223" y="12388"/>
                    <a:pt x="14643" y="12305"/>
                    <a:pt x="15050" y="12128"/>
                  </a:cubicBezTo>
                  <a:cubicBezTo>
                    <a:pt x="16562" y="11491"/>
                    <a:pt x="17297" y="9829"/>
                    <a:pt x="16696" y="8428"/>
                  </a:cubicBezTo>
                  <a:cubicBezTo>
                    <a:pt x="16601" y="8196"/>
                    <a:pt x="16464" y="7981"/>
                    <a:pt x="16317" y="7788"/>
                  </a:cubicBezTo>
                  <a:cubicBezTo>
                    <a:pt x="16983" y="7096"/>
                    <a:pt x="17173" y="5897"/>
                    <a:pt x="16709" y="4797"/>
                  </a:cubicBezTo>
                  <a:cubicBezTo>
                    <a:pt x="16288" y="3801"/>
                    <a:pt x="15432" y="3134"/>
                    <a:pt x="14560" y="3027"/>
                  </a:cubicBezTo>
                  <a:cubicBezTo>
                    <a:pt x="14736" y="1789"/>
                    <a:pt x="13391" y="509"/>
                    <a:pt x="11500" y="113"/>
                  </a:cubicBezTo>
                  <a:cubicBezTo>
                    <a:pt x="11130" y="37"/>
                    <a:pt x="10763" y="0"/>
                    <a:pt x="104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ruppo 1">
            <a:extLst>
              <a:ext uri="{FF2B5EF4-FFF2-40B4-BE49-F238E27FC236}">
                <a16:creationId xmlns:a16="http://schemas.microsoft.com/office/drawing/2014/main" id="{9EDB093C-CCF7-BE85-1EEF-3243665639DF}"/>
              </a:ext>
            </a:extLst>
          </p:cNvPr>
          <p:cNvGrpSpPr/>
          <p:nvPr/>
        </p:nvGrpSpPr>
        <p:grpSpPr>
          <a:xfrm>
            <a:off x="2220460" y="3800667"/>
            <a:ext cx="3960655" cy="901598"/>
            <a:chOff x="4787676" y="2284213"/>
            <a:chExt cx="3960655" cy="901598"/>
          </a:xfrm>
        </p:grpSpPr>
        <p:sp>
          <p:nvSpPr>
            <p:cNvPr id="217" name="Google Shape;217;p22"/>
            <p:cNvSpPr/>
            <p:nvPr/>
          </p:nvSpPr>
          <p:spPr>
            <a:xfrm>
              <a:off x="5916250" y="2284213"/>
              <a:ext cx="2832081" cy="901598"/>
            </a:xfrm>
            <a:custGeom>
              <a:avLst/>
              <a:gdLst/>
              <a:ahLst/>
              <a:cxnLst/>
              <a:rect l="l" t="t" r="r" b="b"/>
              <a:pathLst>
                <a:path w="12016" h="3388" extrusionOk="0">
                  <a:moveTo>
                    <a:pt x="1702" y="1"/>
                  </a:moveTo>
                  <a:cubicBezTo>
                    <a:pt x="761" y="1"/>
                    <a:pt x="0" y="761"/>
                    <a:pt x="0" y="1689"/>
                  </a:cubicBezTo>
                  <a:cubicBezTo>
                    <a:pt x="0" y="2626"/>
                    <a:pt x="761" y="3387"/>
                    <a:pt x="1702" y="3387"/>
                  </a:cubicBezTo>
                  <a:lnTo>
                    <a:pt x="10327" y="3387"/>
                  </a:lnTo>
                  <a:cubicBezTo>
                    <a:pt x="11267" y="3387"/>
                    <a:pt x="12015" y="2626"/>
                    <a:pt x="12015" y="1689"/>
                  </a:cubicBezTo>
                  <a:cubicBezTo>
                    <a:pt x="12015" y="761"/>
                    <a:pt x="11267" y="1"/>
                    <a:pt x="1032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2"/>
            <p:cNvSpPr/>
            <p:nvPr/>
          </p:nvSpPr>
          <p:spPr>
            <a:xfrm>
              <a:off x="6892771" y="2483613"/>
              <a:ext cx="123" cy="123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0096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2"/>
            <p:cNvSpPr txBox="1"/>
            <p:nvPr/>
          </p:nvSpPr>
          <p:spPr>
            <a:xfrm>
              <a:off x="6552325" y="2429541"/>
              <a:ext cx="20403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Fira Sans"/>
                  <a:ea typeface="Fira Sans"/>
                  <a:cs typeface="Fira Sans"/>
                  <a:sym typeface="Fira Sans"/>
                </a:rPr>
                <a:t>Neuronavigazione mini invasiva e portatile</a:t>
              </a:r>
              <a:endParaRPr sz="12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40" name="Google Shape;240;p22"/>
            <p:cNvSpPr/>
            <p:nvPr/>
          </p:nvSpPr>
          <p:spPr>
            <a:xfrm>
              <a:off x="6061188" y="2545950"/>
              <a:ext cx="408300" cy="408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45" name="Google Shape;245;p22"/>
            <p:cNvSpPr/>
            <p:nvPr/>
          </p:nvSpPr>
          <p:spPr>
            <a:xfrm>
              <a:off x="4787676" y="2341175"/>
              <a:ext cx="946405" cy="817825"/>
            </a:xfrm>
            <a:custGeom>
              <a:avLst/>
              <a:gdLst/>
              <a:ahLst/>
              <a:cxnLst/>
              <a:rect l="l" t="t" r="r" b="b"/>
              <a:pathLst>
                <a:path w="17297" h="14947" extrusionOk="0">
                  <a:moveTo>
                    <a:pt x="10412" y="0"/>
                  </a:moveTo>
                  <a:cubicBezTo>
                    <a:pt x="9523" y="0"/>
                    <a:pt x="8727" y="233"/>
                    <a:pt x="8192" y="633"/>
                  </a:cubicBezTo>
                  <a:cubicBezTo>
                    <a:pt x="7863" y="454"/>
                    <a:pt x="7486" y="355"/>
                    <a:pt x="7094" y="355"/>
                  </a:cubicBezTo>
                  <a:cubicBezTo>
                    <a:pt x="6855" y="355"/>
                    <a:pt x="6611" y="392"/>
                    <a:pt x="6369" y="469"/>
                  </a:cubicBezTo>
                  <a:cubicBezTo>
                    <a:pt x="5866" y="633"/>
                    <a:pt x="5458" y="943"/>
                    <a:pt x="5184" y="1351"/>
                  </a:cubicBezTo>
                  <a:cubicBezTo>
                    <a:pt x="5017" y="1316"/>
                    <a:pt x="4843" y="1299"/>
                    <a:pt x="4665" y="1299"/>
                  </a:cubicBezTo>
                  <a:cubicBezTo>
                    <a:pt x="4005" y="1299"/>
                    <a:pt x="3292" y="1540"/>
                    <a:pt x="2682" y="2034"/>
                  </a:cubicBezTo>
                  <a:cubicBezTo>
                    <a:pt x="1960" y="2605"/>
                    <a:pt x="1539" y="3392"/>
                    <a:pt x="1458" y="4156"/>
                  </a:cubicBezTo>
                  <a:cubicBezTo>
                    <a:pt x="736" y="4346"/>
                    <a:pt x="164" y="4944"/>
                    <a:pt x="53" y="5721"/>
                  </a:cubicBezTo>
                  <a:cubicBezTo>
                    <a:pt x="1" y="6237"/>
                    <a:pt x="151" y="6727"/>
                    <a:pt x="448" y="7096"/>
                  </a:cubicBezTo>
                  <a:cubicBezTo>
                    <a:pt x="259" y="7693"/>
                    <a:pt x="259" y="8347"/>
                    <a:pt x="517" y="8944"/>
                  </a:cubicBezTo>
                  <a:cubicBezTo>
                    <a:pt x="955" y="9974"/>
                    <a:pt x="1994" y="10584"/>
                    <a:pt x="3113" y="10584"/>
                  </a:cubicBezTo>
                  <a:cubicBezTo>
                    <a:pt x="3520" y="10584"/>
                    <a:pt x="3938" y="10503"/>
                    <a:pt x="4341" y="10332"/>
                  </a:cubicBezTo>
                  <a:cubicBezTo>
                    <a:pt x="4449" y="10280"/>
                    <a:pt x="4573" y="10224"/>
                    <a:pt x="4681" y="10156"/>
                  </a:cubicBezTo>
                  <a:cubicBezTo>
                    <a:pt x="4694" y="10224"/>
                    <a:pt x="4723" y="10293"/>
                    <a:pt x="4749" y="10348"/>
                  </a:cubicBezTo>
                  <a:cubicBezTo>
                    <a:pt x="5188" y="11377"/>
                    <a:pt x="6228" y="11986"/>
                    <a:pt x="7343" y="11986"/>
                  </a:cubicBezTo>
                  <a:cubicBezTo>
                    <a:pt x="7747" y="11986"/>
                    <a:pt x="8162" y="11906"/>
                    <a:pt x="8561" y="11736"/>
                  </a:cubicBezTo>
                  <a:cubicBezTo>
                    <a:pt x="8613" y="11707"/>
                    <a:pt x="8668" y="11681"/>
                    <a:pt x="8724" y="11668"/>
                  </a:cubicBezTo>
                  <a:cubicBezTo>
                    <a:pt x="9023" y="11995"/>
                    <a:pt x="9467" y="12178"/>
                    <a:pt x="9934" y="12178"/>
                  </a:cubicBezTo>
                  <a:cubicBezTo>
                    <a:pt x="10105" y="12178"/>
                    <a:pt x="10280" y="12153"/>
                    <a:pt x="10452" y="12102"/>
                  </a:cubicBezTo>
                  <a:cubicBezTo>
                    <a:pt x="10520" y="12347"/>
                    <a:pt x="10628" y="12592"/>
                    <a:pt x="10749" y="12837"/>
                  </a:cubicBezTo>
                  <a:cubicBezTo>
                    <a:pt x="11389" y="14049"/>
                    <a:pt x="12493" y="14810"/>
                    <a:pt x="13606" y="14947"/>
                  </a:cubicBezTo>
                  <a:lnTo>
                    <a:pt x="14113" y="14496"/>
                  </a:lnTo>
                  <a:cubicBezTo>
                    <a:pt x="14096" y="14483"/>
                    <a:pt x="14096" y="14483"/>
                    <a:pt x="14083" y="14470"/>
                  </a:cubicBezTo>
                  <a:cubicBezTo>
                    <a:pt x="13077" y="14156"/>
                    <a:pt x="12329" y="13219"/>
                    <a:pt x="12329" y="12089"/>
                  </a:cubicBezTo>
                  <a:lnTo>
                    <a:pt x="12329" y="11994"/>
                  </a:lnTo>
                  <a:cubicBezTo>
                    <a:pt x="12768" y="12248"/>
                    <a:pt x="13281" y="12388"/>
                    <a:pt x="13814" y="12388"/>
                  </a:cubicBezTo>
                  <a:cubicBezTo>
                    <a:pt x="14223" y="12388"/>
                    <a:pt x="14643" y="12305"/>
                    <a:pt x="15050" y="12128"/>
                  </a:cubicBezTo>
                  <a:cubicBezTo>
                    <a:pt x="16562" y="11491"/>
                    <a:pt x="17297" y="9829"/>
                    <a:pt x="16696" y="8428"/>
                  </a:cubicBezTo>
                  <a:cubicBezTo>
                    <a:pt x="16601" y="8196"/>
                    <a:pt x="16464" y="7981"/>
                    <a:pt x="16317" y="7788"/>
                  </a:cubicBezTo>
                  <a:cubicBezTo>
                    <a:pt x="16983" y="7096"/>
                    <a:pt x="17173" y="5897"/>
                    <a:pt x="16709" y="4797"/>
                  </a:cubicBezTo>
                  <a:cubicBezTo>
                    <a:pt x="16288" y="3801"/>
                    <a:pt x="15432" y="3134"/>
                    <a:pt x="14560" y="3027"/>
                  </a:cubicBezTo>
                  <a:cubicBezTo>
                    <a:pt x="14736" y="1789"/>
                    <a:pt x="13391" y="509"/>
                    <a:pt x="11500" y="113"/>
                  </a:cubicBezTo>
                  <a:cubicBezTo>
                    <a:pt x="11130" y="37"/>
                    <a:pt x="10763" y="0"/>
                    <a:pt x="104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ruppo 3">
            <a:extLst>
              <a:ext uri="{FF2B5EF4-FFF2-40B4-BE49-F238E27FC236}">
                <a16:creationId xmlns:a16="http://schemas.microsoft.com/office/drawing/2014/main" id="{A6AD550A-80F7-3759-168D-1E58CF60075F}"/>
              </a:ext>
            </a:extLst>
          </p:cNvPr>
          <p:cNvGrpSpPr/>
          <p:nvPr/>
        </p:nvGrpSpPr>
        <p:grpSpPr>
          <a:xfrm>
            <a:off x="4787496" y="1253652"/>
            <a:ext cx="3961017" cy="901598"/>
            <a:chOff x="395489" y="2284213"/>
            <a:chExt cx="3961017" cy="901598"/>
          </a:xfrm>
        </p:grpSpPr>
        <p:sp>
          <p:nvSpPr>
            <p:cNvPr id="220" name="Google Shape;220;p22"/>
            <p:cNvSpPr/>
            <p:nvPr/>
          </p:nvSpPr>
          <p:spPr>
            <a:xfrm>
              <a:off x="1524425" y="2284213"/>
              <a:ext cx="2832081" cy="901598"/>
            </a:xfrm>
            <a:custGeom>
              <a:avLst/>
              <a:gdLst/>
              <a:ahLst/>
              <a:cxnLst/>
              <a:rect l="l" t="t" r="r" b="b"/>
              <a:pathLst>
                <a:path w="12016" h="3388" extrusionOk="0">
                  <a:moveTo>
                    <a:pt x="1702" y="1"/>
                  </a:moveTo>
                  <a:cubicBezTo>
                    <a:pt x="761" y="1"/>
                    <a:pt x="0" y="761"/>
                    <a:pt x="0" y="1689"/>
                  </a:cubicBezTo>
                  <a:cubicBezTo>
                    <a:pt x="0" y="2626"/>
                    <a:pt x="761" y="3387"/>
                    <a:pt x="1702" y="3387"/>
                  </a:cubicBezTo>
                  <a:lnTo>
                    <a:pt x="10327" y="3387"/>
                  </a:lnTo>
                  <a:cubicBezTo>
                    <a:pt x="11267" y="3387"/>
                    <a:pt x="12015" y="2626"/>
                    <a:pt x="12015" y="1689"/>
                  </a:cubicBezTo>
                  <a:cubicBezTo>
                    <a:pt x="12015" y="761"/>
                    <a:pt x="11267" y="1"/>
                    <a:pt x="1032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2"/>
            <p:cNvSpPr txBox="1"/>
            <p:nvPr/>
          </p:nvSpPr>
          <p:spPr>
            <a:xfrm>
              <a:off x="2160488" y="2429541"/>
              <a:ext cx="20403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Fira Sans"/>
                  <a:ea typeface="Fira Sans"/>
                  <a:cs typeface="Fira Sans"/>
                  <a:sym typeface="Fira Sans"/>
                </a:rPr>
                <a:t>Neuronavigazione guidata da Intelligenza Artificiale</a:t>
              </a:r>
              <a:endParaRPr sz="12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34" name="Google Shape;234;p22"/>
            <p:cNvSpPr/>
            <p:nvPr/>
          </p:nvSpPr>
          <p:spPr>
            <a:xfrm>
              <a:off x="1670213" y="2545950"/>
              <a:ext cx="408300" cy="408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02</a:t>
              </a:r>
              <a:endParaRPr dirty="0">
                <a:solidFill>
                  <a:srgbClr val="FFFFFF"/>
                </a:solidFill>
              </a:endParaRPr>
            </a:p>
          </p:txBody>
        </p:sp>
        <p:sp>
          <p:nvSpPr>
            <p:cNvPr id="246" name="Google Shape;246;p22"/>
            <p:cNvSpPr/>
            <p:nvPr/>
          </p:nvSpPr>
          <p:spPr>
            <a:xfrm>
              <a:off x="395489" y="2341175"/>
              <a:ext cx="946405" cy="817825"/>
            </a:xfrm>
            <a:custGeom>
              <a:avLst/>
              <a:gdLst/>
              <a:ahLst/>
              <a:cxnLst/>
              <a:rect l="l" t="t" r="r" b="b"/>
              <a:pathLst>
                <a:path w="17297" h="14947" extrusionOk="0">
                  <a:moveTo>
                    <a:pt x="10412" y="0"/>
                  </a:moveTo>
                  <a:cubicBezTo>
                    <a:pt x="9523" y="0"/>
                    <a:pt x="8727" y="233"/>
                    <a:pt x="8192" y="633"/>
                  </a:cubicBezTo>
                  <a:cubicBezTo>
                    <a:pt x="7863" y="454"/>
                    <a:pt x="7486" y="355"/>
                    <a:pt x="7094" y="355"/>
                  </a:cubicBezTo>
                  <a:cubicBezTo>
                    <a:pt x="6855" y="355"/>
                    <a:pt x="6611" y="392"/>
                    <a:pt x="6369" y="469"/>
                  </a:cubicBezTo>
                  <a:cubicBezTo>
                    <a:pt x="5866" y="633"/>
                    <a:pt x="5458" y="943"/>
                    <a:pt x="5184" y="1351"/>
                  </a:cubicBezTo>
                  <a:cubicBezTo>
                    <a:pt x="5017" y="1316"/>
                    <a:pt x="4843" y="1299"/>
                    <a:pt x="4665" y="1299"/>
                  </a:cubicBezTo>
                  <a:cubicBezTo>
                    <a:pt x="4005" y="1299"/>
                    <a:pt x="3292" y="1540"/>
                    <a:pt x="2682" y="2034"/>
                  </a:cubicBezTo>
                  <a:cubicBezTo>
                    <a:pt x="1960" y="2605"/>
                    <a:pt x="1539" y="3392"/>
                    <a:pt x="1458" y="4156"/>
                  </a:cubicBezTo>
                  <a:cubicBezTo>
                    <a:pt x="736" y="4346"/>
                    <a:pt x="164" y="4944"/>
                    <a:pt x="53" y="5721"/>
                  </a:cubicBezTo>
                  <a:cubicBezTo>
                    <a:pt x="1" y="6237"/>
                    <a:pt x="151" y="6727"/>
                    <a:pt x="448" y="7096"/>
                  </a:cubicBezTo>
                  <a:cubicBezTo>
                    <a:pt x="259" y="7693"/>
                    <a:pt x="259" y="8347"/>
                    <a:pt x="517" y="8944"/>
                  </a:cubicBezTo>
                  <a:cubicBezTo>
                    <a:pt x="955" y="9974"/>
                    <a:pt x="1994" y="10584"/>
                    <a:pt x="3113" y="10584"/>
                  </a:cubicBezTo>
                  <a:cubicBezTo>
                    <a:pt x="3520" y="10584"/>
                    <a:pt x="3938" y="10503"/>
                    <a:pt x="4341" y="10332"/>
                  </a:cubicBezTo>
                  <a:cubicBezTo>
                    <a:pt x="4449" y="10280"/>
                    <a:pt x="4573" y="10224"/>
                    <a:pt x="4681" y="10156"/>
                  </a:cubicBezTo>
                  <a:cubicBezTo>
                    <a:pt x="4694" y="10224"/>
                    <a:pt x="4723" y="10293"/>
                    <a:pt x="4749" y="10348"/>
                  </a:cubicBezTo>
                  <a:cubicBezTo>
                    <a:pt x="5188" y="11377"/>
                    <a:pt x="6228" y="11986"/>
                    <a:pt x="7343" y="11986"/>
                  </a:cubicBezTo>
                  <a:cubicBezTo>
                    <a:pt x="7747" y="11986"/>
                    <a:pt x="8162" y="11906"/>
                    <a:pt x="8561" y="11736"/>
                  </a:cubicBezTo>
                  <a:cubicBezTo>
                    <a:pt x="8613" y="11707"/>
                    <a:pt x="8668" y="11681"/>
                    <a:pt x="8724" y="11668"/>
                  </a:cubicBezTo>
                  <a:cubicBezTo>
                    <a:pt x="9023" y="11995"/>
                    <a:pt x="9467" y="12178"/>
                    <a:pt x="9934" y="12178"/>
                  </a:cubicBezTo>
                  <a:cubicBezTo>
                    <a:pt x="10105" y="12178"/>
                    <a:pt x="10280" y="12153"/>
                    <a:pt x="10452" y="12102"/>
                  </a:cubicBezTo>
                  <a:cubicBezTo>
                    <a:pt x="10520" y="12347"/>
                    <a:pt x="10628" y="12592"/>
                    <a:pt x="10749" y="12837"/>
                  </a:cubicBezTo>
                  <a:cubicBezTo>
                    <a:pt x="11389" y="14049"/>
                    <a:pt x="12493" y="14810"/>
                    <a:pt x="13606" y="14947"/>
                  </a:cubicBezTo>
                  <a:lnTo>
                    <a:pt x="14113" y="14496"/>
                  </a:lnTo>
                  <a:cubicBezTo>
                    <a:pt x="14096" y="14483"/>
                    <a:pt x="14096" y="14483"/>
                    <a:pt x="14083" y="14470"/>
                  </a:cubicBezTo>
                  <a:cubicBezTo>
                    <a:pt x="13077" y="14156"/>
                    <a:pt x="12329" y="13219"/>
                    <a:pt x="12329" y="12089"/>
                  </a:cubicBezTo>
                  <a:lnTo>
                    <a:pt x="12329" y="11994"/>
                  </a:lnTo>
                  <a:cubicBezTo>
                    <a:pt x="12768" y="12248"/>
                    <a:pt x="13281" y="12388"/>
                    <a:pt x="13814" y="12388"/>
                  </a:cubicBezTo>
                  <a:cubicBezTo>
                    <a:pt x="14223" y="12388"/>
                    <a:pt x="14643" y="12305"/>
                    <a:pt x="15050" y="12128"/>
                  </a:cubicBezTo>
                  <a:cubicBezTo>
                    <a:pt x="16562" y="11491"/>
                    <a:pt x="17297" y="9829"/>
                    <a:pt x="16696" y="8428"/>
                  </a:cubicBezTo>
                  <a:cubicBezTo>
                    <a:pt x="16601" y="8196"/>
                    <a:pt x="16464" y="7981"/>
                    <a:pt x="16317" y="7788"/>
                  </a:cubicBezTo>
                  <a:cubicBezTo>
                    <a:pt x="16983" y="7096"/>
                    <a:pt x="17173" y="5897"/>
                    <a:pt x="16709" y="4797"/>
                  </a:cubicBezTo>
                  <a:cubicBezTo>
                    <a:pt x="16288" y="3801"/>
                    <a:pt x="15432" y="3134"/>
                    <a:pt x="14560" y="3027"/>
                  </a:cubicBezTo>
                  <a:cubicBezTo>
                    <a:pt x="14736" y="1789"/>
                    <a:pt x="13391" y="509"/>
                    <a:pt x="11500" y="113"/>
                  </a:cubicBezTo>
                  <a:cubicBezTo>
                    <a:pt x="11130" y="37"/>
                    <a:pt x="10763" y="0"/>
                    <a:pt x="104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6" name="Gruppo 5">
            <a:extLst>
              <a:ext uri="{FF2B5EF4-FFF2-40B4-BE49-F238E27FC236}">
                <a16:creationId xmlns:a16="http://schemas.microsoft.com/office/drawing/2014/main" id="{30A07AB7-D99D-39BA-121B-E614517B03E5}"/>
              </a:ext>
            </a:extLst>
          </p:cNvPr>
          <p:cNvGrpSpPr/>
          <p:nvPr/>
        </p:nvGrpSpPr>
        <p:grpSpPr>
          <a:xfrm>
            <a:off x="4787496" y="2490302"/>
            <a:ext cx="3960655" cy="901598"/>
            <a:chOff x="4787676" y="1122975"/>
            <a:chExt cx="3960655" cy="901598"/>
          </a:xfrm>
        </p:grpSpPr>
        <p:sp>
          <p:nvSpPr>
            <p:cNvPr id="219" name="Google Shape;219;p22"/>
            <p:cNvSpPr/>
            <p:nvPr/>
          </p:nvSpPr>
          <p:spPr>
            <a:xfrm>
              <a:off x="5916250" y="1122975"/>
              <a:ext cx="2832081" cy="901598"/>
            </a:xfrm>
            <a:custGeom>
              <a:avLst/>
              <a:gdLst/>
              <a:ahLst/>
              <a:cxnLst/>
              <a:rect l="l" t="t" r="r" b="b"/>
              <a:pathLst>
                <a:path w="12016" h="3388" extrusionOk="0">
                  <a:moveTo>
                    <a:pt x="1702" y="1"/>
                  </a:moveTo>
                  <a:cubicBezTo>
                    <a:pt x="761" y="1"/>
                    <a:pt x="0" y="761"/>
                    <a:pt x="0" y="1689"/>
                  </a:cubicBezTo>
                  <a:cubicBezTo>
                    <a:pt x="0" y="2626"/>
                    <a:pt x="761" y="3387"/>
                    <a:pt x="1702" y="3387"/>
                  </a:cubicBezTo>
                  <a:lnTo>
                    <a:pt x="10327" y="3387"/>
                  </a:lnTo>
                  <a:cubicBezTo>
                    <a:pt x="11267" y="3387"/>
                    <a:pt x="12015" y="2626"/>
                    <a:pt x="12015" y="1689"/>
                  </a:cubicBezTo>
                  <a:cubicBezTo>
                    <a:pt x="12015" y="761"/>
                    <a:pt x="11267" y="1"/>
                    <a:pt x="1032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2"/>
            <p:cNvSpPr txBox="1"/>
            <p:nvPr/>
          </p:nvSpPr>
          <p:spPr>
            <a:xfrm>
              <a:off x="6552325" y="1316848"/>
              <a:ext cx="20403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Fira Sans"/>
                  <a:ea typeface="Fira Sans"/>
                  <a:cs typeface="Fira Sans"/>
                  <a:sym typeface="Fira Sans"/>
                </a:rPr>
                <a:t>Realtà aumentata e virtuale (AR/VR)</a:t>
              </a:r>
              <a:endParaRPr sz="12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37" name="Google Shape;237;p22"/>
            <p:cNvSpPr/>
            <p:nvPr/>
          </p:nvSpPr>
          <p:spPr>
            <a:xfrm>
              <a:off x="6061188" y="1362263"/>
              <a:ext cx="408300" cy="408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47" name="Google Shape;247;p22"/>
            <p:cNvSpPr/>
            <p:nvPr/>
          </p:nvSpPr>
          <p:spPr>
            <a:xfrm>
              <a:off x="4787676" y="1157513"/>
              <a:ext cx="946405" cy="817825"/>
            </a:xfrm>
            <a:custGeom>
              <a:avLst/>
              <a:gdLst/>
              <a:ahLst/>
              <a:cxnLst/>
              <a:rect l="l" t="t" r="r" b="b"/>
              <a:pathLst>
                <a:path w="17297" h="14947" extrusionOk="0">
                  <a:moveTo>
                    <a:pt x="10412" y="0"/>
                  </a:moveTo>
                  <a:cubicBezTo>
                    <a:pt x="9523" y="0"/>
                    <a:pt x="8727" y="233"/>
                    <a:pt x="8192" y="633"/>
                  </a:cubicBezTo>
                  <a:cubicBezTo>
                    <a:pt x="7863" y="454"/>
                    <a:pt x="7486" y="355"/>
                    <a:pt x="7094" y="355"/>
                  </a:cubicBezTo>
                  <a:cubicBezTo>
                    <a:pt x="6855" y="355"/>
                    <a:pt x="6611" y="392"/>
                    <a:pt x="6369" y="469"/>
                  </a:cubicBezTo>
                  <a:cubicBezTo>
                    <a:pt x="5866" y="633"/>
                    <a:pt x="5458" y="943"/>
                    <a:pt x="5184" y="1351"/>
                  </a:cubicBezTo>
                  <a:cubicBezTo>
                    <a:pt x="5017" y="1316"/>
                    <a:pt x="4843" y="1299"/>
                    <a:pt x="4665" y="1299"/>
                  </a:cubicBezTo>
                  <a:cubicBezTo>
                    <a:pt x="4005" y="1299"/>
                    <a:pt x="3292" y="1540"/>
                    <a:pt x="2682" y="2034"/>
                  </a:cubicBezTo>
                  <a:cubicBezTo>
                    <a:pt x="1960" y="2605"/>
                    <a:pt x="1539" y="3392"/>
                    <a:pt x="1458" y="4156"/>
                  </a:cubicBezTo>
                  <a:cubicBezTo>
                    <a:pt x="736" y="4346"/>
                    <a:pt x="164" y="4944"/>
                    <a:pt x="53" y="5721"/>
                  </a:cubicBezTo>
                  <a:cubicBezTo>
                    <a:pt x="1" y="6237"/>
                    <a:pt x="151" y="6727"/>
                    <a:pt x="448" y="7096"/>
                  </a:cubicBezTo>
                  <a:cubicBezTo>
                    <a:pt x="259" y="7693"/>
                    <a:pt x="259" y="8347"/>
                    <a:pt x="517" y="8944"/>
                  </a:cubicBezTo>
                  <a:cubicBezTo>
                    <a:pt x="955" y="9974"/>
                    <a:pt x="1994" y="10584"/>
                    <a:pt x="3113" y="10584"/>
                  </a:cubicBezTo>
                  <a:cubicBezTo>
                    <a:pt x="3520" y="10584"/>
                    <a:pt x="3938" y="10503"/>
                    <a:pt x="4341" y="10332"/>
                  </a:cubicBezTo>
                  <a:cubicBezTo>
                    <a:pt x="4449" y="10280"/>
                    <a:pt x="4573" y="10224"/>
                    <a:pt x="4681" y="10156"/>
                  </a:cubicBezTo>
                  <a:cubicBezTo>
                    <a:pt x="4694" y="10224"/>
                    <a:pt x="4723" y="10293"/>
                    <a:pt x="4749" y="10348"/>
                  </a:cubicBezTo>
                  <a:cubicBezTo>
                    <a:pt x="5188" y="11377"/>
                    <a:pt x="6228" y="11986"/>
                    <a:pt x="7343" y="11986"/>
                  </a:cubicBezTo>
                  <a:cubicBezTo>
                    <a:pt x="7747" y="11986"/>
                    <a:pt x="8162" y="11906"/>
                    <a:pt x="8561" y="11736"/>
                  </a:cubicBezTo>
                  <a:cubicBezTo>
                    <a:pt x="8613" y="11707"/>
                    <a:pt x="8668" y="11681"/>
                    <a:pt x="8724" y="11668"/>
                  </a:cubicBezTo>
                  <a:cubicBezTo>
                    <a:pt x="9023" y="11995"/>
                    <a:pt x="9467" y="12178"/>
                    <a:pt x="9934" y="12178"/>
                  </a:cubicBezTo>
                  <a:cubicBezTo>
                    <a:pt x="10105" y="12178"/>
                    <a:pt x="10280" y="12153"/>
                    <a:pt x="10452" y="12102"/>
                  </a:cubicBezTo>
                  <a:cubicBezTo>
                    <a:pt x="10520" y="12347"/>
                    <a:pt x="10628" y="12592"/>
                    <a:pt x="10749" y="12837"/>
                  </a:cubicBezTo>
                  <a:cubicBezTo>
                    <a:pt x="11389" y="14049"/>
                    <a:pt x="12493" y="14810"/>
                    <a:pt x="13606" y="14947"/>
                  </a:cubicBezTo>
                  <a:lnTo>
                    <a:pt x="14113" y="14496"/>
                  </a:lnTo>
                  <a:cubicBezTo>
                    <a:pt x="14096" y="14483"/>
                    <a:pt x="14096" y="14483"/>
                    <a:pt x="14083" y="14470"/>
                  </a:cubicBezTo>
                  <a:cubicBezTo>
                    <a:pt x="13077" y="14156"/>
                    <a:pt x="12329" y="13219"/>
                    <a:pt x="12329" y="12089"/>
                  </a:cubicBezTo>
                  <a:lnTo>
                    <a:pt x="12329" y="11994"/>
                  </a:lnTo>
                  <a:cubicBezTo>
                    <a:pt x="12768" y="12248"/>
                    <a:pt x="13281" y="12388"/>
                    <a:pt x="13814" y="12388"/>
                  </a:cubicBezTo>
                  <a:cubicBezTo>
                    <a:pt x="14223" y="12388"/>
                    <a:pt x="14643" y="12305"/>
                    <a:pt x="15050" y="12128"/>
                  </a:cubicBezTo>
                  <a:cubicBezTo>
                    <a:pt x="16562" y="11491"/>
                    <a:pt x="17297" y="9829"/>
                    <a:pt x="16696" y="8428"/>
                  </a:cubicBezTo>
                  <a:cubicBezTo>
                    <a:pt x="16601" y="8196"/>
                    <a:pt x="16464" y="7981"/>
                    <a:pt x="16317" y="7788"/>
                  </a:cubicBezTo>
                  <a:cubicBezTo>
                    <a:pt x="16983" y="7096"/>
                    <a:pt x="17173" y="5897"/>
                    <a:pt x="16709" y="4797"/>
                  </a:cubicBezTo>
                  <a:cubicBezTo>
                    <a:pt x="16288" y="3801"/>
                    <a:pt x="15432" y="3134"/>
                    <a:pt x="14560" y="3027"/>
                  </a:cubicBezTo>
                  <a:cubicBezTo>
                    <a:pt x="14736" y="1789"/>
                    <a:pt x="13391" y="509"/>
                    <a:pt x="11500" y="113"/>
                  </a:cubicBezTo>
                  <a:cubicBezTo>
                    <a:pt x="11130" y="37"/>
                    <a:pt x="10763" y="0"/>
                    <a:pt x="104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" name="Gruppo 4">
            <a:extLst>
              <a:ext uri="{FF2B5EF4-FFF2-40B4-BE49-F238E27FC236}">
                <a16:creationId xmlns:a16="http://schemas.microsoft.com/office/drawing/2014/main" id="{C96E509C-3D88-7115-CAB2-5438AD673B02}"/>
              </a:ext>
            </a:extLst>
          </p:cNvPr>
          <p:cNvGrpSpPr/>
          <p:nvPr/>
        </p:nvGrpSpPr>
        <p:grpSpPr>
          <a:xfrm>
            <a:off x="395489" y="1258291"/>
            <a:ext cx="3961017" cy="901598"/>
            <a:chOff x="395489" y="1122975"/>
            <a:chExt cx="3961017" cy="901598"/>
          </a:xfrm>
        </p:grpSpPr>
        <p:sp>
          <p:nvSpPr>
            <p:cNvPr id="222" name="Google Shape;222;p22"/>
            <p:cNvSpPr/>
            <p:nvPr/>
          </p:nvSpPr>
          <p:spPr>
            <a:xfrm>
              <a:off x="1524425" y="1122975"/>
              <a:ext cx="2832081" cy="901598"/>
            </a:xfrm>
            <a:custGeom>
              <a:avLst/>
              <a:gdLst/>
              <a:ahLst/>
              <a:cxnLst/>
              <a:rect l="l" t="t" r="r" b="b"/>
              <a:pathLst>
                <a:path w="12016" h="3388" extrusionOk="0">
                  <a:moveTo>
                    <a:pt x="1702" y="1"/>
                  </a:moveTo>
                  <a:cubicBezTo>
                    <a:pt x="761" y="1"/>
                    <a:pt x="0" y="761"/>
                    <a:pt x="0" y="1689"/>
                  </a:cubicBezTo>
                  <a:cubicBezTo>
                    <a:pt x="0" y="2626"/>
                    <a:pt x="761" y="3387"/>
                    <a:pt x="1702" y="3387"/>
                  </a:cubicBezTo>
                  <a:lnTo>
                    <a:pt x="10327" y="3387"/>
                  </a:lnTo>
                  <a:cubicBezTo>
                    <a:pt x="11267" y="3387"/>
                    <a:pt x="12015" y="2626"/>
                    <a:pt x="12015" y="1689"/>
                  </a:cubicBezTo>
                  <a:cubicBezTo>
                    <a:pt x="12015" y="761"/>
                    <a:pt x="11267" y="1"/>
                    <a:pt x="1032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2"/>
            <p:cNvSpPr txBox="1"/>
            <p:nvPr/>
          </p:nvSpPr>
          <p:spPr>
            <a:xfrm>
              <a:off x="2160488" y="1332908"/>
              <a:ext cx="20403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Fira Sans"/>
                  <a:ea typeface="Fira Sans"/>
                  <a:cs typeface="Fira Sans"/>
                  <a:sym typeface="Fira Sans"/>
                </a:rPr>
                <a:t>Integrazione multimodale avanzata</a:t>
              </a:r>
              <a:endParaRPr sz="12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31" name="Google Shape;231;p22"/>
            <p:cNvSpPr/>
            <p:nvPr/>
          </p:nvSpPr>
          <p:spPr>
            <a:xfrm>
              <a:off x="1670213" y="1362263"/>
              <a:ext cx="408300" cy="4083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7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48" name="Google Shape;248;p22"/>
            <p:cNvSpPr/>
            <p:nvPr/>
          </p:nvSpPr>
          <p:spPr>
            <a:xfrm>
              <a:off x="395489" y="1157513"/>
              <a:ext cx="946405" cy="817825"/>
            </a:xfrm>
            <a:custGeom>
              <a:avLst/>
              <a:gdLst/>
              <a:ahLst/>
              <a:cxnLst/>
              <a:rect l="l" t="t" r="r" b="b"/>
              <a:pathLst>
                <a:path w="17297" h="14947" extrusionOk="0">
                  <a:moveTo>
                    <a:pt x="10412" y="0"/>
                  </a:moveTo>
                  <a:cubicBezTo>
                    <a:pt x="9523" y="0"/>
                    <a:pt x="8727" y="233"/>
                    <a:pt x="8192" y="633"/>
                  </a:cubicBezTo>
                  <a:cubicBezTo>
                    <a:pt x="7863" y="454"/>
                    <a:pt x="7486" y="355"/>
                    <a:pt x="7094" y="355"/>
                  </a:cubicBezTo>
                  <a:cubicBezTo>
                    <a:pt x="6855" y="355"/>
                    <a:pt x="6611" y="392"/>
                    <a:pt x="6369" y="469"/>
                  </a:cubicBezTo>
                  <a:cubicBezTo>
                    <a:pt x="5866" y="633"/>
                    <a:pt x="5458" y="943"/>
                    <a:pt x="5184" y="1351"/>
                  </a:cubicBezTo>
                  <a:cubicBezTo>
                    <a:pt x="5017" y="1316"/>
                    <a:pt x="4843" y="1299"/>
                    <a:pt x="4665" y="1299"/>
                  </a:cubicBezTo>
                  <a:cubicBezTo>
                    <a:pt x="4005" y="1299"/>
                    <a:pt x="3292" y="1540"/>
                    <a:pt x="2682" y="2034"/>
                  </a:cubicBezTo>
                  <a:cubicBezTo>
                    <a:pt x="1960" y="2605"/>
                    <a:pt x="1539" y="3392"/>
                    <a:pt x="1458" y="4156"/>
                  </a:cubicBezTo>
                  <a:cubicBezTo>
                    <a:pt x="736" y="4346"/>
                    <a:pt x="164" y="4944"/>
                    <a:pt x="53" y="5721"/>
                  </a:cubicBezTo>
                  <a:cubicBezTo>
                    <a:pt x="1" y="6237"/>
                    <a:pt x="151" y="6727"/>
                    <a:pt x="448" y="7096"/>
                  </a:cubicBezTo>
                  <a:cubicBezTo>
                    <a:pt x="259" y="7693"/>
                    <a:pt x="259" y="8347"/>
                    <a:pt x="517" y="8944"/>
                  </a:cubicBezTo>
                  <a:cubicBezTo>
                    <a:pt x="955" y="9974"/>
                    <a:pt x="1994" y="10584"/>
                    <a:pt x="3113" y="10584"/>
                  </a:cubicBezTo>
                  <a:cubicBezTo>
                    <a:pt x="3520" y="10584"/>
                    <a:pt x="3938" y="10503"/>
                    <a:pt x="4341" y="10332"/>
                  </a:cubicBezTo>
                  <a:cubicBezTo>
                    <a:pt x="4449" y="10280"/>
                    <a:pt x="4573" y="10224"/>
                    <a:pt x="4681" y="10156"/>
                  </a:cubicBezTo>
                  <a:cubicBezTo>
                    <a:pt x="4694" y="10224"/>
                    <a:pt x="4723" y="10293"/>
                    <a:pt x="4749" y="10348"/>
                  </a:cubicBezTo>
                  <a:cubicBezTo>
                    <a:pt x="5188" y="11377"/>
                    <a:pt x="6228" y="11986"/>
                    <a:pt x="7343" y="11986"/>
                  </a:cubicBezTo>
                  <a:cubicBezTo>
                    <a:pt x="7747" y="11986"/>
                    <a:pt x="8162" y="11906"/>
                    <a:pt x="8561" y="11736"/>
                  </a:cubicBezTo>
                  <a:cubicBezTo>
                    <a:pt x="8613" y="11707"/>
                    <a:pt x="8668" y="11681"/>
                    <a:pt x="8724" y="11668"/>
                  </a:cubicBezTo>
                  <a:cubicBezTo>
                    <a:pt x="9023" y="11995"/>
                    <a:pt x="9467" y="12178"/>
                    <a:pt x="9934" y="12178"/>
                  </a:cubicBezTo>
                  <a:cubicBezTo>
                    <a:pt x="10105" y="12178"/>
                    <a:pt x="10280" y="12153"/>
                    <a:pt x="10452" y="12102"/>
                  </a:cubicBezTo>
                  <a:cubicBezTo>
                    <a:pt x="10520" y="12347"/>
                    <a:pt x="10628" y="12592"/>
                    <a:pt x="10749" y="12837"/>
                  </a:cubicBezTo>
                  <a:cubicBezTo>
                    <a:pt x="11389" y="14049"/>
                    <a:pt x="12493" y="14810"/>
                    <a:pt x="13606" y="14947"/>
                  </a:cubicBezTo>
                  <a:lnTo>
                    <a:pt x="14113" y="14496"/>
                  </a:lnTo>
                  <a:cubicBezTo>
                    <a:pt x="14096" y="14483"/>
                    <a:pt x="14096" y="14483"/>
                    <a:pt x="14083" y="14470"/>
                  </a:cubicBezTo>
                  <a:cubicBezTo>
                    <a:pt x="13077" y="14156"/>
                    <a:pt x="12329" y="13219"/>
                    <a:pt x="12329" y="12089"/>
                  </a:cubicBezTo>
                  <a:lnTo>
                    <a:pt x="12329" y="11994"/>
                  </a:lnTo>
                  <a:cubicBezTo>
                    <a:pt x="12768" y="12248"/>
                    <a:pt x="13281" y="12388"/>
                    <a:pt x="13814" y="12388"/>
                  </a:cubicBezTo>
                  <a:cubicBezTo>
                    <a:pt x="14223" y="12388"/>
                    <a:pt x="14643" y="12305"/>
                    <a:pt x="15050" y="12128"/>
                  </a:cubicBezTo>
                  <a:cubicBezTo>
                    <a:pt x="16562" y="11491"/>
                    <a:pt x="17297" y="9829"/>
                    <a:pt x="16696" y="8428"/>
                  </a:cubicBezTo>
                  <a:cubicBezTo>
                    <a:pt x="16601" y="8196"/>
                    <a:pt x="16464" y="7981"/>
                    <a:pt x="16317" y="7788"/>
                  </a:cubicBezTo>
                  <a:cubicBezTo>
                    <a:pt x="16983" y="7096"/>
                    <a:pt x="17173" y="5897"/>
                    <a:pt x="16709" y="4797"/>
                  </a:cubicBezTo>
                  <a:cubicBezTo>
                    <a:pt x="16288" y="3801"/>
                    <a:pt x="15432" y="3134"/>
                    <a:pt x="14560" y="3027"/>
                  </a:cubicBezTo>
                  <a:cubicBezTo>
                    <a:pt x="14736" y="1789"/>
                    <a:pt x="13391" y="509"/>
                    <a:pt x="11500" y="113"/>
                  </a:cubicBezTo>
                  <a:cubicBezTo>
                    <a:pt x="11130" y="37"/>
                    <a:pt x="10763" y="0"/>
                    <a:pt x="104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Brain Infographics">
  <a:themeElements>
    <a:clrScheme name="Simple Light">
      <a:dk1>
        <a:srgbClr val="080808"/>
      </a:dk1>
      <a:lt1>
        <a:srgbClr val="FFFFFF"/>
      </a:lt1>
      <a:dk2>
        <a:srgbClr val="337291"/>
      </a:dk2>
      <a:lt2>
        <a:srgbClr val="67BCD6"/>
      </a:lt2>
      <a:accent1>
        <a:srgbClr val="9CE4D0"/>
      </a:accent1>
      <a:accent2>
        <a:srgbClr val="64DEAE"/>
      </a:accent2>
      <a:accent3>
        <a:srgbClr val="009688"/>
      </a:accent3>
      <a:accent4>
        <a:srgbClr val="0C343D"/>
      </a:accent4>
      <a:accent5>
        <a:srgbClr val="0C343D"/>
      </a:accent5>
      <a:accent6>
        <a:srgbClr val="EFEFEF"/>
      </a:accent6>
      <a:hlink>
        <a:srgbClr val="0C34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DEF9FC9A07EBE4F9F4171F11C955CCC" ma:contentTypeVersion="5" ma:contentTypeDescription="Creare un nuovo documento." ma:contentTypeScope="" ma:versionID="6cd183b1c2080ccb86caed968d5e8d41">
  <xsd:schema xmlns:xsd="http://www.w3.org/2001/XMLSchema" xmlns:xs="http://www.w3.org/2001/XMLSchema" xmlns:p="http://schemas.microsoft.com/office/2006/metadata/properties" xmlns:ns3="418b84ee-49c6-45b7-ab9a-e20780afec02" targetNamespace="http://schemas.microsoft.com/office/2006/metadata/properties" ma:root="true" ma:fieldsID="1c80c22ee6c88cc38ef7588115b5fad8" ns3:_="">
    <xsd:import namespace="418b84ee-49c6-45b7-ab9a-e20780afec0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8b84ee-49c6-45b7-ab9a-e20780afec0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B2705A2-6D45-45D3-892C-8E5A1723C9CC}">
  <ds:schemaRefs>
    <ds:schemaRef ds:uri="http://schemas.microsoft.com/office/2006/documentManagement/types"/>
    <ds:schemaRef ds:uri="418b84ee-49c6-45b7-ab9a-e20780afec02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EE7AE3C-5E14-46E0-BBAC-FB3359A9D6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18b84ee-49c6-45b7-ab9a-e20780afec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6AEF82C-A24C-4853-8CE8-E4202415AAC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928</Words>
  <Application>Microsoft Office PowerPoint</Application>
  <PresentationFormat>Presentazione su schermo (16:9)</PresentationFormat>
  <Paragraphs>101</Paragraphs>
  <Slides>13</Slides>
  <Notes>13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9" baseType="lpstr">
      <vt:lpstr>Fira Sans Extra Condensed Medium</vt:lpstr>
      <vt:lpstr>Arial</vt:lpstr>
      <vt:lpstr>Fira Sans Extra Condensed</vt:lpstr>
      <vt:lpstr>Cambria Math</vt:lpstr>
      <vt:lpstr>Fira Sans</vt:lpstr>
      <vt:lpstr>Brain Infographics</vt:lpstr>
      <vt:lpstr>Neuronavigazione</vt:lpstr>
      <vt:lpstr>Neuronavigazione</vt:lpstr>
      <vt:lpstr>Principio della ‘Stereotassi’</vt:lpstr>
      <vt:lpstr>Stereotassi Frame - Based</vt:lpstr>
      <vt:lpstr>Il Localizzatore N - Localizer</vt:lpstr>
      <vt:lpstr>Il Localizzatore N - Localizer</vt:lpstr>
      <vt:lpstr>Stereotassi Frame - Based</vt:lpstr>
      <vt:lpstr>Stereotassi Frameless</vt:lpstr>
      <vt:lpstr>Fase di registrazione</vt:lpstr>
      <vt:lpstr>Limiti: Il Brain Shift  </vt:lpstr>
      <vt:lpstr>Applicazione clinica in TMS</vt:lpstr>
      <vt:lpstr>Applicazione clinica in TMS</vt:lpstr>
      <vt:lpstr>Sviluppi futuri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Giulia Demartis</dc:creator>
  <cp:lastModifiedBy>GIULIA DEMARTIS</cp:lastModifiedBy>
  <cp:revision>2</cp:revision>
  <dcterms:modified xsi:type="dcterms:W3CDTF">2026-02-20T09:52:36Z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0x010100DDEF9FC9A07EBE4F9F4171F11C955CCC</vt:lpwstr>
  </property>
</Properties>
</file>